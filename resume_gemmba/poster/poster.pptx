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1384000" cy="30276000"/>
  <p:notesSz cx="30276000" cy="2138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line 1"/>
          <p:cNvSpPr/>
          <p:nvPr/>
        </p:nvSpPr>
        <p:spPr>
          <a:xfrm>
            <a:off x="575965" y="1982837"/>
            <a:ext cx="20231993" cy="0"/>
          </a:xfrm>
          <a:prstGeom prst="line">
            <a:avLst/>
          </a:prstGeom>
          <a:noFill/>
          <a:ln w="28575">
            <a:solidFill>
              <a:srgbClr val="222222"/>
            </a:solidFill>
            <a:prstDash val="solid"/>
          </a:ln>
        </p:spPr>
      </p:sp>
      <p:sp>
        <p:nvSpPr>
          <p:cNvPr id="3" name="text h1"/>
          <p:cNvSpPr txBox="1"/>
          <p:nvPr/>
        </p:nvSpPr>
        <p:spPr>
          <a:xfrm>
            <a:off x="575965" y="464740"/>
            <a:ext cx="20275193" cy="825500"/>
          </a:xfrm>
          <a:prstGeom prst="rect">
            <a:avLst/>
          </a:prstGeom>
          <a:noFill/>
          <a:ln/>
        </p:spPr>
        <p:txBody>
          <a:bodyPr wrap="square" lIns="0" tIns="0" rIns="0" bIns="0" rtlCol="0" anchor="t"/>
          <a:lstStyle/>
          <a:p>
            <a:pPr algn="l" indent="0" marL="0">
              <a:lnSpc>
                <a:spcPts val="6500"/>
              </a:lnSpc>
              <a:buNone/>
            </a:pPr>
            <a:r>
              <a:rPr lang="ja-JP" altLang="en-US" sz="5000" b="1" dirty="0">
                <a:solidFill>
                  <a:srgbClr val="222222"/>
                </a:solidFill>
                <a:latin typeface="游ゴシック" pitchFamily="34" charset="0"/>
                <a:ea typeface="游ゴシック" pitchFamily="34" charset="-122"/>
                <a:cs typeface="游ゴシック" pitchFamily="34" charset="-120"/>
              </a:rPr>
              <a:t>中小製造業の共有機材運用を支援する現場連動型タスク管理システム</a:t>
            </a:r>
            <a:endParaRPr lang="en-US" sz="5000" dirty="0"/>
          </a:p>
        </p:txBody>
      </p:sp>
      <p:sp>
        <p:nvSpPr>
          <p:cNvPr id="4" name="text div.author"/>
          <p:cNvSpPr txBox="1"/>
          <p:nvPr/>
        </p:nvSpPr>
        <p:spPr>
          <a:xfrm>
            <a:off x="575965" y="1347341"/>
            <a:ext cx="20275193" cy="495300"/>
          </a:xfrm>
          <a:prstGeom prst="rect">
            <a:avLst/>
          </a:prstGeom>
          <a:noFill/>
          <a:ln/>
        </p:spPr>
        <p:txBody>
          <a:bodyPr wrap="square" lIns="0" tIns="0" rIns="0" bIns="0" rtlCol="0" anchor="t"/>
          <a:lstStyle/>
          <a:p>
            <a:pPr algn="l" indent="0" marL="0">
              <a:lnSpc>
                <a:spcPts val="3900"/>
              </a:lnSpc>
              <a:buNone/>
            </a:pPr>
            <a:r>
              <a:rPr lang="ja-JP" altLang="en-US" sz="2600" dirty="0">
                <a:solidFill>
                  <a:srgbClr val="222222"/>
                </a:solidFill>
                <a:latin typeface="游ゴシック Medium" pitchFamily="34" charset="0"/>
                <a:ea typeface="游ゴシック Medium" pitchFamily="34" charset="-122"/>
                <a:cs typeface="游ゴシック Medium" pitchFamily="34" charset="-120"/>
              </a:rPr>
              <a:t>増永 惺真　　指導教員：野村 隼人</a:t>
            </a:r>
            <a:endParaRPr lang="en-US" sz="2600" dirty="0"/>
          </a:p>
        </p:txBody>
      </p:sp>
      <p:sp>
        <p:nvSpPr>
          <p:cNvPr id="5" name="line 4"/>
          <p:cNvSpPr/>
          <p:nvPr/>
        </p:nvSpPr>
        <p:spPr>
          <a:xfrm>
            <a:off x="575965" y="2763441"/>
            <a:ext cx="9900047" cy="0"/>
          </a:xfrm>
          <a:prstGeom prst="line">
            <a:avLst/>
          </a:prstGeom>
          <a:noFill/>
          <a:ln w="9525">
            <a:solidFill>
              <a:srgbClr val="222222"/>
            </a:solidFill>
            <a:prstDash val="solid"/>
          </a:ln>
        </p:spPr>
      </p:sp>
      <p:sp>
        <p:nvSpPr>
          <p:cNvPr id="6" name="text h2"/>
          <p:cNvSpPr txBox="1"/>
          <p:nvPr/>
        </p:nvSpPr>
        <p:spPr>
          <a:xfrm>
            <a:off x="1023045" y="2215604"/>
            <a:ext cx="9496167"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はじめに</a:t>
            </a:r>
            <a:endParaRPr lang="en-US" sz="3000" dirty="0"/>
          </a:p>
        </p:txBody>
      </p:sp>
      <p:sp>
        <p:nvSpPr>
          <p:cNvPr id="7" name="text span.n"/>
          <p:cNvSpPr txBox="1"/>
          <p:nvPr/>
        </p:nvSpPr>
        <p:spPr>
          <a:xfrm>
            <a:off x="575965" y="2215604"/>
            <a:ext cx="261680"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1</a:t>
            </a:r>
            <a:endParaRPr lang="en-US" sz="3000" dirty="0"/>
          </a:p>
        </p:txBody>
      </p:sp>
      <p:sp>
        <p:nvSpPr>
          <p:cNvPr id="8" name="text p"/>
          <p:cNvSpPr txBox="1"/>
          <p:nvPr/>
        </p:nvSpPr>
        <p:spPr>
          <a:xfrm>
            <a:off x="575965" y="2848570"/>
            <a:ext cx="9943247" cy="419100"/>
          </a:xfrm>
          <a:prstGeom prst="rect">
            <a:avLst/>
          </a:prstGeom>
          <a:noFill/>
          <a:ln/>
        </p:spPr>
        <p:txBody>
          <a:bodyPr wrap="square" lIns="0" tIns="0" rIns="0" bIns="0" rtlCol="0" anchor="t"/>
          <a:lstStyle/>
          <a:p>
            <a:pPr algn="l" indent="0" marL="0">
              <a:lnSpc>
                <a:spcPts val="3300"/>
              </a:lnSpc>
              <a:buNone/>
            </a:pPr>
            <a:r>
              <a:rPr lang="ja-JP" altLang="en-US" sz="2200" dirty="0">
                <a:solidFill>
                  <a:srgbClr val="222222"/>
                </a:solidFill>
                <a:latin typeface="游ゴシック Medium" pitchFamily="34" charset="0"/>
                <a:ea typeface="游ゴシック Medium" pitchFamily="34" charset="-122"/>
                <a:cs typeface="游ゴシック Medium" pitchFamily="34" charset="-120"/>
              </a:rPr>
              <a:t>共有機材を複数人で使う中小製造業の現場では、次の問題がある。</a:t>
            </a:r>
            <a:endParaRPr lang="en-US" sz="2200" dirty="0"/>
          </a:p>
        </p:txBody>
      </p:sp>
      <p:sp>
        <p:nvSpPr>
          <p:cNvPr id="9" name="text li"/>
          <p:cNvSpPr txBox="1"/>
          <p:nvPr/>
        </p:nvSpPr>
        <p:spPr>
          <a:xfrm>
            <a:off x="575846" y="3303389"/>
            <a:ext cx="5070882" cy="419100"/>
          </a:xfrm>
          <a:prstGeom prst="rect">
            <a:avLst/>
          </a:prstGeom>
          <a:noFill/>
          <a:ln/>
        </p:spPr>
        <p:txBody>
          <a:bodyPr wrap="square" lIns="0" tIns="0" rIns="0" bIns="0" rtlCol="0" anchor="t"/>
          <a:lstStyle/>
          <a:p>
            <a:pPr algn="l" marL="335280" indent="-335280">
              <a:lnSpc>
                <a:spcPts val="3300"/>
              </a:lnSpc>
              <a:buSzPct val="100000"/>
              <a:buChar char="•"/>
            </a:pPr>
            <a:r>
              <a:rPr lang="ja-JP" altLang="en-US" sz="2200" dirty="0">
                <a:solidFill>
                  <a:srgbClr val="222222"/>
                </a:solidFill>
                <a:latin typeface="游ゴシック Medium" pitchFamily="34" charset="0"/>
                <a:ea typeface="游ゴシック Medium" pitchFamily="34" charset="-122"/>
                <a:cs typeface="游ゴシック Medium" pitchFamily="34" charset="-120"/>
              </a:rPr>
              <a:t>誰が何に使っているか分からない</a:t>
            </a:r>
            <a:endParaRPr lang="en-US" sz="2200" dirty="0"/>
          </a:p>
        </p:txBody>
      </p:sp>
      <p:sp>
        <p:nvSpPr>
          <p:cNvPr id="10" name="text li"/>
          <p:cNvSpPr txBox="1"/>
          <p:nvPr/>
        </p:nvSpPr>
        <p:spPr>
          <a:xfrm>
            <a:off x="5448181" y="3303389"/>
            <a:ext cx="5071031" cy="419100"/>
          </a:xfrm>
          <a:prstGeom prst="rect">
            <a:avLst/>
          </a:prstGeom>
          <a:noFill/>
          <a:ln/>
        </p:spPr>
        <p:txBody>
          <a:bodyPr wrap="square" lIns="0" tIns="0" rIns="0" bIns="0" rtlCol="0" anchor="t"/>
          <a:lstStyle/>
          <a:p>
            <a:pPr algn="l" marL="335280" indent="-335280">
              <a:lnSpc>
                <a:spcPts val="3300"/>
              </a:lnSpc>
              <a:buSzPct val="100000"/>
              <a:buChar char="•"/>
            </a:pPr>
            <a:r>
              <a:rPr lang="ja-JP" altLang="en-US" sz="2200" dirty="0">
                <a:solidFill>
                  <a:srgbClr val="222222"/>
                </a:solidFill>
                <a:latin typeface="游ゴシック Medium" pitchFamily="34" charset="0"/>
                <a:ea typeface="游ゴシック Medium" pitchFamily="34" charset="-122"/>
                <a:cs typeface="游ゴシック Medium" pitchFamily="34" charset="-120"/>
              </a:rPr>
              <a:t>予約しても来ない（ゴースト予約）</a:t>
            </a:r>
            <a:endParaRPr lang="en-US" sz="2200" dirty="0"/>
          </a:p>
        </p:txBody>
      </p:sp>
      <p:sp>
        <p:nvSpPr>
          <p:cNvPr id="11" name="text li"/>
          <p:cNvSpPr txBox="1"/>
          <p:nvPr/>
        </p:nvSpPr>
        <p:spPr>
          <a:xfrm>
            <a:off x="575846" y="3740200"/>
            <a:ext cx="5070882" cy="419100"/>
          </a:xfrm>
          <a:prstGeom prst="rect">
            <a:avLst/>
          </a:prstGeom>
          <a:noFill/>
          <a:ln/>
        </p:spPr>
        <p:txBody>
          <a:bodyPr wrap="square" lIns="0" tIns="0" rIns="0" bIns="0" rtlCol="0" anchor="t"/>
          <a:lstStyle/>
          <a:p>
            <a:pPr algn="l" marL="335280" indent="-335280">
              <a:lnSpc>
                <a:spcPts val="3300"/>
              </a:lnSpc>
              <a:buSzPct val="100000"/>
              <a:buChar char="•"/>
            </a:pPr>
            <a:r>
              <a:rPr lang="ja-JP" altLang="en-US" sz="2200" dirty="0">
                <a:solidFill>
                  <a:srgbClr val="222222"/>
                </a:solidFill>
                <a:latin typeface="游ゴシック Medium" pitchFamily="34" charset="0"/>
                <a:ea typeface="游ゴシック Medium" pitchFamily="34" charset="-122"/>
                <a:cs typeface="游ゴシック Medium" pitchFamily="34" charset="-120"/>
              </a:rPr>
              <a:t>重要なタスクが偏る・忘れられる</a:t>
            </a:r>
            <a:endParaRPr lang="en-US" sz="2200" dirty="0"/>
          </a:p>
        </p:txBody>
      </p:sp>
      <p:sp>
        <p:nvSpPr>
          <p:cNvPr id="12" name="text li"/>
          <p:cNvSpPr txBox="1"/>
          <p:nvPr/>
        </p:nvSpPr>
        <p:spPr>
          <a:xfrm>
            <a:off x="5448181" y="3740200"/>
            <a:ext cx="5071031" cy="419100"/>
          </a:xfrm>
          <a:prstGeom prst="rect">
            <a:avLst/>
          </a:prstGeom>
          <a:noFill/>
          <a:ln/>
        </p:spPr>
        <p:txBody>
          <a:bodyPr wrap="square" lIns="0" tIns="0" rIns="0" bIns="0" rtlCol="0" anchor="t"/>
          <a:lstStyle/>
          <a:p>
            <a:pPr algn="l" marL="335280" indent="-335280">
              <a:lnSpc>
                <a:spcPts val="3300"/>
              </a:lnSpc>
              <a:buSzPct val="100000"/>
              <a:buChar char="•"/>
            </a:pPr>
            <a:r>
              <a:rPr lang="ja-JP" altLang="en-US" sz="2200" dirty="0">
                <a:solidFill>
                  <a:srgbClr val="222222"/>
                </a:solidFill>
                <a:latin typeface="游ゴシック Medium" pitchFamily="34" charset="0"/>
                <a:ea typeface="游ゴシック Medium" pitchFamily="34" charset="-122"/>
                <a:cs typeface="游ゴシック Medium" pitchFamily="34" charset="-120"/>
              </a:rPr>
              <a:t>IT 担当者がおらず定着しない</a:t>
            </a:r>
            <a:endParaRPr lang="en-US" sz="2200" dirty="0"/>
          </a:p>
        </p:txBody>
      </p:sp>
      <p:sp>
        <p:nvSpPr>
          <p:cNvPr id="13" name="text p.lead"/>
          <p:cNvSpPr txBox="1"/>
          <p:nvPr/>
        </p:nvSpPr>
        <p:spPr>
          <a:xfrm>
            <a:off x="575965" y="4248969"/>
            <a:ext cx="9943247" cy="838200"/>
          </a:xfrm>
          <a:prstGeom prst="rect">
            <a:avLst/>
          </a:prstGeom>
          <a:noFill/>
          <a:ln/>
        </p:spPr>
        <p:txBody>
          <a:bodyPr wrap="square" lIns="0" tIns="0" rIns="0" bIns="0" rtlCol="0" anchor="t"/>
          <a:lstStyle/>
          <a:p>
            <a:pPr algn="l" indent="0" marL="0">
              <a:lnSpc>
                <a:spcPts val="3300"/>
              </a:lnSpc>
              <a:buNone/>
            </a:pPr>
            <a:r>
              <a:rPr lang="ja-JP" altLang="en-US" sz="2200" dirty="0">
                <a:solidFill>
                  <a:srgbClr val="222222"/>
                </a:solidFill>
                <a:latin typeface="游ゴシック Medium" pitchFamily="34" charset="0"/>
                <a:ea typeface="游ゴシック Medium" pitchFamily="34" charset="-122"/>
                <a:cs typeface="游ゴシック Medium" pitchFamily="34" charset="-120"/>
              </a:rPr>
              <a:t>本研究では、各機材のモジュールに社員証をタッチするだけで作業の開始・終了・登録ができるタスク管理システムを製作した。</a:t>
            </a:r>
            <a:endParaRPr lang="en-US" sz="2200" dirty="0"/>
          </a:p>
        </p:txBody>
      </p:sp>
      <p:sp>
        <p:nvSpPr>
          <p:cNvPr id="14" name="line 13"/>
          <p:cNvSpPr/>
          <p:nvPr/>
        </p:nvSpPr>
        <p:spPr>
          <a:xfrm>
            <a:off x="575965" y="5860256"/>
            <a:ext cx="9900047" cy="0"/>
          </a:xfrm>
          <a:prstGeom prst="line">
            <a:avLst/>
          </a:prstGeom>
          <a:noFill/>
          <a:ln w="9525">
            <a:solidFill>
              <a:srgbClr val="222222"/>
            </a:solidFill>
            <a:prstDash val="solid"/>
          </a:ln>
        </p:spPr>
      </p:sp>
      <p:sp>
        <p:nvSpPr>
          <p:cNvPr id="15" name="text h2"/>
          <p:cNvSpPr txBox="1"/>
          <p:nvPr/>
        </p:nvSpPr>
        <p:spPr>
          <a:xfrm>
            <a:off x="1023045" y="5312420"/>
            <a:ext cx="9496167"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設計方針</a:t>
            </a:r>
            <a:endParaRPr lang="en-US" sz="3000" dirty="0"/>
          </a:p>
        </p:txBody>
      </p:sp>
      <p:sp>
        <p:nvSpPr>
          <p:cNvPr id="16" name="text span.n"/>
          <p:cNvSpPr txBox="1"/>
          <p:nvPr/>
        </p:nvSpPr>
        <p:spPr>
          <a:xfrm>
            <a:off x="575965" y="5312420"/>
            <a:ext cx="261680"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2</a:t>
            </a:r>
            <a:endParaRPr lang="en-US" sz="3000" dirty="0"/>
          </a:p>
        </p:txBody>
      </p:sp>
      <p:sp>
        <p:nvSpPr>
          <p:cNvPr id="17" name="box 16"/>
          <p:cNvSpPr/>
          <p:nvPr/>
        </p:nvSpPr>
        <p:spPr>
          <a:xfrm>
            <a:off x="575965" y="5983711"/>
            <a:ext cx="251966" cy="251966"/>
          </a:xfrm>
          <a:prstGeom prst="rect">
            <a:avLst/>
          </a:prstGeom>
          <a:ln/>
        </p:spPr>
      </p:sp>
      <p:sp>
        <p:nvSpPr>
          <p:cNvPr id="18" name="text counter"/>
          <p:cNvSpPr txBox="1"/>
          <p:nvPr/>
        </p:nvSpPr>
        <p:spPr>
          <a:xfrm>
            <a:off x="385465" y="5983711"/>
            <a:ext cx="632966" cy="251966"/>
          </a:xfrm>
          <a:prstGeom prst="rect">
            <a:avLst/>
          </a:prstGeom>
          <a:noFill/>
          <a:ln/>
        </p:spPr>
        <p:txBody>
          <a:bodyPr wrap="none" lIns="0" tIns="0" rIns="0" bIns="0" rtlCol="0" anchor="ctr"/>
          <a:lstStyle/>
          <a:p>
            <a:pPr algn="ctr" indent="0" marL="0">
              <a:lnSpc>
                <a:spcPts val="3300"/>
              </a:lnSpc>
              <a:buNone/>
            </a:pPr>
            <a:r>
              <a:rPr lang="ja-JP" altLang="en-US" sz="2200" b="1" dirty="0">
                <a:solidFill>
                  <a:srgbClr val="222222"/>
                </a:solidFill>
                <a:latin typeface="游ゴシック" pitchFamily="34" charset="0"/>
                <a:ea typeface="游ゴシック" pitchFamily="34" charset="-122"/>
                <a:cs typeface="游ゴシック" pitchFamily="34" charset="-120"/>
              </a:rPr>
              <a:t>1</a:t>
            </a:r>
            <a:endParaRPr lang="en-US" sz="2200" dirty="0"/>
          </a:p>
        </p:txBody>
      </p:sp>
      <p:sp>
        <p:nvSpPr>
          <p:cNvPr id="19" name="text span"/>
          <p:cNvSpPr txBox="1"/>
          <p:nvPr/>
        </p:nvSpPr>
        <p:spPr>
          <a:xfrm>
            <a:off x="863798" y="5974110"/>
            <a:ext cx="9655413" cy="419100"/>
          </a:xfrm>
          <a:prstGeom prst="rect">
            <a:avLst/>
          </a:prstGeom>
          <a:noFill/>
          <a:ln/>
        </p:spPr>
        <p:txBody>
          <a:bodyPr wrap="square" lIns="0" tIns="0" rIns="0" bIns="0" rtlCol="0" anchor="t"/>
          <a:lstStyle/>
          <a:p>
            <a:pPr algn="l" indent="0" marL="0">
              <a:lnSpc>
                <a:spcPts val="3300"/>
              </a:lnSpc>
              <a:buNone/>
            </a:pPr>
            <a:r>
              <a:rPr lang="ja-JP" altLang="en-US" sz="2200" b="1" dirty="0">
                <a:solidFill>
                  <a:srgbClr val="222222"/>
                </a:solidFill>
                <a:latin typeface="游ゴシック" pitchFamily="34" charset="0"/>
                <a:ea typeface="游ゴシック" pitchFamily="34" charset="-122"/>
                <a:cs typeface="游ゴシック" pitchFamily="34" charset="-120"/>
              </a:rPr>
              <a:t>操作は 3 ボタンのみ</a:t>
            </a:r>
            <a:pPr algn="l" indent="0" marL="0">
              <a:lnSpc>
                <a:spcPts val="3300"/>
              </a:lnSpc>
              <a:buNone/>
            </a:pPr>
            <a:r>
              <a:rPr lang="ja-JP" altLang="en-US" sz="2200" dirty="0">
                <a:solidFill>
                  <a:srgbClr val="222222"/>
                </a:solidFill>
                <a:latin typeface="游ゴシック Medium" pitchFamily="34" charset="0"/>
                <a:ea typeface="游ゴシック Medium" pitchFamily="34" charset="-122"/>
                <a:cs typeface="游ゴシック Medium" pitchFamily="34" charset="-120"/>
              </a:rPr>
              <a:t>とし、1 回の操作を数分以内に収める</a:t>
            </a:r>
            <a:endParaRPr lang="en-US" sz="2200" dirty="0"/>
          </a:p>
        </p:txBody>
      </p:sp>
      <p:sp>
        <p:nvSpPr>
          <p:cNvPr id="20" name="box 19"/>
          <p:cNvSpPr/>
          <p:nvPr/>
        </p:nvSpPr>
        <p:spPr>
          <a:xfrm>
            <a:off x="575965" y="6460110"/>
            <a:ext cx="251966" cy="251966"/>
          </a:xfrm>
          <a:prstGeom prst="rect">
            <a:avLst/>
          </a:prstGeom>
          <a:ln/>
        </p:spPr>
      </p:sp>
      <p:sp>
        <p:nvSpPr>
          <p:cNvPr id="21" name="text counter"/>
          <p:cNvSpPr txBox="1"/>
          <p:nvPr/>
        </p:nvSpPr>
        <p:spPr>
          <a:xfrm>
            <a:off x="385465" y="6460110"/>
            <a:ext cx="632966" cy="251966"/>
          </a:xfrm>
          <a:prstGeom prst="rect">
            <a:avLst/>
          </a:prstGeom>
          <a:noFill/>
          <a:ln/>
        </p:spPr>
        <p:txBody>
          <a:bodyPr wrap="none" lIns="0" tIns="0" rIns="0" bIns="0" rtlCol="0" anchor="ctr"/>
          <a:lstStyle/>
          <a:p>
            <a:pPr algn="ctr" indent="0" marL="0">
              <a:lnSpc>
                <a:spcPts val="3300"/>
              </a:lnSpc>
              <a:buNone/>
            </a:pPr>
            <a:r>
              <a:rPr lang="ja-JP" altLang="en-US" sz="2200" b="1" dirty="0">
                <a:solidFill>
                  <a:srgbClr val="222222"/>
                </a:solidFill>
                <a:latin typeface="游ゴシック" pitchFamily="34" charset="0"/>
                <a:ea typeface="游ゴシック" pitchFamily="34" charset="-122"/>
                <a:cs typeface="游ゴシック" pitchFamily="34" charset="-120"/>
              </a:rPr>
              <a:t>2</a:t>
            </a:r>
            <a:endParaRPr lang="en-US" sz="2200" dirty="0"/>
          </a:p>
        </p:txBody>
      </p:sp>
      <p:sp>
        <p:nvSpPr>
          <p:cNvPr id="22" name="text span"/>
          <p:cNvSpPr txBox="1"/>
          <p:nvPr/>
        </p:nvSpPr>
        <p:spPr>
          <a:xfrm>
            <a:off x="863798" y="6450509"/>
            <a:ext cx="9655413" cy="419100"/>
          </a:xfrm>
          <a:prstGeom prst="rect">
            <a:avLst/>
          </a:prstGeom>
          <a:noFill/>
          <a:ln/>
        </p:spPr>
        <p:txBody>
          <a:bodyPr wrap="square" lIns="0" tIns="0" rIns="0" bIns="0" rtlCol="0" anchor="t"/>
          <a:lstStyle/>
          <a:p>
            <a:pPr algn="l" indent="0" marL="0">
              <a:lnSpc>
                <a:spcPts val="3300"/>
              </a:lnSpc>
              <a:buNone/>
            </a:pPr>
            <a:r>
              <a:rPr lang="ja-JP" altLang="en-US" sz="2200" b="1" dirty="0">
                <a:solidFill>
                  <a:srgbClr val="222222"/>
                </a:solidFill>
                <a:latin typeface="游ゴシック" pitchFamily="34" charset="0"/>
                <a:ea typeface="游ゴシック" pitchFamily="34" charset="-122"/>
                <a:cs typeface="游ゴシック" pitchFamily="34" charset="-120"/>
              </a:rPr>
              <a:t>タスクをサーバで一括管理</a:t>
            </a:r>
            <a:pPr algn="l" indent="0" marL="0">
              <a:lnSpc>
                <a:spcPts val="3300"/>
              </a:lnSpc>
              <a:buNone/>
            </a:pPr>
            <a:r>
              <a:rPr lang="ja-JP" altLang="en-US" sz="2200" dirty="0">
                <a:solidFill>
                  <a:srgbClr val="222222"/>
                </a:solidFill>
                <a:latin typeface="游ゴシック Medium" pitchFamily="34" charset="0"/>
                <a:ea typeface="游ゴシック Medium" pitchFamily="34" charset="-122"/>
                <a:cs typeface="游ゴシック Medium" pitchFamily="34" charset="-120"/>
              </a:rPr>
              <a:t>し、機材をまたいで共有する</a:t>
            </a:r>
            <a:endParaRPr lang="en-US" sz="2200" dirty="0"/>
          </a:p>
        </p:txBody>
      </p:sp>
      <p:sp>
        <p:nvSpPr>
          <p:cNvPr id="23" name="box 22"/>
          <p:cNvSpPr/>
          <p:nvPr/>
        </p:nvSpPr>
        <p:spPr>
          <a:xfrm>
            <a:off x="575965" y="6936509"/>
            <a:ext cx="251966" cy="251966"/>
          </a:xfrm>
          <a:prstGeom prst="rect">
            <a:avLst/>
          </a:prstGeom>
          <a:ln/>
        </p:spPr>
      </p:sp>
      <p:sp>
        <p:nvSpPr>
          <p:cNvPr id="24" name="text counter"/>
          <p:cNvSpPr txBox="1"/>
          <p:nvPr/>
        </p:nvSpPr>
        <p:spPr>
          <a:xfrm>
            <a:off x="385465" y="6936509"/>
            <a:ext cx="632966" cy="251966"/>
          </a:xfrm>
          <a:prstGeom prst="rect">
            <a:avLst/>
          </a:prstGeom>
          <a:noFill/>
          <a:ln/>
        </p:spPr>
        <p:txBody>
          <a:bodyPr wrap="none" lIns="0" tIns="0" rIns="0" bIns="0" rtlCol="0" anchor="ctr"/>
          <a:lstStyle/>
          <a:p>
            <a:pPr algn="ctr" indent="0" marL="0">
              <a:lnSpc>
                <a:spcPts val="3300"/>
              </a:lnSpc>
              <a:buNone/>
            </a:pPr>
            <a:r>
              <a:rPr lang="ja-JP" altLang="en-US" sz="2200" b="1" dirty="0">
                <a:solidFill>
                  <a:srgbClr val="222222"/>
                </a:solidFill>
                <a:latin typeface="游ゴシック" pitchFamily="34" charset="0"/>
                <a:ea typeface="游ゴシック" pitchFamily="34" charset="-122"/>
                <a:cs typeface="游ゴシック" pitchFamily="34" charset="-120"/>
              </a:rPr>
              <a:t>3</a:t>
            </a:r>
            <a:endParaRPr lang="en-US" sz="2200" dirty="0"/>
          </a:p>
        </p:txBody>
      </p:sp>
      <p:sp>
        <p:nvSpPr>
          <p:cNvPr id="25" name="text span"/>
          <p:cNvSpPr txBox="1"/>
          <p:nvPr/>
        </p:nvSpPr>
        <p:spPr>
          <a:xfrm>
            <a:off x="863798" y="6926907"/>
            <a:ext cx="9655413" cy="419100"/>
          </a:xfrm>
          <a:prstGeom prst="rect">
            <a:avLst/>
          </a:prstGeom>
          <a:noFill/>
          <a:ln/>
        </p:spPr>
        <p:txBody>
          <a:bodyPr wrap="square" lIns="0" tIns="0" rIns="0" bIns="0" rtlCol="0" anchor="t"/>
          <a:lstStyle/>
          <a:p>
            <a:pPr algn="l" indent="0" marL="0">
              <a:lnSpc>
                <a:spcPts val="3300"/>
              </a:lnSpc>
              <a:buNone/>
            </a:pPr>
            <a:r>
              <a:rPr lang="ja-JP" altLang="en-US" sz="2200" b="1" dirty="0">
                <a:solidFill>
                  <a:srgbClr val="222222"/>
                </a:solidFill>
                <a:latin typeface="游ゴシック" pitchFamily="34" charset="0"/>
                <a:ea typeface="游ゴシック" pitchFamily="34" charset="-122"/>
                <a:cs typeface="游ゴシック" pitchFamily="34" charset="-120"/>
              </a:rPr>
              <a:t>遠隔予約を作らず</a:t>
            </a:r>
            <a:pPr algn="l" indent="0" marL="0">
              <a:lnSpc>
                <a:spcPts val="3300"/>
              </a:lnSpc>
              <a:buNone/>
            </a:pPr>
            <a:r>
              <a:rPr lang="ja-JP" altLang="en-US" sz="2200" dirty="0">
                <a:solidFill>
                  <a:srgbClr val="222222"/>
                </a:solidFill>
                <a:latin typeface="游ゴシック Medium" pitchFamily="34" charset="0"/>
                <a:ea typeface="游ゴシック Medium" pitchFamily="34" charset="-122"/>
                <a:cs typeface="游ゴシック Medium" pitchFamily="34" charset="-120"/>
              </a:rPr>
              <a:t>、タッチを唯一の起点にする</a:t>
            </a:r>
            <a:endParaRPr lang="en-US" sz="2200" dirty="0"/>
          </a:p>
        </p:txBody>
      </p:sp>
      <p:sp>
        <p:nvSpPr>
          <p:cNvPr id="26" name="text caption"/>
          <p:cNvSpPr txBox="1"/>
          <p:nvPr/>
        </p:nvSpPr>
        <p:spPr>
          <a:xfrm>
            <a:off x="575965" y="7470190"/>
            <a:ext cx="9943247" cy="350520"/>
          </a:xfrm>
          <a:prstGeom prst="rect">
            <a:avLst/>
          </a:prstGeom>
          <a:noFill/>
          <a:ln/>
        </p:spPr>
        <p:txBody>
          <a:bodyPr wrap="square" lIns="0" tIns="0" rIns="0" bIns="0" rtlCol="0" anchor="t"/>
          <a:lstStyle/>
          <a:p>
            <a:pPr algn="l" indent="0" marL="0">
              <a:lnSpc>
                <a:spcPts val="2760"/>
              </a:lnSpc>
              <a:buNone/>
            </a:pPr>
            <a:r>
              <a:rPr lang="ja-JP" altLang="en-US" sz="2000" b="1" dirty="0">
                <a:solidFill>
                  <a:srgbClr val="222222"/>
                </a:solidFill>
                <a:latin typeface="游ゴシック" pitchFamily="34" charset="0"/>
                <a:ea typeface="游ゴシック" pitchFamily="34" charset="-122"/>
                <a:cs typeface="游ゴシック" pitchFamily="34" charset="-120"/>
              </a:rPr>
              <a:t>表 1　障害からの自動復旧と、11 日間の連続稼働での結果</a:t>
            </a:r>
            <a:endParaRPr lang="en-US" sz="2000" dirty="0"/>
          </a:p>
        </p:txBody>
      </p:sp>
      <p:graphicFrame>
        <p:nvGraphicFramePr>
          <p:cNvPr id="2" name="table 26"/>
          <p:cNvGraphicFramePr>
            <a:graphicFrameLocks noGrp="1"/>
          </p:cNvGraphicFramePr>
          <p:nvPr>
            <p:extLst>
              <p:ext uri="{D42A27DB-BD31-4B8C-83A1-F6EECF244321}">
                <p14:modId xmlns:p14="http://schemas.microsoft.com/office/powerpoint/2010/main" val="1579011935"/>
              </p:ext>
            </p:extLst>
          </p:nvPr>
        </p:nvGraphicFramePr>
        <p:xfrm>
          <a:off x="576263" y="7865120"/>
          <a:ext cx="9899333" cy="914400"/>
        </p:xfrm>
        <a:graphic>
          <a:graphicData uri="http://schemas.openxmlformats.org/drawingml/2006/table">
            <a:tbl>
              <a:tblPr/>
              <a:tblGrid>
                <a:gridCol w="2546985"/>
                <a:gridCol w="3258503"/>
                <a:gridCol w="4093845"/>
              </a:tblGrid>
              <a:tr h="440382">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目的</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方法</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実ログでの結果</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r>
              <a:tr h="440382">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IP 設定をなくす</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UDP でサーバを探索</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IP の変更に追従</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停止を知らせる</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MQTT の LWT</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offline / online を即反映</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切断から戻す</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自動再接続</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53 回中 53 回復旧</a:t>
                      </a:r>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（1 秒）</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r>
            </a:tbl>
          </a:graphicData>
        </a:graphic>
      </p:graphicFrame>
      <p:sp>
        <p:nvSpPr>
          <p:cNvPr id="28" name="text p.cap"/>
          <p:cNvSpPr txBox="1"/>
          <p:nvPr/>
        </p:nvSpPr>
        <p:spPr>
          <a:xfrm>
            <a:off x="575965" y="9668857"/>
            <a:ext cx="9943247" cy="325755"/>
          </a:xfrm>
          <a:prstGeom prst="rect">
            <a:avLst/>
          </a:prstGeom>
          <a:noFill/>
          <a:ln/>
        </p:spPr>
        <p:txBody>
          <a:bodyPr wrap="square" lIns="0" tIns="0" rIns="0" bIns="0" rtlCol="0" anchor="t"/>
          <a:lstStyle/>
          <a:p>
            <a:pPr algn="l" indent="0" marL="0">
              <a:lnSpc>
                <a:spcPts val="2565"/>
              </a:lnSpc>
              <a:buNone/>
            </a:pPr>
            <a:r>
              <a:rPr lang="ja-JP" altLang="en-US" sz="1900" dirty="0">
                <a:solidFill>
                  <a:srgbClr val="555555"/>
                </a:solidFill>
                <a:latin typeface="游ゴシック Medium" pitchFamily="34" charset="0"/>
                <a:ea typeface="游ゴシック Medium" pitchFamily="34" charset="-122"/>
                <a:cs typeface="游ゴシック Medium" pitchFamily="34" charset="-120"/>
              </a:rPr>
              <a:t>2026/8/31〜9/9 の実ログ。プロセスは一度も停止しなかった。</a:t>
            </a:r>
            <a:endParaRPr lang="en-US" sz="1900" dirty="0"/>
          </a:p>
        </p:txBody>
      </p:sp>
      <p:sp>
        <p:nvSpPr>
          <p:cNvPr id="29" name="line 28"/>
          <p:cNvSpPr/>
          <p:nvPr/>
        </p:nvSpPr>
        <p:spPr>
          <a:xfrm>
            <a:off x="10907911" y="2763441"/>
            <a:ext cx="9900047" cy="0"/>
          </a:xfrm>
          <a:prstGeom prst="line">
            <a:avLst/>
          </a:prstGeom>
          <a:noFill/>
          <a:ln w="9525">
            <a:solidFill>
              <a:srgbClr val="222222"/>
            </a:solidFill>
            <a:prstDash val="solid"/>
          </a:ln>
        </p:spPr>
      </p:sp>
      <p:sp>
        <p:nvSpPr>
          <p:cNvPr id="30" name="text h2"/>
          <p:cNvSpPr txBox="1"/>
          <p:nvPr/>
        </p:nvSpPr>
        <p:spPr>
          <a:xfrm>
            <a:off x="11354991" y="2215604"/>
            <a:ext cx="9496167"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システム構成</a:t>
            </a:r>
            <a:endParaRPr lang="en-US" sz="3000" dirty="0"/>
          </a:p>
        </p:txBody>
      </p:sp>
      <p:sp>
        <p:nvSpPr>
          <p:cNvPr id="31" name="text span.n"/>
          <p:cNvSpPr txBox="1"/>
          <p:nvPr/>
        </p:nvSpPr>
        <p:spPr>
          <a:xfrm>
            <a:off x="10907911" y="2215604"/>
            <a:ext cx="261680"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3</a:t>
            </a:r>
            <a:endParaRPr lang="en-US" sz="3000" dirty="0"/>
          </a:p>
        </p:txBody>
      </p:sp>
      <p:sp>
        <p:nvSpPr>
          <p:cNvPr id="32" name="box 31"/>
          <p:cNvSpPr/>
          <p:nvPr/>
        </p:nvSpPr>
        <p:spPr>
          <a:xfrm>
            <a:off x="13327203" y="2971495"/>
            <a:ext cx="1814391" cy="755996"/>
          </a:xfrm>
          <a:prstGeom prst="rect">
            <a:avLst/>
          </a:prstGeom>
          <a:solidFill>
            <a:srgbClr val="FFFFFF"/>
          </a:solidFill>
          <a:ln w="26416">
            <a:solidFill>
              <a:srgbClr val="888888"/>
            </a:solidFill>
            <a:prstDash val="dash"/>
          </a:ln>
        </p:spPr>
      </p:sp>
      <p:sp>
        <p:nvSpPr>
          <p:cNvPr id="33" name="text svgtext"/>
          <p:cNvSpPr txBox="1"/>
          <p:nvPr/>
        </p:nvSpPr>
        <p:spPr>
          <a:xfrm>
            <a:off x="13500676" y="3083243"/>
            <a:ext cx="1467445" cy="276225"/>
          </a:xfrm>
          <a:prstGeom prst="rect">
            <a:avLst/>
          </a:prstGeom>
          <a:noFill/>
          <a:ln/>
        </p:spPr>
        <p:txBody>
          <a:bodyPr wrap="none" lIns="0" tIns="0" rIns="0" bIns="0" rtlCol="0" anchor="ctr"/>
          <a:lstStyle/>
          <a:p>
            <a:pPr algn="ctr" indent="0" marL="0">
              <a:lnSpc>
                <a:spcPts val="2175"/>
              </a:lnSpc>
              <a:buNone/>
            </a:pPr>
            <a:r>
              <a:rPr lang="ja-JP" altLang="en-US" sz="1711" dirty="0">
                <a:solidFill>
                  <a:srgbClr val="555555"/>
                </a:solidFill>
                <a:latin typeface="游ゴシック Medium" pitchFamily="34" charset="0"/>
                <a:ea typeface="游ゴシック Medium" pitchFamily="34" charset="-122"/>
                <a:cs typeface="游ゴシック Medium" pitchFamily="34" charset="-120"/>
              </a:rPr>
              <a:t>他の機材の</a:t>
            </a:r>
            <a:endParaRPr lang="en-US" sz="1711" dirty="0"/>
          </a:p>
        </p:txBody>
      </p:sp>
      <p:sp>
        <p:nvSpPr>
          <p:cNvPr id="34" name="text svgtext"/>
          <p:cNvSpPr txBox="1"/>
          <p:nvPr/>
        </p:nvSpPr>
        <p:spPr>
          <a:xfrm>
            <a:off x="13500676" y="3366742"/>
            <a:ext cx="1467445" cy="276225"/>
          </a:xfrm>
          <a:prstGeom prst="rect">
            <a:avLst/>
          </a:prstGeom>
          <a:noFill/>
          <a:ln/>
        </p:spPr>
        <p:txBody>
          <a:bodyPr wrap="none" lIns="0" tIns="0" rIns="0" bIns="0" rtlCol="0" anchor="ctr"/>
          <a:lstStyle/>
          <a:p>
            <a:pPr algn="ctr" indent="0" marL="0">
              <a:lnSpc>
                <a:spcPts val="2175"/>
              </a:lnSpc>
              <a:buNone/>
            </a:pPr>
            <a:r>
              <a:rPr lang="ja-JP" altLang="en-US" sz="1711" dirty="0">
                <a:solidFill>
                  <a:srgbClr val="555555"/>
                </a:solidFill>
                <a:latin typeface="游ゴシック Medium" pitchFamily="34" charset="0"/>
                <a:ea typeface="游ゴシック Medium" pitchFamily="34" charset="-122"/>
                <a:cs typeface="游ゴシック Medium" pitchFamily="34" charset="-120"/>
              </a:rPr>
              <a:t>モジュール</a:t>
            </a:r>
            <a:endParaRPr lang="en-US" sz="1711" dirty="0"/>
          </a:p>
        </p:txBody>
      </p:sp>
      <p:sp>
        <p:nvSpPr>
          <p:cNvPr id="35" name="line 34"/>
          <p:cNvSpPr/>
          <p:nvPr/>
        </p:nvSpPr>
        <p:spPr>
          <a:xfrm>
            <a:off x="14234399" y="3765291"/>
            <a:ext cx="0" cy="718197"/>
          </a:xfrm>
          <a:prstGeom prst="line">
            <a:avLst/>
          </a:prstGeom>
          <a:noFill/>
          <a:ln w="26416">
            <a:solidFill>
              <a:srgbClr val="888888"/>
            </a:solidFill>
            <a:prstDash val="dash"/>
            <a:headEnd type="triangle"/>
            <a:tailEnd type="triangle"/>
          </a:ln>
        </p:spPr>
      </p:sp>
      <p:sp>
        <p:nvSpPr>
          <p:cNvPr id="36" name="box 35"/>
          <p:cNvSpPr/>
          <p:nvPr/>
        </p:nvSpPr>
        <p:spPr>
          <a:xfrm>
            <a:off x="10983614" y="4559087"/>
            <a:ext cx="2116790" cy="1058395"/>
          </a:xfrm>
          <a:prstGeom prst="rect">
            <a:avLst/>
          </a:prstGeom>
          <a:solidFill>
            <a:srgbClr val="FFFFFF"/>
          </a:solidFill>
          <a:ln w="45339">
            <a:solidFill>
              <a:srgbClr val="222222"/>
            </a:solidFill>
            <a:prstDash val="solid"/>
          </a:ln>
        </p:spPr>
      </p:sp>
      <p:sp>
        <p:nvSpPr>
          <p:cNvPr id="37" name="text svgtext"/>
          <p:cNvSpPr txBox="1"/>
          <p:nvPr/>
        </p:nvSpPr>
        <p:spPr>
          <a:xfrm>
            <a:off x="10838160" y="4736610"/>
            <a:ext cx="2409881" cy="333375"/>
          </a:xfrm>
          <a:prstGeom prst="rect">
            <a:avLst/>
          </a:prstGeom>
          <a:noFill/>
          <a:ln/>
        </p:spPr>
        <p:txBody>
          <a:bodyPr wrap="none" lIns="0" tIns="0" rIns="0" bIns="0" rtlCol="0" anchor="ctr"/>
          <a:lstStyle/>
          <a:p>
            <a:pPr algn="ctr" indent="0" marL="0">
              <a:lnSpc>
                <a:spcPts val="2625"/>
              </a:lnSpc>
              <a:buNone/>
            </a:pPr>
            <a:r>
              <a:rPr lang="ja-JP" altLang="en-US" sz="2083" b="1" dirty="0">
                <a:solidFill>
                  <a:srgbClr val="222222"/>
                </a:solidFill>
                <a:latin typeface="游ゴシック" pitchFamily="34" charset="0"/>
                <a:ea typeface="游ゴシック" pitchFamily="34" charset="-122"/>
                <a:cs typeface="游ゴシック" pitchFamily="34" charset="-120"/>
              </a:rPr>
              <a:t>機材モジュール</a:t>
            </a:r>
            <a:endParaRPr lang="en-US" sz="2083" dirty="0"/>
          </a:p>
        </p:txBody>
      </p:sp>
      <p:sp>
        <p:nvSpPr>
          <p:cNvPr id="38" name="text svgtext"/>
          <p:cNvSpPr txBox="1"/>
          <p:nvPr/>
        </p:nvSpPr>
        <p:spPr>
          <a:xfrm>
            <a:off x="11133636" y="5133958"/>
            <a:ext cx="1816745" cy="266700"/>
          </a:xfrm>
          <a:prstGeom prst="rect">
            <a:avLst/>
          </a:prstGeom>
          <a:noFill/>
          <a:ln/>
        </p:spPr>
        <p:txBody>
          <a:bodyPr wrap="none" lIns="0" tIns="0" rIns="0" bIns="0" rtlCol="0" anchor="ctr"/>
          <a:lstStyle/>
          <a:p>
            <a:pPr algn="ctr" indent="0" marL="0">
              <a:lnSpc>
                <a:spcPts val="2100"/>
              </a:lnSpc>
              <a:buNone/>
            </a:pPr>
            <a:r>
              <a:rPr lang="ja-JP" altLang="en-US" sz="1637" dirty="0">
                <a:solidFill>
                  <a:srgbClr val="555555"/>
                </a:solidFill>
                <a:latin typeface="游ゴシック Medium" pitchFamily="34" charset="0"/>
                <a:ea typeface="游ゴシック Medium" pitchFamily="34" charset="-122"/>
                <a:cs typeface="游ゴシック Medium" pitchFamily="34" charset="-120"/>
              </a:rPr>
              <a:t>Raspberry Pi 4</a:t>
            </a:r>
            <a:endParaRPr lang="en-US" sz="1637" dirty="0"/>
          </a:p>
        </p:txBody>
      </p:sp>
      <p:sp>
        <p:nvSpPr>
          <p:cNvPr id="39" name="box 38"/>
          <p:cNvSpPr/>
          <p:nvPr/>
        </p:nvSpPr>
        <p:spPr>
          <a:xfrm>
            <a:off x="13516202" y="4559087"/>
            <a:ext cx="1436393" cy="1058395"/>
          </a:xfrm>
          <a:prstGeom prst="rect">
            <a:avLst/>
          </a:prstGeom>
          <a:solidFill>
            <a:srgbClr val="FFFFFF"/>
          </a:solidFill>
          <a:ln w="30226">
            <a:solidFill>
              <a:srgbClr val="222222"/>
            </a:solidFill>
            <a:prstDash val="solid"/>
          </a:ln>
        </p:spPr>
      </p:sp>
      <p:sp>
        <p:nvSpPr>
          <p:cNvPr id="40" name="text svgtext"/>
          <p:cNvSpPr txBox="1"/>
          <p:nvPr/>
        </p:nvSpPr>
        <p:spPr>
          <a:xfrm>
            <a:off x="13600986" y="4708035"/>
            <a:ext cx="1266825" cy="371475"/>
          </a:xfrm>
          <a:prstGeom prst="rect">
            <a:avLst/>
          </a:prstGeom>
          <a:noFill/>
          <a:ln/>
        </p:spPr>
        <p:txBody>
          <a:bodyPr wrap="none" lIns="0" tIns="0" rIns="0" bIns="0" rtlCol="0" anchor="ctr"/>
          <a:lstStyle/>
          <a:p>
            <a:pPr algn="ctr" indent="0" marL="0">
              <a:lnSpc>
                <a:spcPts val="2925"/>
              </a:lnSpc>
              <a:buNone/>
            </a:pPr>
            <a:r>
              <a:rPr lang="ja-JP" altLang="en-US" sz="2307" b="1" dirty="0">
                <a:solidFill>
                  <a:srgbClr val="222222"/>
                </a:solidFill>
                <a:latin typeface="游ゴシック" pitchFamily="34" charset="0"/>
                <a:ea typeface="游ゴシック" pitchFamily="34" charset="-122"/>
                <a:cs typeface="游ゴシック" pitchFamily="34" charset="-120"/>
              </a:rPr>
              <a:t>MQTT</a:t>
            </a:r>
            <a:endParaRPr lang="en-US" sz="2307" dirty="0"/>
          </a:p>
        </p:txBody>
      </p:sp>
      <p:sp>
        <p:nvSpPr>
          <p:cNvPr id="41" name="text svgtext"/>
          <p:cNvSpPr txBox="1"/>
          <p:nvPr/>
        </p:nvSpPr>
        <p:spPr>
          <a:xfrm>
            <a:off x="13632314" y="5133958"/>
            <a:ext cx="1204168" cy="266700"/>
          </a:xfrm>
          <a:prstGeom prst="rect">
            <a:avLst/>
          </a:prstGeom>
          <a:noFill/>
          <a:ln/>
        </p:spPr>
        <p:txBody>
          <a:bodyPr wrap="none" lIns="0" tIns="0" rIns="0" bIns="0" rtlCol="0" anchor="ctr"/>
          <a:lstStyle/>
          <a:p>
            <a:pPr algn="ctr" indent="0" marL="0">
              <a:lnSpc>
                <a:spcPts val="2100"/>
              </a:lnSpc>
              <a:buNone/>
            </a:pPr>
            <a:r>
              <a:rPr lang="ja-JP" altLang="en-US" sz="1637" dirty="0">
                <a:solidFill>
                  <a:srgbClr val="555555"/>
                </a:solidFill>
                <a:latin typeface="游ゴシック Medium" pitchFamily="34" charset="0"/>
                <a:ea typeface="游ゴシック Medium" pitchFamily="34" charset="-122"/>
                <a:cs typeface="游ゴシック Medium" pitchFamily="34" charset="-120"/>
              </a:rPr>
              <a:t>ブローカ</a:t>
            </a:r>
            <a:endParaRPr lang="en-US" sz="1637" dirty="0"/>
          </a:p>
        </p:txBody>
      </p:sp>
      <p:sp>
        <p:nvSpPr>
          <p:cNvPr id="42" name="box 41"/>
          <p:cNvSpPr/>
          <p:nvPr/>
        </p:nvSpPr>
        <p:spPr>
          <a:xfrm>
            <a:off x="15519593" y="4559087"/>
            <a:ext cx="2872786" cy="1058395"/>
          </a:xfrm>
          <a:prstGeom prst="rect">
            <a:avLst/>
          </a:prstGeom>
          <a:solidFill>
            <a:srgbClr val="FFFFFF"/>
          </a:solidFill>
          <a:ln w="30226">
            <a:solidFill>
              <a:srgbClr val="222222"/>
            </a:solidFill>
            <a:prstDash val="solid"/>
          </a:ln>
        </p:spPr>
      </p:sp>
      <p:sp>
        <p:nvSpPr>
          <p:cNvPr id="43" name="text svgtext"/>
          <p:cNvSpPr txBox="1"/>
          <p:nvPr/>
        </p:nvSpPr>
        <p:spPr>
          <a:xfrm>
            <a:off x="16326145" y="4708035"/>
            <a:ext cx="1259681" cy="371475"/>
          </a:xfrm>
          <a:prstGeom prst="rect">
            <a:avLst/>
          </a:prstGeom>
          <a:noFill/>
          <a:ln/>
        </p:spPr>
        <p:txBody>
          <a:bodyPr wrap="none" lIns="0" tIns="0" rIns="0" bIns="0" rtlCol="0" anchor="ctr"/>
          <a:lstStyle/>
          <a:p>
            <a:pPr algn="ctr" indent="0" marL="0">
              <a:lnSpc>
                <a:spcPts val="2925"/>
              </a:lnSpc>
              <a:buNone/>
            </a:pPr>
            <a:r>
              <a:rPr lang="ja-JP" altLang="en-US" sz="2307" b="1" dirty="0">
                <a:solidFill>
                  <a:srgbClr val="222222"/>
                </a:solidFill>
                <a:latin typeface="游ゴシック" pitchFamily="34" charset="0"/>
                <a:ea typeface="游ゴシック" pitchFamily="34" charset="-122"/>
                <a:cs typeface="游ゴシック" pitchFamily="34" charset="-120"/>
              </a:rPr>
              <a:t>サーバ</a:t>
            </a:r>
            <a:endParaRPr lang="en-US" sz="2307" dirty="0"/>
          </a:p>
        </p:txBody>
      </p:sp>
      <p:sp>
        <p:nvSpPr>
          <p:cNvPr id="44" name="text svgtext"/>
          <p:cNvSpPr txBox="1"/>
          <p:nvPr/>
        </p:nvSpPr>
        <p:spPr>
          <a:xfrm>
            <a:off x="15987829" y="5133958"/>
            <a:ext cx="1936313" cy="266700"/>
          </a:xfrm>
          <a:prstGeom prst="rect">
            <a:avLst/>
          </a:prstGeom>
          <a:noFill/>
          <a:ln/>
        </p:spPr>
        <p:txBody>
          <a:bodyPr wrap="none" lIns="0" tIns="0" rIns="0" bIns="0" rtlCol="0" anchor="ctr"/>
          <a:lstStyle/>
          <a:p>
            <a:pPr algn="ctr" indent="0" marL="0">
              <a:lnSpc>
                <a:spcPts val="2100"/>
              </a:lnSpc>
              <a:buNone/>
            </a:pPr>
            <a:r>
              <a:rPr lang="ja-JP" altLang="en-US" sz="1637" dirty="0">
                <a:solidFill>
                  <a:srgbClr val="555555"/>
                </a:solidFill>
                <a:latin typeface="游ゴシック Medium" pitchFamily="34" charset="0"/>
                <a:ea typeface="游ゴシック Medium" pitchFamily="34" charset="-122"/>
                <a:cs typeface="游ゴシック Medium" pitchFamily="34" charset="-120"/>
              </a:rPr>
              <a:t>Flask ＋ SQLite</a:t>
            </a:r>
            <a:endParaRPr lang="en-US" sz="1637" dirty="0"/>
          </a:p>
        </p:txBody>
      </p:sp>
      <p:sp>
        <p:nvSpPr>
          <p:cNvPr id="45" name="box 44"/>
          <p:cNvSpPr/>
          <p:nvPr/>
        </p:nvSpPr>
        <p:spPr>
          <a:xfrm>
            <a:off x="16124390" y="2971495"/>
            <a:ext cx="2267989" cy="755996"/>
          </a:xfrm>
          <a:prstGeom prst="rect">
            <a:avLst/>
          </a:prstGeom>
          <a:solidFill>
            <a:srgbClr val="FFFFFF"/>
          </a:solidFill>
          <a:ln w="30226">
            <a:solidFill>
              <a:srgbClr val="222222"/>
            </a:solidFill>
            <a:prstDash val="solid"/>
          </a:ln>
        </p:spPr>
      </p:sp>
      <p:sp>
        <p:nvSpPr>
          <p:cNvPr id="46" name="text svgtext"/>
          <p:cNvSpPr txBox="1"/>
          <p:nvPr/>
        </p:nvSpPr>
        <p:spPr>
          <a:xfrm>
            <a:off x="16523620" y="3026093"/>
            <a:ext cx="1469529" cy="352425"/>
          </a:xfrm>
          <a:prstGeom prst="rect">
            <a:avLst/>
          </a:prstGeom>
          <a:noFill/>
          <a:ln/>
        </p:spPr>
        <p:txBody>
          <a:bodyPr wrap="none" lIns="0" tIns="0" rIns="0" bIns="0" rtlCol="0" anchor="ctr"/>
          <a:lstStyle/>
          <a:p>
            <a:pPr algn="ctr" indent="0" marL="0">
              <a:lnSpc>
                <a:spcPts val="2775"/>
              </a:lnSpc>
              <a:buNone/>
            </a:pPr>
            <a:r>
              <a:rPr lang="ja-JP" altLang="en-US" sz="2143" b="1" dirty="0">
                <a:solidFill>
                  <a:srgbClr val="222222"/>
                </a:solidFill>
                <a:latin typeface="游ゴシック" pitchFamily="34" charset="0"/>
                <a:ea typeface="游ゴシック" pitchFamily="34" charset="-122"/>
                <a:cs typeface="游ゴシック" pitchFamily="34" charset="-120"/>
              </a:rPr>
              <a:t>管理画面</a:t>
            </a:r>
            <a:endParaRPr lang="en-US" sz="2143" dirty="0"/>
          </a:p>
        </p:txBody>
      </p:sp>
      <p:sp>
        <p:nvSpPr>
          <p:cNvPr id="47" name="text svgtext"/>
          <p:cNvSpPr txBox="1"/>
          <p:nvPr/>
        </p:nvSpPr>
        <p:spPr>
          <a:xfrm>
            <a:off x="16671034" y="3376267"/>
            <a:ext cx="1176242" cy="257175"/>
          </a:xfrm>
          <a:prstGeom prst="rect">
            <a:avLst/>
          </a:prstGeom>
          <a:noFill/>
          <a:ln/>
        </p:spPr>
        <p:txBody>
          <a:bodyPr wrap="none" lIns="0" tIns="0" rIns="0" bIns="0" rtlCol="0" anchor="ctr"/>
          <a:lstStyle/>
          <a:p>
            <a:pPr algn="ctr" indent="0" marL="0">
              <a:lnSpc>
                <a:spcPts val="2025"/>
              </a:lnSpc>
              <a:buNone/>
            </a:pPr>
            <a:r>
              <a:rPr lang="ja-JP" altLang="en-US" sz="1563" dirty="0">
                <a:solidFill>
                  <a:srgbClr val="555555"/>
                </a:solidFill>
                <a:latin typeface="游ゴシック Medium" pitchFamily="34" charset="0"/>
                <a:ea typeface="游ゴシック Medium" pitchFamily="34" charset="-122"/>
                <a:cs typeface="游ゴシック Medium" pitchFamily="34" charset="-120"/>
              </a:rPr>
              <a:t>ブラウザ</a:t>
            </a:r>
            <a:endParaRPr lang="en-US" sz="1563" dirty="0"/>
          </a:p>
        </p:txBody>
      </p:sp>
      <p:sp>
        <p:nvSpPr>
          <p:cNvPr id="48" name="line 47"/>
          <p:cNvSpPr/>
          <p:nvPr/>
        </p:nvSpPr>
        <p:spPr>
          <a:xfrm>
            <a:off x="17258384" y="3784191"/>
            <a:ext cx="0" cy="718197"/>
          </a:xfrm>
          <a:prstGeom prst="line">
            <a:avLst/>
          </a:prstGeom>
          <a:noFill/>
          <a:ln w="30226">
            <a:solidFill>
              <a:srgbClr val="222222"/>
            </a:solidFill>
            <a:prstDash val="solid"/>
            <a:headEnd type="triangle"/>
            <a:tailEnd type="triangle"/>
          </a:ln>
        </p:spPr>
      </p:sp>
      <p:sp>
        <p:nvSpPr>
          <p:cNvPr id="49" name="text svgtext"/>
          <p:cNvSpPr txBox="1"/>
          <p:nvPr/>
        </p:nvSpPr>
        <p:spPr>
          <a:xfrm>
            <a:off x="17371784" y="4028389"/>
            <a:ext cx="884486" cy="247650"/>
          </a:xfrm>
          <a:prstGeom prst="rect">
            <a:avLst/>
          </a:prstGeom>
          <a:noFill/>
          <a:ln/>
        </p:spPr>
        <p:txBody>
          <a:bodyPr wrap="none" lIns="0" tIns="0" rIns="0" bIns="0" rtlCol="0" anchor="ctr"/>
          <a:lstStyle/>
          <a:p>
            <a:pPr algn="l" indent="0" marL="0">
              <a:lnSpc>
                <a:spcPts val="1950"/>
              </a:lnSpc>
              <a:buNone/>
            </a:pPr>
            <a:r>
              <a:rPr lang="ja-JP" altLang="en-US" sz="1488" dirty="0">
                <a:solidFill>
                  <a:srgbClr val="555555"/>
                </a:solidFill>
                <a:latin typeface="游ゴシック Medium" pitchFamily="34" charset="0"/>
                <a:ea typeface="游ゴシック Medium" pitchFamily="34" charset="-122"/>
                <a:cs typeface="游ゴシック Medium" pitchFamily="34" charset="-120"/>
              </a:rPr>
              <a:t>HTTP</a:t>
            </a:r>
            <a:endParaRPr lang="en-US" sz="1488" dirty="0"/>
          </a:p>
        </p:txBody>
      </p:sp>
      <p:sp>
        <p:nvSpPr>
          <p:cNvPr id="50" name="box 49"/>
          <p:cNvSpPr/>
          <p:nvPr/>
        </p:nvSpPr>
        <p:spPr>
          <a:xfrm>
            <a:off x="15519593" y="6222279"/>
            <a:ext cx="2872786" cy="944996"/>
          </a:xfrm>
          <a:prstGeom prst="rect">
            <a:avLst/>
          </a:prstGeom>
          <a:solidFill>
            <a:srgbClr val="EEEEEE"/>
          </a:solidFill>
          <a:ln w="34036">
            <a:solidFill>
              <a:srgbClr val="222222"/>
            </a:solidFill>
            <a:prstDash val="solid"/>
          </a:ln>
        </p:spPr>
      </p:sp>
      <p:sp>
        <p:nvSpPr>
          <p:cNvPr id="51" name="text svgtext"/>
          <p:cNvSpPr txBox="1"/>
          <p:nvPr/>
        </p:nvSpPr>
        <p:spPr>
          <a:xfrm>
            <a:off x="16317364" y="6352477"/>
            <a:ext cx="1277243" cy="352425"/>
          </a:xfrm>
          <a:prstGeom prst="rect">
            <a:avLst/>
          </a:prstGeom>
          <a:noFill/>
          <a:ln/>
        </p:spPr>
        <p:txBody>
          <a:bodyPr wrap="none" lIns="0" tIns="0" rIns="0" bIns="0" rtlCol="0" anchor="ctr"/>
          <a:lstStyle/>
          <a:p>
            <a:pPr algn="ctr" indent="0" marL="0">
              <a:lnSpc>
                <a:spcPts val="2775"/>
              </a:lnSpc>
              <a:buNone/>
            </a:pPr>
            <a:r>
              <a:rPr lang="ja-JP" altLang="en-US" sz="2143" b="1" dirty="0">
                <a:solidFill>
                  <a:srgbClr val="222222"/>
                </a:solidFill>
                <a:latin typeface="游ゴシック" pitchFamily="34" charset="0"/>
                <a:ea typeface="游ゴシック" pitchFamily="34" charset="-122"/>
                <a:cs typeface="游ゴシック" pitchFamily="34" charset="-120"/>
              </a:rPr>
              <a:t>割当 AI</a:t>
            </a:r>
            <a:endParaRPr lang="en-US" sz="2143" dirty="0"/>
          </a:p>
        </p:txBody>
      </p:sp>
      <p:sp>
        <p:nvSpPr>
          <p:cNvPr id="52" name="text svgtext"/>
          <p:cNvSpPr txBox="1"/>
          <p:nvPr/>
        </p:nvSpPr>
        <p:spPr>
          <a:xfrm>
            <a:off x="16141822" y="6692826"/>
            <a:ext cx="1628328" cy="323850"/>
          </a:xfrm>
          <a:prstGeom prst="rect">
            <a:avLst/>
          </a:prstGeom>
          <a:noFill/>
          <a:ln/>
        </p:spPr>
        <p:txBody>
          <a:bodyPr wrap="none" lIns="0" tIns="0" rIns="0" bIns="0" rtlCol="0" anchor="ctr"/>
          <a:lstStyle/>
          <a:p>
            <a:pPr algn="ctr" indent="0" marL="0">
              <a:lnSpc>
                <a:spcPts val="2550"/>
              </a:lnSpc>
              <a:buNone/>
            </a:pPr>
            <a:r>
              <a:rPr lang="ja-JP" altLang="en-US" sz="1964" b="1" dirty="0">
                <a:solidFill>
                  <a:srgbClr val="222222"/>
                </a:solidFill>
                <a:latin typeface="游ゴシック" pitchFamily="34" charset="0"/>
                <a:ea typeface="游ゴシック" pitchFamily="34" charset="-122"/>
                <a:cs typeface="游ゴシック" pitchFamily="34" charset="-120"/>
              </a:rPr>
              <a:t>音声の解析</a:t>
            </a:r>
            <a:endParaRPr lang="en-US" sz="1964" dirty="0"/>
          </a:p>
        </p:txBody>
      </p:sp>
      <p:sp>
        <p:nvSpPr>
          <p:cNvPr id="53" name="line 52"/>
          <p:cNvSpPr/>
          <p:nvPr/>
        </p:nvSpPr>
        <p:spPr>
          <a:xfrm>
            <a:off x="16955986" y="5674182"/>
            <a:ext cx="0" cy="491398"/>
          </a:xfrm>
          <a:prstGeom prst="line">
            <a:avLst/>
          </a:prstGeom>
          <a:noFill/>
          <a:ln w="30226">
            <a:solidFill>
              <a:srgbClr val="222222"/>
            </a:solidFill>
            <a:prstDash val="solid"/>
            <a:headEnd type="triangle"/>
            <a:tailEnd type="triangle"/>
          </a:ln>
        </p:spPr>
      </p:sp>
      <p:sp>
        <p:nvSpPr>
          <p:cNvPr id="54" name="line 53"/>
          <p:cNvSpPr/>
          <p:nvPr/>
        </p:nvSpPr>
        <p:spPr>
          <a:xfrm>
            <a:off x="13138204" y="4937085"/>
            <a:ext cx="321298" cy="0"/>
          </a:xfrm>
          <a:prstGeom prst="line">
            <a:avLst/>
          </a:prstGeom>
          <a:noFill/>
          <a:ln w="30226">
            <a:solidFill>
              <a:srgbClr val="222222"/>
            </a:solidFill>
            <a:prstDash val="solid"/>
            <a:tailEnd type="triangle"/>
          </a:ln>
        </p:spPr>
      </p:sp>
      <p:sp>
        <p:nvSpPr>
          <p:cNvPr id="55" name="line 54"/>
          <p:cNvSpPr/>
          <p:nvPr/>
        </p:nvSpPr>
        <p:spPr>
          <a:xfrm flipH="1">
            <a:off x="13157104" y="5258384"/>
            <a:ext cx="321298" cy="0"/>
          </a:xfrm>
          <a:prstGeom prst="line">
            <a:avLst/>
          </a:prstGeom>
          <a:noFill/>
          <a:ln w="30226">
            <a:solidFill>
              <a:srgbClr val="222222"/>
            </a:solidFill>
            <a:prstDash val="solid"/>
            <a:tailEnd type="triangle"/>
          </a:ln>
        </p:spPr>
      </p:sp>
      <p:sp>
        <p:nvSpPr>
          <p:cNvPr id="56" name="text svgtext"/>
          <p:cNvSpPr txBox="1"/>
          <p:nvPr/>
        </p:nvSpPr>
        <p:spPr>
          <a:xfrm>
            <a:off x="12848424" y="4302513"/>
            <a:ext cx="919758" cy="238125"/>
          </a:xfrm>
          <a:prstGeom prst="rect">
            <a:avLst/>
          </a:prstGeom>
          <a:noFill/>
          <a:ln/>
        </p:spPr>
        <p:txBody>
          <a:bodyPr wrap="none" lIns="0" tIns="0" rIns="0" bIns="0" rtlCol="0" anchor="ctr"/>
          <a:lstStyle/>
          <a:p>
            <a:pPr algn="ctr" indent="0" marL="0">
              <a:lnSpc>
                <a:spcPts val="1875"/>
              </a:lnSpc>
              <a:buNone/>
            </a:pPr>
            <a:r>
              <a:rPr lang="ja-JP" altLang="en-US" sz="1414" dirty="0">
                <a:solidFill>
                  <a:srgbClr val="555555"/>
                </a:solidFill>
                <a:latin typeface="游ゴシック Medium" pitchFamily="34" charset="0"/>
                <a:ea typeface="游ゴシック Medium" pitchFamily="34" charset="-122"/>
                <a:cs typeface="游ゴシック Medium" pitchFamily="34" charset="-120"/>
              </a:rPr>
              <a:t>タッチ</a:t>
            </a:r>
            <a:endParaRPr lang="en-US" sz="1414" dirty="0"/>
          </a:p>
        </p:txBody>
      </p:sp>
      <p:sp>
        <p:nvSpPr>
          <p:cNvPr id="57" name="text svgtext"/>
          <p:cNvSpPr txBox="1"/>
          <p:nvPr/>
        </p:nvSpPr>
        <p:spPr>
          <a:xfrm>
            <a:off x="12938242" y="5701106"/>
            <a:ext cx="741521" cy="238125"/>
          </a:xfrm>
          <a:prstGeom prst="rect">
            <a:avLst/>
          </a:prstGeom>
          <a:noFill/>
          <a:ln/>
        </p:spPr>
        <p:txBody>
          <a:bodyPr wrap="none" lIns="0" tIns="0" rIns="0" bIns="0" rtlCol="0" anchor="ctr"/>
          <a:lstStyle/>
          <a:p>
            <a:pPr algn="ctr" indent="0" marL="0">
              <a:lnSpc>
                <a:spcPts val="1875"/>
              </a:lnSpc>
              <a:buNone/>
            </a:pPr>
            <a:r>
              <a:rPr lang="ja-JP" altLang="en-US" sz="1414" dirty="0">
                <a:solidFill>
                  <a:srgbClr val="555555"/>
                </a:solidFill>
                <a:latin typeface="游ゴシック Medium" pitchFamily="34" charset="0"/>
                <a:ea typeface="游ゴシック Medium" pitchFamily="34" charset="-122"/>
                <a:cs typeface="游ゴシック Medium" pitchFamily="34" charset="-120"/>
              </a:rPr>
              <a:t>指示</a:t>
            </a:r>
            <a:endParaRPr lang="en-US" sz="1414" dirty="0"/>
          </a:p>
        </p:txBody>
      </p:sp>
      <p:sp>
        <p:nvSpPr>
          <p:cNvPr id="58" name="line 57"/>
          <p:cNvSpPr/>
          <p:nvPr/>
        </p:nvSpPr>
        <p:spPr>
          <a:xfrm>
            <a:off x="14990395" y="5088285"/>
            <a:ext cx="472498" cy="0"/>
          </a:xfrm>
          <a:prstGeom prst="line">
            <a:avLst/>
          </a:prstGeom>
          <a:noFill/>
          <a:ln w="30226">
            <a:solidFill>
              <a:srgbClr val="222222"/>
            </a:solidFill>
            <a:prstDash val="solid"/>
            <a:headEnd type="triangle"/>
            <a:tailEnd type="triangle"/>
          </a:ln>
        </p:spPr>
      </p:sp>
      <p:sp>
        <p:nvSpPr>
          <p:cNvPr id="59" name="arrow 58"/>
          <p:cNvSpPr/>
          <p:nvPr/>
        </p:nvSpPr>
        <p:spPr>
          <a:xfrm>
            <a:off x="12042009" y="5655282"/>
            <a:ext cx="3401984" cy="1039495"/>
          </a:xfrm>
          <a:custGeom>
            <a:avLst/>
            <a:gdLst/>
            <a:ahLst/>
            <a:cxnLst/>
            <a:rect l="l" t="t" r="r" b="b"/>
            <a:pathLst>
              <a:path w="3401984" h="1039495">
                <a:moveTo>
                  <a:pt x="0" y="0"/>
                </a:moveTo>
                <a:lnTo>
                  <a:pt x="0" y="1039495"/>
                </a:lnTo>
                <a:lnTo>
                  <a:pt x="3401984" y="1039495"/>
                </a:lnTo>
              </a:path>
            </a:pathLst>
          </a:custGeom>
          <a:ln w="30226">
            <a:solidFill>
              <a:srgbClr val="222222"/>
            </a:solidFill>
            <a:prstDash val="solid"/>
            <a:tailEnd type="triangle"/>
          </a:ln>
        </p:spPr>
      </p:sp>
      <p:sp>
        <p:nvSpPr>
          <p:cNvPr id="60" name="text svgtext"/>
          <p:cNvSpPr txBox="1"/>
          <p:nvPr/>
        </p:nvSpPr>
        <p:spPr>
          <a:xfrm>
            <a:off x="12569759" y="6381353"/>
            <a:ext cx="2346484" cy="257175"/>
          </a:xfrm>
          <a:prstGeom prst="rect">
            <a:avLst/>
          </a:prstGeom>
          <a:noFill/>
          <a:ln/>
        </p:spPr>
        <p:txBody>
          <a:bodyPr wrap="none" lIns="0" tIns="0" rIns="0" bIns="0" rtlCol="0" anchor="ctr"/>
          <a:lstStyle/>
          <a:p>
            <a:pPr algn="ctr" indent="0" marL="0">
              <a:lnSpc>
                <a:spcPts val="2025"/>
              </a:lnSpc>
              <a:buNone/>
            </a:pPr>
            <a:r>
              <a:rPr lang="ja-JP" altLang="en-US" sz="1563" dirty="0">
                <a:solidFill>
                  <a:srgbClr val="222222"/>
                </a:solidFill>
                <a:latin typeface="游ゴシック Medium" pitchFamily="34" charset="0"/>
                <a:ea typeface="游ゴシック Medium" pitchFamily="34" charset="-122"/>
                <a:cs typeface="游ゴシック Medium" pitchFamily="34" charset="-120"/>
              </a:rPr>
              <a:t>音声 WAV（HTTP）</a:t>
            </a:r>
            <a:endParaRPr lang="en-US" sz="1563" dirty="0"/>
          </a:p>
        </p:txBody>
      </p:sp>
      <p:sp>
        <p:nvSpPr>
          <p:cNvPr id="61" name="text div.cap"/>
          <p:cNvSpPr txBox="1"/>
          <p:nvPr/>
        </p:nvSpPr>
        <p:spPr>
          <a:xfrm>
            <a:off x="10907911" y="7355919"/>
            <a:ext cx="7603371" cy="325755"/>
          </a:xfrm>
          <a:prstGeom prst="rect">
            <a:avLst/>
          </a:prstGeom>
          <a:noFill/>
          <a:ln/>
        </p:spPr>
        <p:txBody>
          <a:bodyPr wrap="square" lIns="0" tIns="0" rIns="0" bIns="0" rtlCol="0" anchor="t"/>
          <a:lstStyle/>
          <a:p>
            <a:pPr algn="l" indent="0" marL="0">
              <a:lnSpc>
                <a:spcPts val="2565"/>
              </a:lnSpc>
              <a:buNone/>
            </a:pPr>
            <a:r>
              <a:rPr lang="ja-JP" altLang="en-US" sz="1900" b="1" dirty="0">
                <a:solidFill>
                  <a:srgbClr val="222222"/>
                </a:solidFill>
                <a:latin typeface="游ゴシック" pitchFamily="34" charset="0"/>
                <a:ea typeface="游ゴシック" pitchFamily="34" charset="-122"/>
                <a:cs typeface="游ゴシック" pitchFamily="34" charset="-120"/>
              </a:rPr>
              <a:t>図 1</a:t>
            </a:r>
            <a:pPr algn="l" indent="0" marL="0">
              <a:lnSpc>
                <a:spcPts val="2565"/>
              </a:lnSpc>
              <a:buNone/>
            </a:pPr>
            <a:r>
              <a:rPr lang="ja-JP" altLang="en-US" sz="1900" dirty="0">
                <a:solidFill>
                  <a:srgbClr val="555555"/>
                </a:solidFill>
                <a:latin typeface="游ゴシック Medium" pitchFamily="34" charset="0"/>
                <a:ea typeface="游ゴシック Medium" pitchFamily="34" charset="-122"/>
                <a:cs typeface="游ゴシック Medium" pitchFamily="34" charset="-120"/>
              </a:rPr>
              <a:t>　全体構成。判断はすべてサーバが行う</a:t>
            </a:r>
            <a:endParaRPr lang="en-US" sz="1900" dirty="0"/>
          </a:p>
        </p:txBody>
      </p:sp>
      <p:pic>
        <p:nvPicPr>
          <p:cNvPr id="62" name="module.png" descr="D:\procon2026\poster\module.png">    </p:cNvPr>
          <p:cNvPicPr>
            <a:picLocks noChangeAspect="1"/>
          </p:cNvPicPr>
          <p:nvPr/>
        </p:nvPicPr>
        <p:blipFill>
          <a:blip r:embed="rId1"/>
          <a:stretch>
            <a:fillRect/>
          </a:stretch>
        </p:blipFill>
        <p:spPr>
          <a:xfrm>
            <a:off x="18648015" y="2858095"/>
            <a:ext cx="2159943" cy="1901130"/>
          </a:xfrm>
          <a:prstGeom prst="rect">
            <a:avLst/>
          </a:prstGeom>
        </p:spPr>
      </p:pic>
      <p:sp>
        <p:nvSpPr>
          <p:cNvPr id="63" name="text div.cap"/>
          <p:cNvSpPr txBox="1"/>
          <p:nvPr/>
        </p:nvSpPr>
        <p:spPr>
          <a:xfrm>
            <a:off x="18648015" y="4796671"/>
            <a:ext cx="2203143" cy="325755"/>
          </a:xfrm>
          <a:prstGeom prst="rect">
            <a:avLst/>
          </a:prstGeom>
          <a:noFill/>
          <a:ln/>
        </p:spPr>
        <p:txBody>
          <a:bodyPr wrap="square" lIns="0" tIns="0" rIns="0" bIns="0" rtlCol="0" anchor="t"/>
          <a:lstStyle/>
          <a:p>
            <a:pPr algn="l" indent="0" marL="0">
              <a:lnSpc>
                <a:spcPts val="2565"/>
              </a:lnSpc>
              <a:buNone/>
            </a:pPr>
            <a:r>
              <a:rPr lang="ja-JP" altLang="en-US" sz="1900" b="1" dirty="0">
                <a:solidFill>
                  <a:srgbClr val="222222"/>
                </a:solidFill>
                <a:latin typeface="游ゴシック" pitchFamily="34" charset="0"/>
                <a:ea typeface="游ゴシック" pitchFamily="34" charset="-122"/>
                <a:cs typeface="游ゴシック" pitchFamily="34" charset="-120"/>
              </a:rPr>
              <a:t>図 2</a:t>
            </a:r>
            <a:pPr algn="l" indent="0" marL="0">
              <a:lnSpc>
                <a:spcPts val="2565"/>
              </a:lnSpc>
              <a:buNone/>
            </a:pPr>
            <a:r>
              <a:rPr lang="ja-JP" altLang="en-US" sz="1900" dirty="0">
                <a:solidFill>
                  <a:srgbClr val="555555"/>
                </a:solidFill>
                <a:latin typeface="游ゴシック Medium" pitchFamily="34" charset="0"/>
                <a:ea typeface="游ゴシック Medium" pitchFamily="34" charset="-122"/>
                <a:cs typeface="游ゴシック Medium" pitchFamily="34" charset="-120"/>
              </a:rPr>
              <a:t>　試作機</a:t>
            </a:r>
            <a:endParaRPr lang="en-US" sz="1900" dirty="0"/>
          </a:p>
        </p:txBody>
      </p:sp>
      <p:sp>
        <p:nvSpPr>
          <p:cNvPr id="64" name="text p"/>
          <p:cNvSpPr txBox="1"/>
          <p:nvPr/>
        </p:nvSpPr>
        <p:spPr>
          <a:xfrm>
            <a:off x="10907911" y="7792283"/>
            <a:ext cx="9943247" cy="773430"/>
          </a:xfrm>
          <a:prstGeom prst="rect">
            <a:avLst/>
          </a:prstGeom>
          <a:noFill/>
          <a:ln/>
        </p:spPr>
        <p:txBody>
          <a:bodyPr wrap="square" lIns="0" tIns="0" rIns="0" bIns="0" rtlCol="0" anchor="t"/>
          <a:lstStyle/>
          <a:p>
            <a:pPr algn="l" indent="0" marL="0">
              <a:lnSpc>
                <a:spcPts val="3045"/>
              </a:lnSpc>
              <a:buNone/>
            </a:pPr>
            <a:r>
              <a:rPr lang="ja-JP" altLang="en-US" sz="2100" b="1" dirty="0">
                <a:solidFill>
                  <a:srgbClr val="222222"/>
                </a:solidFill>
                <a:latin typeface="游ゴシック" pitchFamily="34" charset="0"/>
                <a:ea typeface="游ゴシック" pitchFamily="34" charset="-122"/>
                <a:cs typeface="游ゴシック" pitchFamily="34" charset="-120"/>
              </a:rPr>
              <a:t>割当：</a:t>
            </a:r>
            <a:pPr algn="l" indent="0" marL="0">
              <a:lnSpc>
                <a:spcPts val="3045"/>
              </a:lnSpc>
              <a:buNone/>
            </a:pPr>
            <a:r>
              <a:rPr lang="ja-JP" altLang="en-US" sz="2100" dirty="0">
                <a:solidFill>
                  <a:srgbClr val="222222"/>
                </a:solidFill>
                <a:latin typeface="游ゴシック Medium" pitchFamily="34" charset="0"/>
                <a:ea typeface="游ゴシック Medium" pitchFamily="34" charset="-122"/>
                <a:cs typeface="游ゴシック Medium" pitchFamily="34" charset="-120"/>
              </a:rPr>
              <a:t>作業者ごとのベイズ線形回帰による Thompson Sampling [1] で、速く終えられそうな人を予測する。資格は候補を絞る制約として扱う。</a:t>
            </a:r>
            <a:endParaRPr lang="en-US" sz="2100" dirty="0"/>
          </a:p>
        </p:txBody>
      </p:sp>
      <p:sp>
        <p:nvSpPr>
          <p:cNvPr id="65" name="text p"/>
          <p:cNvSpPr txBox="1"/>
          <p:nvPr/>
        </p:nvSpPr>
        <p:spPr>
          <a:xfrm>
            <a:off x="10907911" y="8619470"/>
            <a:ext cx="9943247" cy="773430"/>
          </a:xfrm>
          <a:prstGeom prst="rect">
            <a:avLst/>
          </a:prstGeom>
          <a:noFill/>
          <a:ln/>
        </p:spPr>
        <p:txBody>
          <a:bodyPr wrap="square" lIns="0" tIns="0" rIns="0" bIns="0" rtlCol="0" anchor="t"/>
          <a:lstStyle/>
          <a:p>
            <a:pPr algn="l" indent="0" marL="0">
              <a:lnSpc>
                <a:spcPts val="3045"/>
              </a:lnSpc>
              <a:buNone/>
            </a:pPr>
            <a:r>
              <a:rPr lang="ja-JP" altLang="en-US" sz="2100" b="1" dirty="0">
                <a:solidFill>
                  <a:srgbClr val="222222"/>
                </a:solidFill>
                <a:latin typeface="游ゴシック" pitchFamily="34" charset="0"/>
                <a:ea typeface="游ゴシック" pitchFamily="34" charset="-122"/>
                <a:cs typeface="游ゴシック" pitchFamily="34" charset="-120"/>
              </a:rPr>
              <a:t>音声登録：</a:t>
            </a:r>
            <a:pPr algn="l" indent="0" marL="0">
              <a:lnSpc>
                <a:spcPts val="3045"/>
              </a:lnSpc>
              <a:buNone/>
            </a:pPr>
            <a:r>
              <a:rPr lang="ja-JP" altLang="en-US" sz="2100" dirty="0">
                <a:solidFill>
                  <a:srgbClr val="222222"/>
                </a:solidFill>
                <a:latin typeface="游ゴシック Medium" pitchFamily="34" charset="0"/>
                <a:ea typeface="游ゴシック Medium" pitchFamily="34" charset="-122"/>
                <a:cs typeface="游ゴシック Medium" pitchFamily="34" charset="-120"/>
              </a:rPr>
              <a:t>Whisper [2] の文字起こしから、Gemma 3 がタスクの各欄を取り出す。</a:t>
            </a:r>
            <a:endParaRPr lang="en-US" sz="2100" dirty="0"/>
          </a:p>
        </p:txBody>
      </p:sp>
      <p:sp>
        <p:nvSpPr>
          <p:cNvPr id="66" name="line 65"/>
          <p:cNvSpPr/>
          <p:nvPr/>
        </p:nvSpPr>
        <p:spPr>
          <a:xfrm>
            <a:off x="575965" y="10766524"/>
            <a:ext cx="20231993" cy="0"/>
          </a:xfrm>
          <a:prstGeom prst="line">
            <a:avLst/>
          </a:prstGeom>
          <a:noFill/>
          <a:ln w="9525">
            <a:solidFill>
              <a:srgbClr val="222222"/>
            </a:solidFill>
            <a:prstDash val="solid"/>
          </a:ln>
        </p:spPr>
      </p:sp>
      <p:sp>
        <p:nvSpPr>
          <p:cNvPr id="67" name="text h2"/>
          <p:cNvSpPr txBox="1"/>
          <p:nvPr/>
        </p:nvSpPr>
        <p:spPr>
          <a:xfrm>
            <a:off x="1023045" y="10218688"/>
            <a:ext cx="19828113"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現場での利用の流れ</a:t>
            </a:r>
            <a:endParaRPr lang="en-US" sz="3000" dirty="0"/>
          </a:p>
        </p:txBody>
      </p:sp>
      <p:sp>
        <p:nvSpPr>
          <p:cNvPr id="68" name="text span.n"/>
          <p:cNvSpPr txBox="1"/>
          <p:nvPr/>
        </p:nvSpPr>
        <p:spPr>
          <a:xfrm>
            <a:off x="575965" y="10218688"/>
            <a:ext cx="261680"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4</a:t>
            </a:r>
            <a:endParaRPr lang="en-US" sz="3000" dirty="0"/>
          </a:p>
        </p:txBody>
      </p:sp>
      <p:sp>
        <p:nvSpPr>
          <p:cNvPr id="69" name="text small"/>
          <p:cNvSpPr txBox="1"/>
          <p:nvPr/>
        </p:nvSpPr>
        <p:spPr>
          <a:xfrm>
            <a:off x="4693295" y="10365373"/>
            <a:ext cx="2730738" cy="325755"/>
          </a:xfrm>
          <a:prstGeom prst="rect">
            <a:avLst/>
          </a:prstGeom>
          <a:noFill/>
          <a:ln/>
        </p:spPr>
        <p:txBody>
          <a:bodyPr wrap="square" lIns="0" tIns="0" rIns="0" bIns="0" rtlCol="0" anchor="t"/>
          <a:lstStyle/>
          <a:p>
            <a:pPr algn="l" indent="0" marL="0">
              <a:lnSpc>
                <a:spcPts val="2565"/>
              </a:lnSpc>
              <a:buNone/>
            </a:pPr>
            <a:r>
              <a:rPr lang="ja-JP" altLang="en-US" sz="1900" dirty="0">
                <a:solidFill>
                  <a:srgbClr val="555555"/>
                </a:solidFill>
                <a:latin typeface="游ゴシック Medium" pitchFamily="34" charset="0"/>
                <a:ea typeface="游ゴシック Medium" pitchFamily="34" charset="-122"/>
                <a:cs typeface="游ゴシック Medium" pitchFamily="34" charset="-120"/>
              </a:rPr>
              <a:t>図 3　LCD の実際の画面</a:t>
            </a:r>
            <a:endParaRPr lang="en-US" sz="1900" dirty="0"/>
          </a:p>
        </p:txBody>
      </p:sp>
      <p:sp>
        <p:nvSpPr>
          <p:cNvPr id="70" name="text h4"/>
          <p:cNvSpPr txBox="1"/>
          <p:nvPr/>
        </p:nvSpPr>
        <p:spPr>
          <a:xfrm>
            <a:off x="819150" y="10852606"/>
            <a:ext cx="3441755"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タッチ</a:t>
            </a:r>
            <a:endParaRPr lang="en-US" sz="1950" dirty="0"/>
          </a:p>
        </p:txBody>
      </p:sp>
      <p:sp>
        <p:nvSpPr>
          <p:cNvPr id="71" name="text i"/>
          <p:cNvSpPr txBox="1"/>
          <p:nvPr/>
        </p:nvSpPr>
        <p:spPr>
          <a:xfrm>
            <a:off x="575965" y="10852606"/>
            <a:ext cx="525214"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a</a:t>
            </a:r>
            <a:endParaRPr lang="en-US" sz="1950" dirty="0"/>
          </a:p>
        </p:txBody>
      </p:sp>
      <p:sp>
        <p:nvSpPr>
          <p:cNvPr id="72" name="box 71"/>
          <p:cNvSpPr/>
          <p:nvPr/>
        </p:nvSpPr>
        <p:spPr>
          <a:xfrm>
            <a:off x="575965" y="11226254"/>
            <a:ext cx="2890689" cy="2185839"/>
          </a:xfrm>
          <a:prstGeom prst="rect">
            <a:avLst/>
          </a:prstGeom>
          <a:solidFill>
            <a:srgbClr val="111111"/>
          </a:solidFill>
          <a:ln/>
        </p:spPr>
      </p:sp>
      <p:pic>
        <p:nvPicPr>
          <p:cNvPr id="73" name="05-menu_idle.png" descr="D:\procon2026\poster\screens\05-menu_idle.png">    </p:cNvPr>
          <p:cNvPicPr>
            <a:picLocks noChangeAspect="1"/>
          </p:cNvPicPr>
          <p:nvPr/>
        </p:nvPicPr>
        <p:blipFill>
          <a:blip r:embed="rId2"/>
          <a:stretch>
            <a:fillRect/>
          </a:stretch>
        </p:blipFill>
        <p:spPr>
          <a:xfrm>
            <a:off x="611832" y="11262122"/>
            <a:ext cx="2818954" cy="2114104"/>
          </a:xfrm>
          <a:prstGeom prst="rect">
            <a:avLst/>
          </a:prstGeom>
        </p:spPr>
      </p:pic>
      <p:sp>
        <p:nvSpPr>
          <p:cNvPr id="74" name="text p"/>
          <p:cNvSpPr txBox="1"/>
          <p:nvPr/>
        </p:nvSpPr>
        <p:spPr>
          <a:xfrm>
            <a:off x="575965" y="13453905"/>
            <a:ext cx="2933889" cy="648462"/>
          </a:xfrm>
          <a:prstGeom prst="rect">
            <a:avLst/>
          </a:prstGeom>
          <a:noFill/>
          <a:ln/>
        </p:spPr>
        <p:txBody>
          <a:bodyPr wrap="square" lIns="0" tIns="0" rIns="0" bIns="0" rtlCol="0" anchor="t"/>
          <a:lstStyle/>
          <a:p>
            <a:pPr algn="l" indent="0" marL="0">
              <a:lnSpc>
                <a:spcPts val="2553"/>
              </a:lnSpc>
              <a:buNone/>
            </a:pPr>
            <a:r>
              <a:rPr lang="ja-JP" altLang="en-US" sz="1850" dirty="0">
                <a:solidFill>
                  <a:srgbClr val="444444"/>
                </a:solidFill>
                <a:latin typeface="游ゴシック Medium" pitchFamily="34" charset="0"/>
                <a:ea typeface="游ゴシック Medium" pitchFamily="34" charset="-122"/>
                <a:cs typeface="游ゴシック Medium" pitchFamily="34" charset="-120"/>
              </a:rPr>
              <a:t>常に同じ 3 項目。使用中なら断る。</a:t>
            </a:r>
            <a:endParaRPr lang="en-US" sz="1850" dirty="0"/>
          </a:p>
        </p:txBody>
      </p:sp>
      <p:sp>
        <p:nvSpPr>
          <p:cNvPr id="75" name="text h4"/>
          <p:cNvSpPr txBox="1"/>
          <p:nvPr/>
        </p:nvSpPr>
        <p:spPr>
          <a:xfrm>
            <a:off x="3861346" y="10852606"/>
            <a:ext cx="3431887"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誘導</a:t>
            </a:r>
            <a:endParaRPr lang="en-US" sz="1950" dirty="0"/>
          </a:p>
        </p:txBody>
      </p:sp>
      <p:sp>
        <p:nvSpPr>
          <p:cNvPr id="76" name="text i"/>
          <p:cNvSpPr txBox="1"/>
          <p:nvPr/>
        </p:nvSpPr>
        <p:spPr>
          <a:xfrm>
            <a:off x="3610570" y="10852606"/>
            <a:ext cx="532805"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b</a:t>
            </a:r>
            <a:endParaRPr lang="en-US" sz="1950" dirty="0"/>
          </a:p>
        </p:txBody>
      </p:sp>
      <p:sp>
        <p:nvSpPr>
          <p:cNvPr id="77" name="box 76"/>
          <p:cNvSpPr/>
          <p:nvPr/>
        </p:nvSpPr>
        <p:spPr>
          <a:xfrm>
            <a:off x="3610570" y="11226254"/>
            <a:ext cx="2890689" cy="2185839"/>
          </a:xfrm>
          <a:prstGeom prst="rect">
            <a:avLst/>
          </a:prstGeom>
          <a:solidFill>
            <a:srgbClr val="111111"/>
          </a:solidFill>
          <a:ln/>
        </p:spPr>
      </p:sp>
      <p:pic>
        <p:nvPicPr>
          <p:cNvPr id="78" name="12-guide_ask.png" descr="D:\procon2026\poster\screens\12-guide_ask.png">    </p:cNvPr>
          <p:cNvPicPr>
            <a:picLocks noChangeAspect="1"/>
          </p:cNvPicPr>
          <p:nvPr/>
        </p:nvPicPr>
        <p:blipFill>
          <a:blip r:embed="rId3"/>
          <a:stretch>
            <a:fillRect/>
          </a:stretch>
        </p:blipFill>
        <p:spPr>
          <a:xfrm>
            <a:off x="3646438" y="11262122"/>
            <a:ext cx="2818954" cy="2114104"/>
          </a:xfrm>
          <a:prstGeom prst="rect">
            <a:avLst/>
          </a:prstGeom>
        </p:spPr>
      </p:pic>
      <p:sp>
        <p:nvSpPr>
          <p:cNvPr id="79" name="text p"/>
          <p:cNvSpPr txBox="1"/>
          <p:nvPr/>
        </p:nvSpPr>
        <p:spPr>
          <a:xfrm>
            <a:off x="3610570" y="13453905"/>
            <a:ext cx="2933889" cy="648462"/>
          </a:xfrm>
          <a:prstGeom prst="rect">
            <a:avLst/>
          </a:prstGeom>
          <a:noFill/>
          <a:ln/>
        </p:spPr>
        <p:txBody>
          <a:bodyPr wrap="square" lIns="0" tIns="0" rIns="0" bIns="0" rtlCol="0" anchor="t"/>
          <a:lstStyle/>
          <a:p>
            <a:pPr algn="l" indent="0" marL="0">
              <a:lnSpc>
                <a:spcPts val="2553"/>
              </a:lnSpc>
              <a:buNone/>
            </a:pPr>
            <a:r>
              <a:rPr lang="ja-JP" altLang="en-US" sz="1850" dirty="0">
                <a:solidFill>
                  <a:srgbClr val="444444"/>
                </a:solidFill>
                <a:latin typeface="游ゴシック Medium" pitchFamily="34" charset="0"/>
                <a:ea typeface="游ゴシック Medium" pitchFamily="34" charset="-122"/>
                <a:cs typeface="游ゴシック Medium" pitchFamily="34" charset="-120"/>
              </a:rPr>
              <a:t>他の機材の優先タスクへ誘導する。</a:t>
            </a:r>
            <a:endParaRPr lang="en-US" sz="1850" dirty="0"/>
          </a:p>
        </p:txBody>
      </p:sp>
      <p:sp>
        <p:nvSpPr>
          <p:cNvPr id="80" name="text h4"/>
          <p:cNvSpPr txBox="1"/>
          <p:nvPr/>
        </p:nvSpPr>
        <p:spPr>
          <a:xfrm>
            <a:off x="6880920" y="10852606"/>
            <a:ext cx="3451428"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タスク提示</a:t>
            </a:r>
            <a:endParaRPr lang="en-US" sz="1950" dirty="0"/>
          </a:p>
        </p:txBody>
      </p:sp>
      <p:sp>
        <p:nvSpPr>
          <p:cNvPr id="81" name="text i"/>
          <p:cNvSpPr txBox="1"/>
          <p:nvPr/>
        </p:nvSpPr>
        <p:spPr>
          <a:xfrm>
            <a:off x="6645176" y="10852606"/>
            <a:ext cx="517773"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c</a:t>
            </a:r>
            <a:endParaRPr lang="en-US" sz="1950" dirty="0"/>
          </a:p>
        </p:txBody>
      </p:sp>
      <p:sp>
        <p:nvSpPr>
          <p:cNvPr id="82" name="box 81"/>
          <p:cNvSpPr/>
          <p:nvPr/>
        </p:nvSpPr>
        <p:spPr>
          <a:xfrm>
            <a:off x="6645176" y="11226254"/>
            <a:ext cx="2890689" cy="2185839"/>
          </a:xfrm>
          <a:prstGeom prst="rect">
            <a:avLst/>
          </a:prstGeom>
          <a:solidFill>
            <a:srgbClr val="111111"/>
          </a:solidFill>
          <a:ln/>
        </p:spPr>
      </p:sp>
      <p:pic>
        <p:nvPicPr>
          <p:cNvPr id="83" name="15-task_ask.png" descr="D:\procon2026\poster\screens\15-task_ask.png">    </p:cNvPr>
          <p:cNvPicPr>
            <a:picLocks noChangeAspect="1"/>
          </p:cNvPicPr>
          <p:nvPr/>
        </p:nvPicPr>
        <p:blipFill>
          <a:blip r:embed="rId4"/>
          <a:stretch>
            <a:fillRect/>
          </a:stretch>
        </p:blipFill>
        <p:spPr>
          <a:xfrm>
            <a:off x="6681043" y="11262122"/>
            <a:ext cx="2818954" cy="2114104"/>
          </a:xfrm>
          <a:prstGeom prst="rect">
            <a:avLst/>
          </a:prstGeom>
        </p:spPr>
      </p:pic>
      <p:sp>
        <p:nvSpPr>
          <p:cNvPr id="84" name="text p"/>
          <p:cNvSpPr txBox="1"/>
          <p:nvPr/>
        </p:nvSpPr>
        <p:spPr>
          <a:xfrm>
            <a:off x="6645176" y="13453905"/>
            <a:ext cx="2933889" cy="648462"/>
          </a:xfrm>
          <a:prstGeom prst="rect">
            <a:avLst/>
          </a:prstGeom>
          <a:noFill/>
          <a:ln/>
        </p:spPr>
        <p:txBody>
          <a:bodyPr wrap="square" lIns="0" tIns="0" rIns="0" bIns="0" rtlCol="0" anchor="t"/>
          <a:lstStyle/>
          <a:p>
            <a:pPr algn="l" indent="0" marL="0">
              <a:lnSpc>
                <a:spcPts val="2553"/>
              </a:lnSpc>
              <a:buNone/>
            </a:pPr>
            <a:r>
              <a:rPr lang="ja-JP" altLang="en-US" sz="1850" dirty="0">
                <a:solidFill>
                  <a:srgbClr val="444444"/>
                </a:solidFill>
                <a:latin typeface="游ゴシック Medium" pitchFamily="34" charset="0"/>
                <a:ea typeface="游ゴシック Medium" pitchFamily="34" charset="-122"/>
                <a:cs typeface="游ゴシック Medium" pitchFamily="34" charset="-120"/>
              </a:rPr>
              <a:t>1 件ずつ提示し、「はい」で着手。</a:t>
            </a:r>
            <a:endParaRPr lang="en-US" sz="1850" dirty="0"/>
          </a:p>
        </p:txBody>
      </p:sp>
      <p:sp>
        <p:nvSpPr>
          <p:cNvPr id="85" name="text h4"/>
          <p:cNvSpPr txBox="1"/>
          <p:nvPr/>
        </p:nvSpPr>
        <p:spPr>
          <a:xfrm>
            <a:off x="9930854" y="10852606"/>
            <a:ext cx="3431694"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タスク登録</a:t>
            </a:r>
            <a:endParaRPr lang="en-US" sz="1950" dirty="0"/>
          </a:p>
        </p:txBody>
      </p:sp>
      <p:sp>
        <p:nvSpPr>
          <p:cNvPr id="86" name="text i"/>
          <p:cNvSpPr txBox="1"/>
          <p:nvPr/>
        </p:nvSpPr>
        <p:spPr>
          <a:xfrm>
            <a:off x="9679781" y="10852606"/>
            <a:ext cx="533102"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d</a:t>
            </a:r>
            <a:endParaRPr lang="en-US" sz="1950" dirty="0"/>
          </a:p>
        </p:txBody>
      </p:sp>
      <p:sp>
        <p:nvSpPr>
          <p:cNvPr id="87" name="box 86"/>
          <p:cNvSpPr/>
          <p:nvPr/>
        </p:nvSpPr>
        <p:spPr>
          <a:xfrm>
            <a:off x="9679781" y="11226254"/>
            <a:ext cx="2890838" cy="2185988"/>
          </a:xfrm>
          <a:prstGeom prst="rect">
            <a:avLst/>
          </a:prstGeom>
          <a:solidFill>
            <a:srgbClr val="111111"/>
          </a:solidFill>
          <a:ln/>
        </p:spPr>
      </p:sp>
      <p:pic>
        <p:nvPicPr>
          <p:cNvPr id="88" name="09-rec_wait.png" descr="D:\procon2026\poster\screens\09-rec_wait.png">    </p:cNvPr>
          <p:cNvPicPr>
            <a:picLocks noChangeAspect="1"/>
          </p:cNvPicPr>
          <p:nvPr/>
        </p:nvPicPr>
        <p:blipFill>
          <a:blip r:embed="rId5"/>
          <a:stretch>
            <a:fillRect/>
          </a:stretch>
        </p:blipFill>
        <p:spPr>
          <a:xfrm>
            <a:off x="9715649" y="11262122"/>
            <a:ext cx="2819102" cy="2114252"/>
          </a:xfrm>
          <a:prstGeom prst="rect">
            <a:avLst/>
          </a:prstGeom>
        </p:spPr>
      </p:pic>
      <p:sp>
        <p:nvSpPr>
          <p:cNvPr id="89" name="text p"/>
          <p:cNvSpPr txBox="1"/>
          <p:nvPr/>
        </p:nvSpPr>
        <p:spPr>
          <a:xfrm>
            <a:off x="9679781" y="13454054"/>
            <a:ext cx="2934038" cy="648462"/>
          </a:xfrm>
          <a:prstGeom prst="rect">
            <a:avLst/>
          </a:prstGeom>
          <a:noFill/>
          <a:ln/>
        </p:spPr>
        <p:txBody>
          <a:bodyPr wrap="square" lIns="0" tIns="0" rIns="0" bIns="0" rtlCol="0" anchor="t"/>
          <a:lstStyle/>
          <a:p>
            <a:pPr algn="l" indent="0" marL="0">
              <a:lnSpc>
                <a:spcPts val="2553"/>
              </a:lnSpc>
              <a:buNone/>
            </a:pPr>
            <a:r>
              <a:rPr lang="ja-JP" altLang="en-US" sz="1850" dirty="0">
                <a:solidFill>
                  <a:srgbClr val="444444"/>
                </a:solidFill>
                <a:latin typeface="游ゴシック Medium" pitchFamily="34" charset="0"/>
                <a:ea typeface="游ゴシック Medium" pitchFamily="34" charset="-122"/>
                <a:cs typeface="游ゴシック Medium" pitchFamily="34" charset="-120"/>
              </a:rPr>
              <a:t>押している間だけ録音する。</a:t>
            </a:r>
            <a:endParaRPr lang="en-US" sz="1850" dirty="0"/>
          </a:p>
        </p:txBody>
      </p:sp>
      <p:sp>
        <p:nvSpPr>
          <p:cNvPr id="90" name="text h4"/>
          <p:cNvSpPr txBox="1"/>
          <p:nvPr/>
        </p:nvSpPr>
        <p:spPr>
          <a:xfrm>
            <a:off x="12959209" y="10852606"/>
            <a:ext cx="3439820"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作業終了</a:t>
            </a:r>
            <a:endParaRPr lang="en-US" sz="1950" dirty="0"/>
          </a:p>
        </p:txBody>
      </p:sp>
      <p:sp>
        <p:nvSpPr>
          <p:cNvPr id="91" name="text i"/>
          <p:cNvSpPr txBox="1"/>
          <p:nvPr/>
        </p:nvSpPr>
        <p:spPr>
          <a:xfrm>
            <a:off x="12714536" y="10852606"/>
            <a:ext cx="526703"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e</a:t>
            </a:r>
            <a:endParaRPr lang="en-US" sz="1950" dirty="0"/>
          </a:p>
        </p:txBody>
      </p:sp>
      <p:sp>
        <p:nvSpPr>
          <p:cNvPr id="92" name="box 91"/>
          <p:cNvSpPr/>
          <p:nvPr/>
        </p:nvSpPr>
        <p:spPr>
          <a:xfrm>
            <a:off x="12714536" y="11226254"/>
            <a:ext cx="2890689" cy="2185839"/>
          </a:xfrm>
          <a:prstGeom prst="rect">
            <a:avLst/>
          </a:prstGeom>
          <a:solidFill>
            <a:srgbClr val="111111"/>
          </a:solidFill>
          <a:ln/>
        </p:spPr>
      </p:sp>
      <p:pic>
        <p:nvPicPr>
          <p:cNvPr id="93" name="22-felt.png" descr="D:\procon2026\poster\screens\22-felt.png">    </p:cNvPr>
          <p:cNvPicPr>
            <a:picLocks noChangeAspect="1"/>
          </p:cNvPicPr>
          <p:nvPr/>
        </p:nvPicPr>
        <p:blipFill>
          <a:blip r:embed="rId6"/>
          <a:stretch>
            <a:fillRect/>
          </a:stretch>
        </p:blipFill>
        <p:spPr>
          <a:xfrm>
            <a:off x="12750403" y="11262122"/>
            <a:ext cx="2818954" cy="2114104"/>
          </a:xfrm>
          <a:prstGeom prst="rect">
            <a:avLst/>
          </a:prstGeom>
        </p:spPr>
      </p:pic>
      <p:sp>
        <p:nvSpPr>
          <p:cNvPr id="94" name="text p"/>
          <p:cNvSpPr txBox="1"/>
          <p:nvPr/>
        </p:nvSpPr>
        <p:spPr>
          <a:xfrm>
            <a:off x="12714536" y="13453905"/>
            <a:ext cx="2933889" cy="648462"/>
          </a:xfrm>
          <a:prstGeom prst="rect">
            <a:avLst/>
          </a:prstGeom>
          <a:noFill/>
          <a:ln/>
        </p:spPr>
        <p:txBody>
          <a:bodyPr wrap="square" lIns="0" tIns="0" rIns="0" bIns="0" rtlCol="0" anchor="t"/>
          <a:lstStyle/>
          <a:p>
            <a:pPr algn="l" indent="0" marL="0">
              <a:lnSpc>
                <a:spcPts val="2553"/>
              </a:lnSpc>
              <a:buNone/>
            </a:pPr>
            <a:r>
              <a:rPr lang="ja-JP" altLang="en-US" sz="1850" dirty="0">
                <a:solidFill>
                  <a:srgbClr val="444444"/>
                </a:solidFill>
                <a:latin typeface="游ゴシック Medium" pitchFamily="34" charset="0"/>
                <a:ea typeface="游ゴシック Medium" pitchFamily="34" charset="-122"/>
                <a:cs typeface="游ゴシック Medium" pitchFamily="34" charset="-120"/>
              </a:rPr>
              <a:t>完了を記録し、体感難易度を回答。</a:t>
            </a:r>
            <a:endParaRPr lang="en-US" sz="1850" dirty="0"/>
          </a:p>
        </p:txBody>
      </p:sp>
      <p:sp>
        <p:nvSpPr>
          <p:cNvPr id="95" name="line 94"/>
          <p:cNvSpPr/>
          <p:nvPr/>
        </p:nvSpPr>
        <p:spPr>
          <a:xfrm>
            <a:off x="15753904" y="10861179"/>
            <a:ext cx="0" cy="3224808"/>
          </a:xfrm>
          <a:prstGeom prst="line">
            <a:avLst/>
          </a:prstGeom>
          <a:noFill/>
          <a:ln w="9525">
            <a:solidFill>
              <a:srgbClr val="999999"/>
            </a:solidFill>
            <a:prstDash val="solid"/>
          </a:ln>
        </p:spPr>
      </p:sp>
      <p:sp>
        <p:nvSpPr>
          <p:cNvPr id="96" name="text h4"/>
          <p:cNvSpPr txBox="1"/>
          <p:nvPr/>
        </p:nvSpPr>
        <p:spPr>
          <a:xfrm>
            <a:off x="15902583" y="10852606"/>
            <a:ext cx="6376988" cy="321945"/>
          </a:xfrm>
          <a:prstGeom prst="rect">
            <a:avLst/>
          </a:prstGeom>
          <a:noFill/>
          <a:ln/>
        </p:spPr>
        <p:txBody>
          <a:bodyPr wrap="none" lIns="0" tIns="0" rIns="0" bIns="0" rtlCol="0" anchor="t"/>
          <a:lstStyle/>
          <a:p>
            <a:pPr algn="l" indent="0" marL="0">
              <a:lnSpc>
                <a:spcPts val="2535"/>
              </a:lnSpc>
              <a:buNone/>
            </a:pPr>
            <a:r>
              <a:rPr lang="ja-JP" altLang="en-US" sz="1950" b="1" dirty="0">
                <a:solidFill>
                  <a:srgbClr val="222222"/>
                </a:solidFill>
                <a:latin typeface="游ゴシック" pitchFamily="34" charset="0"/>
                <a:ea typeface="游ゴシック" pitchFamily="34" charset="-122"/>
                <a:cs typeface="游ゴシック" pitchFamily="34" charset="-120"/>
              </a:rPr>
              <a:t>管理画面</a:t>
            </a:r>
            <a:endParaRPr lang="en-US" sz="1950" dirty="0"/>
          </a:p>
        </p:txBody>
      </p:sp>
      <p:sp>
        <p:nvSpPr>
          <p:cNvPr id="97" name="box 96"/>
          <p:cNvSpPr/>
          <p:nvPr/>
        </p:nvSpPr>
        <p:spPr>
          <a:xfrm>
            <a:off x="15907345" y="11231017"/>
            <a:ext cx="4895850" cy="1754535"/>
          </a:xfrm>
          <a:prstGeom prst="rect">
            <a:avLst/>
          </a:prstGeom>
          <a:ln w="9525">
            <a:solidFill>
              <a:srgbClr val="999999"/>
            </a:solidFill>
            <a:prstDash val="solid"/>
          </a:ln>
        </p:spPr>
      </p:sp>
      <p:pic>
        <p:nvPicPr>
          <p:cNvPr id="98" name="screen_dashboard.png" descr="D:\procon2026\poster\screen_dashboard.png">    </p:cNvPr>
          <p:cNvPicPr>
            <a:picLocks noChangeAspect="1"/>
          </p:cNvPicPr>
          <p:nvPr/>
        </p:nvPicPr>
        <p:blipFill>
          <a:blip r:embed="rId7"/>
          <a:stretch>
            <a:fillRect/>
          </a:stretch>
        </p:blipFill>
        <p:spPr>
          <a:xfrm>
            <a:off x="15912108" y="11235779"/>
            <a:ext cx="4886325" cy="1745010"/>
          </a:xfrm>
          <a:prstGeom prst="rect">
            <a:avLst/>
          </a:prstGeom>
        </p:spPr>
      </p:pic>
      <p:sp>
        <p:nvSpPr>
          <p:cNvPr id="99" name="text li"/>
          <p:cNvSpPr txBox="1"/>
          <p:nvPr/>
        </p:nvSpPr>
        <p:spPr>
          <a:xfrm>
            <a:off x="15902494" y="13041903"/>
            <a:ext cx="4948664" cy="675641"/>
          </a:xfrm>
          <a:prstGeom prst="rect">
            <a:avLst/>
          </a:prstGeom>
          <a:noFill/>
          <a:ln/>
        </p:spPr>
        <p:txBody>
          <a:bodyPr wrap="square" lIns="0" tIns="0" rIns="0" bIns="0" rtlCol="0" anchor="t"/>
          <a:lstStyle/>
          <a:p>
            <a:pPr algn="l" marL="289560" indent="-289560">
              <a:lnSpc>
                <a:spcPts val="2660"/>
              </a:lnSpc>
              <a:buSzPct val="100000"/>
              <a:buChar char="•"/>
            </a:pPr>
            <a:r>
              <a:rPr lang="ja-JP" altLang="en-US" sz="1900" dirty="0">
                <a:solidFill>
                  <a:srgbClr val="222222"/>
                </a:solidFill>
                <a:latin typeface="游ゴシック Medium" pitchFamily="34" charset="0"/>
                <a:ea typeface="游ゴシック Medium" pitchFamily="34" charset="-122"/>
                <a:cs typeface="游ゴシック Medium" pitchFamily="34" charset="-120"/>
              </a:rPr>
              <a:t>4 秒ごとに更新され、機材の状況が一目で分かる</a:t>
            </a:r>
            <a:endParaRPr lang="en-US" sz="1900" dirty="0"/>
          </a:p>
        </p:txBody>
      </p:sp>
      <p:sp>
        <p:nvSpPr>
          <p:cNvPr id="100" name="text li"/>
          <p:cNvSpPr txBox="1"/>
          <p:nvPr/>
        </p:nvSpPr>
        <p:spPr>
          <a:xfrm>
            <a:off x="15902494" y="13746073"/>
            <a:ext cx="4948664" cy="337820"/>
          </a:xfrm>
          <a:prstGeom prst="rect">
            <a:avLst/>
          </a:prstGeom>
          <a:noFill/>
          <a:ln/>
        </p:spPr>
        <p:txBody>
          <a:bodyPr wrap="square" lIns="0" tIns="0" rIns="0" bIns="0" rtlCol="0" anchor="t"/>
          <a:lstStyle/>
          <a:p>
            <a:pPr algn="l" marL="289560" indent="-289560">
              <a:lnSpc>
                <a:spcPts val="2660"/>
              </a:lnSpc>
              <a:buSzPct val="100000"/>
              <a:buChar char="•"/>
            </a:pPr>
            <a:r>
              <a:rPr lang="ja-JP" altLang="en-US" sz="1900" dirty="0">
                <a:solidFill>
                  <a:srgbClr val="222222"/>
                </a:solidFill>
                <a:latin typeface="游ゴシック Medium" pitchFamily="34" charset="0"/>
                <a:ea typeface="游ゴシック Medium" pitchFamily="34" charset="-122"/>
                <a:cs typeface="游ゴシック Medium" pitchFamily="34" charset="-120"/>
              </a:rPr>
              <a:t>割当は手動でも AI でも行える</a:t>
            </a:r>
            <a:endParaRPr lang="en-US" sz="1900" dirty="0"/>
          </a:p>
        </p:txBody>
      </p:sp>
      <p:sp>
        <p:nvSpPr>
          <p:cNvPr id="101" name="line 100"/>
          <p:cNvSpPr/>
          <p:nvPr/>
        </p:nvSpPr>
        <p:spPr>
          <a:xfrm>
            <a:off x="575965" y="14873883"/>
            <a:ext cx="12184559" cy="0"/>
          </a:xfrm>
          <a:prstGeom prst="line">
            <a:avLst/>
          </a:prstGeom>
          <a:noFill/>
          <a:ln w="9525">
            <a:solidFill>
              <a:srgbClr val="222222"/>
            </a:solidFill>
            <a:prstDash val="solid"/>
          </a:ln>
        </p:spPr>
      </p:sp>
      <p:sp>
        <p:nvSpPr>
          <p:cNvPr id="102" name="text h2"/>
          <p:cNvSpPr txBox="1"/>
          <p:nvPr/>
        </p:nvSpPr>
        <p:spPr>
          <a:xfrm>
            <a:off x="1023045" y="14326046"/>
            <a:ext cx="11780679"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ユースケースと得られる効果</a:t>
            </a:r>
            <a:endParaRPr lang="en-US" sz="3000" dirty="0"/>
          </a:p>
        </p:txBody>
      </p:sp>
      <p:sp>
        <p:nvSpPr>
          <p:cNvPr id="103" name="text span.n"/>
          <p:cNvSpPr txBox="1"/>
          <p:nvPr/>
        </p:nvSpPr>
        <p:spPr>
          <a:xfrm>
            <a:off x="575965" y="14326046"/>
            <a:ext cx="261680"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5</a:t>
            </a:r>
            <a:endParaRPr lang="en-US" sz="3000" dirty="0"/>
          </a:p>
        </p:txBody>
      </p:sp>
      <p:sp>
        <p:nvSpPr>
          <p:cNvPr id="104" name="text caption"/>
          <p:cNvSpPr txBox="1"/>
          <p:nvPr/>
        </p:nvSpPr>
        <p:spPr>
          <a:xfrm>
            <a:off x="575965" y="14964727"/>
            <a:ext cx="12227759" cy="350520"/>
          </a:xfrm>
          <a:prstGeom prst="rect">
            <a:avLst/>
          </a:prstGeom>
          <a:noFill/>
          <a:ln/>
        </p:spPr>
        <p:txBody>
          <a:bodyPr wrap="square" lIns="0" tIns="0" rIns="0" bIns="0" rtlCol="0" anchor="t"/>
          <a:lstStyle/>
          <a:p>
            <a:pPr algn="l" indent="0" marL="0">
              <a:lnSpc>
                <a:spcPts val="2760"/>
              </a:lnSpc>
              <a:buNone/>
            </a:pPr>
            <a:r>
              <a:rPr lang="ja-JP" altLang="en-US" sz="2000" b="1" dirty="0">
                <a:solidFill>
                  <a:srgbClr val="222222"/>
                </a:solidFill>
                <a:latin typeface="游ゴシック" pitchFamily="34" charset="0"/>
                <a:ea typeface="游ゴシック" pitchFamily="34" charset="-122"/>
                <a:cs typeface="游ゴシック" pitchFamily="34" charset="-120"/>
              </a:rPr>
              <a:t>表 2　現場での使われ方と、1 章の課題に対する効果</a:t>
            </a:r>
            <a:endParaRPr lang="en-US" sz="2000" dirty="0"/>
          </a:p>
        </p:txBody>
      </p:sp>
      <p:graphicFrame>
        <p:nvGraphicFramePr>
          <p:cNvPr id="3" name="table 104"/>
          <p:cNvGraphicFramePr>
            <a:graphicFrameLocks noGrp="1"/>
          </p:cNvGraphicFramePr>
          <p:nvPr>
            <p:extLst>
              <p:ext uri="{D42A27DB-BD31-4B8C-83A1-F6EECF244321}">
                <p14:modId xmlns:p14="http://schemas.microsoft.com/office/powerpoint/2010/main" val="1579011935"/>
              </p:ext>
            </p:extLst>
          </p:nvPr>
        </p:nvGraphicFramePr>
        <p:xfrm>
          <a:off x="576263" y="15359658"/>
          <a:ext cx="12184380" cy="914400"/>
        </p:xfrm>
        <a:graphic>
          <a:graphicData uri="http://schemas.openxmlformats.org/drawingml/2006/table">
            <a:tbl>
              <a:tblPr/>
              <a:tblGrid>
                <a:gridCol w="363855"/>
                <a:gridCol w="2616518"/>
                <a:gridCol w="4601528"/>
                <a:gridCol w="4602480"/>
              </a:tblGrid>
              <a:tr h="440382">
                <a:tc>
                  <a:txBody>
                    <a:bodyPr/>
                    <a:lstStyle/>
                    <a:p>
                      <a:pPr algn="l" indent="0" marL="0">
                        <a:lnSpc>
                          <a:spcPts val="2829"/>
                        </a:lnSpc>
                        <a:buNone/>
                      </a:pP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場面</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使い方</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効果</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r>
              <a:tr h="440382">
                <a:tc rowSpan="5">
                  <a:txBody>
                    <a:bodyPr/>
                    <a:lstStyle/>
                    <a:p>
                      <a:pPr algn="ctr" indent="0" marL="0">
                        <a:lnSpc>
                          <a:spcPts val="2829"/>
                        </a:lnSpc>
                        <a:buNone/>
                      </a:pPr>
                      <a:r>
                        <a:rPr lang="ja-JP" altLang="en-US" sz="2050" b="1" spc="400" kern="0" dirty="0">
                          <a:solidFill>
                            <a:srgbClr val="222222"/>
                          </a:solidFill>
                          <a:latin typeface="游ゴシック" pitchFamily="34" charset="0"/>
                          <a:ea typeface="游ゴシック" pitchFamily="34" charset="-122"/>
                          <a:cs typeface="游ゴシック" pitchFamily="34" charset="-120"/>
                        </a:rPr>
                        <a:t>作業者</a:t>
                      </a:r>
                      <a:endParaRPr lang="en-US" sz="1200" dirty="0">
                        <a:latin typeface="游ゴシック" charset="0"/>
                        <a:ea typeface="游ゴシック" charset="0"/>
                        <a:cs typeface="游ゴシック" charset="0"/>
                      </a:endParaRPr>
                    </a:p>
                  </a:txBody>
                  <a:tcPr marL="0" marR="0" marT="72000" marB="72000" anchor="ctr" vert="eaVe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機材を使う</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空いている機材でタッチ</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ゴースト予約が起きない</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vMerge="1">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仕事を探す</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タッチで重要な順に出る</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探す・尋ねる手間が減る</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vMerge="1">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至急の仕事</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他の機材へ誘導される</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重要なタスクを忘れない</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vMerge="1">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作業を終える</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再タッチで完了を記録</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報告が要らない</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vMerge="1">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仕事に気づく</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ボタンを押して話す</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その場でタスクにできる</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584299">
                <a:tc rowSpan="2">
                  <a:txBody>
                    <a:bodyPr/>
                    <a:lstStyle/>
                    <a:p>
                      <a:pPr algn="ctr" indent="0" marL="0">
                        <a:lnSpc>
                          <a:spcPts val="2829"/>
                        </a:lnSpc>
                        <a:buNone/>
                      </a:pPr>
                      <a:r>
                        <a:rPr lang="ja-JP" altLang="en-US" sz="2050" b="1" spc="400" kern="0" dirty="0">
                          <a:solidFill>
                            <a:srgbClr val="222222"/>
                          </a:solidFill>
                          <a:latin typeface="游ゴシック" pitchFamily="34" charset="0"/>
                          <a:ea typeface="游ゴシック" pitchFamily="34" charset="-122"/>
                          <a:cs typeface="游ゴシック" pitchFamily="34" charset="-120"/>
                        </a:rPr>
                        <a:t>管理者</a:t>
                      </a:r>
                      <a:endParaRPr lang="en-US" sz="1200" dirty="0">
                        <a:latin typeface="游ゴシック" charset="0"/>
                        <a:ea typeface="游ゴシック" charset="0"/>
                        <a:cs typeface="游ゴシック" charset="0"/>
                      </a:endParaRPr>
                    </a:p>
                  </a:txBody>
                  <a:tcPr marL="0" marR="0" marT="72000" marB="72000" anchor="ctr" vert="eaVe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現場の確認</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管理画面で状況を見る</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見に行かなくてよい</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584299">
                <a:tc vMerge="1">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割り振り</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手動か AI で決める</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偏りを防ぐ</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r>
            </a:tbl>
          </a:graphicData>
        </a:graphic>
      </p:graphicFrame>
      <p:sp>
        <p:nvSpPr>
          <p:cNvPr id="106" name="line 105"/>
          <p:cNvSpPr/>
          <p:nvPr/>
        </p:nvSpPr>
        <p:spPr>
          <a:xfrm>
            <a:off x="13192423" y="14873883"/>
            <a:ext cx="7615535" cy="0"/>
          </a:xfrm>
          <a:prstGeom prst="line">
            <a:avLst/>
          </a:prstGeom>
          <a:noFill/>
          <a:ln w="9525">
            <a:solidFill>
              <a:srgbClr val="222222"/>
            </a:solidFill>
            <a:prstDash val="solid"/>
          </a:ln>
        </p:spPr>
      </p:sp>
      <p:sp>
        <p:nvSpPr>
          <p:cNvPr id="107" name="text h2"/>
          <p:cNvSpPr txBox="1"/>
          <p:nvPr/>
        </p:nvSpPr>
        <p:spPr>
          <a:xfrm>
            <a:off x="13639502" y="14326046"/>
            <a:ext cx="7211655"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動作検証</a:t>
            </a:r>
            <a:endParaRPr lang="en-US" sz="3000" dirty="0"/>
          </a:p>
        </p:txBody>
      </p:sp>
      <p:sp>
        <p:nvSpPr>
          <p:cNvPr id="108" name="text span.n"/>
          <p:cNvSpPr txBox="1"/>
          <p:nvPr/>
        </p:nvSpPr>
        <p:spPr>
          <a:xfrm>
            <a:off x="13192423" y="14326046"/>
            <a:ext cx="261680"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6</a:t>
            </a:r>
            <a:endParaRPr lang="en-US" sz="3000" dirty="0"/>
          </a:p>
        </p:txBody>
      </p:sp>
      <p:sp>
        <p:nvSpPr>
          <p:cNvPr id="109" name="text caption"/>
          <p:cNvSpPr txBox="1"/>
          <p:nvPr/>
        </p:nvSpPr>
        <p:spPr>
          <a:xfrm>
            <a:off x="13192423" y="14964727"/>
            <a:ext cx="7658735" cy="350520"/>
          </a:xfrm>
          <a:prstGeom prst="rect">
            <a:avLst/>
          </a:prstGeom>
          <a:noFill/>
          <a:ln/>
        </p:spPr>
        <p:txBody>
          <a:bodyPr wrap="square" lIns="0" tIns="0" rIns="0" bIns="0" rtlCol="0" anchor="t"/>
          <a:lstStyle/>
          <a:p>
            <a:pPr algn="l" indent="0" marL="0">
              <a:lnSpc>
                <a:spcPts val="2760"/>
              </a:lnSpc>
              <a:buNone/>
            </a:pPr>
            <a:r>
              <a:rPr lang="ja-JP" altLang="en-US" sz="2000" b="1" dirty="0">
                <a:solidFill>
                  <a:srgbClr val="222222"/>
                </a:solidFill>
                <a:latin typeface="游ゴシック" pitchFamily="34" charset="0"/>
                <a:ea typeface="游ゴシック" pitchFamily="34" charset="-122"/>
                <a:cs typeface="游ゴシック" pitchFamily="34" charset="-120"/>
              </a:rPr>
              <a:t>表 3　自動テストによる動作確認</a:t>
            </a:r>
            <a:endParaRPr lang="en-US" sz="2000" dirty="0"/>
          </a:p>
        </p:txBody>
      </p:sp>
      <p:graphicFrame>
        <p:nvGraphicFramePr>
          <p:cNvPr id="4" name="table 109"/>
          <p:cNvGraphicFramePr>
            <a:graphicFrameLocks noGrp="1"/>
          </p:cNvGraphicFramePr>
          <p:nvPr>
            <p:extLst>
              <p:ext uri="{D42A27DB-BD31-4B8C-83A1-F6EECF244321}">
                <p14:modId xmlns:p14="http://schemas.microsoft.com/office/powerpoint/2010/main" val="1579011935"/>
              </p:ext>
            </p:extLst>
          </p:nvPr>
        </p:nvGraphicFramePr>
        <p:xfrm>
          <a:off x="13192125" y="15359658"/>
          <a:ext cx="7616190" cy="914400"/>
        </p:xfrm>
        <a:graphic>
          <a:graphicData uri="http://schemas.openxmlformats.org/drawingml/2006/table">
            <a:tbl>
              <a:tblPr/>
              <a:tblGrid>
                <a:gridCol w="3371850"/>
                <a:gridCol w="4244340"/>
              </a:tblGrid>
              <a:tr h="440382">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確認した内容</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結果</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r>
              <a:tr h="440382">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他機材への誘導</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移動元・先に表示</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使用中の機材</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メニュー前に拒否</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無資格の作業者</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候補に出さない</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タッチの連打</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処理は 1 回のみ</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全体（11 本）</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179 項目すべて合格</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r>
            </a:tbl>
          </a:graphicData>
        </a:graphic>
      </p:graphicFrame>
      <p:sp>
        <p:nvSpPr>
          <p:cNvPr id="111" name="text p.cap"/>
          <p:cNvSpPr txBox="1"/>
          <p:nvPr/>
        </p:nvSpPr>
        <p:spPr>
          <a:xfrm>
            <a:off x="13192423" y="18044160"/>
            <a:ext cx="7658735" cy="325755"/>
          </a:xfrm>
          <a:prstGeom prst="rect">
            <a:avLst/>
          </a:prstGeom>
          <a:noFill/>
          <a:ln/>
        </p:spPr>
        <p:txBody>
          <a:bodyPr wrap="square" lIns="0" tIns="0" rIns="0" bIns="0" rtlCol="0" anchor="t"/>
          <a:lstStyle/>
          <a:p>
            <a:pPr algn="l" indent="0" marL="0">
              <a:lnSpc>
                <a:spcPts val="2565"/>
              </a:lnSpc>
              <a:buNone/>
            </a:pPr>
            <a:r>
              <a:rPr lang="ja-JP" altLang="en-US" sz="1900" dirty="0">
                <a:solidFill>
                  <a:srgbClr val="555555"/>
                </a:solidFill>
                <a:latin typeface="游ゴシック Medium" pitchFamily="34" charset="0"/>
                <a:ea typeface="游ゴシック Medium" pitchFamily="34" charset="-122"/>
                <a:cs typeface="游ゴシック Medium" pitchFamily="34" charset="-120"/>
              </a:rPr>
              <a:t>一時 DB を使い、実際のコードのまま検証した。</a:t>
            </a:r>
            <a:endParaRPr lang="en-US" sz="1900" dirty="0"/>
          </a:p>
        </p:txBody>
      </p:sp>
      <p:sp>
        <p:nvSpPr>
          <p:cNvPr id="112" name="line 111"/>
          <p:cNvSpPr/>
          <p:nvPr/>
        </p:nvSpPr>
        <p:spPr>
          <a:xfrm>
            <a:off x="575965" y="19941629"/>
            <a:ext cx="20231993" cy="0"/>
          </a:xfrm>
          <a:prstGeom prst="line">
            <a:avLst/>
          </a:prstGeom>
          <a:noFill/>
          <a:ln w="9525">
            <a:solidFill>
              <a:srgbClr val="222222"/>
            </a:solidFill>
            <a:prstDash val="solid"/>
          </a:ln>
        </p:spPr>
      </p:sp>
      <p:sp>
        <p:nvSpPr>
          <p:cNvPr id="113" name="text h2"/>
          <p:cNvSpPr txBox="1"/>
          <p:nvPr/>
        </p:nvSpPr>
        <p:spPr>
          <a:xfrm>
            <a:off x="1023045" y="19393793"/>
            <a:ext cx="19828113"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今後の研究：登録データから語彙を組み立てる音声タスク登録</a:t>
            </a:r>
            <a:endParaRPr lang="en-US" sz="3000" dirty="0"/>
          </a:p>
        </p:txBody>
      </p:sp>
      <p:sp>
        <p:nvSpPr>
          <p:cNvPr id="114" name="text span.n"/>
          <p:cNvSpPr txBox="1"/>
          <p:nvPr/>
        </p:nvSpPr>
        <p:spPr>
          <a:xfrm>
            <a:off x="575965" y="19393793"/>
            <a:ext cx="261680" cy="514350"/>
          </a:xfrm>
          <a:prstGeom prst="rect">
            <a:avLst/>
          </a:prstGeom>
          <a:noFill/>
          <a:ln/>
        </p:spPr>
        <p:txBody>
          <a:bodyPr wrap="square" lIns="0" tIns="0" rIns="0" bIns="0" rtlCol="0" anchor="t"/>
          <a:lstStyle/>
          <a:p>
            <a:pPr algn="l" indent="0" marL="0">
              <a:lnSpc>
                <a:spcPts val="4050"/>
              </a:lnSpc>
              <a:buNone/>
            </a:pPr>
            <a:r>
              <a:rPr lang="ja-JP" altLang="en-US" sz="3000" b="1" dirty="0">
                <a:solidFill>
                  <a:srgbClr val="222222"/>
                </a:solidFill>
                <a:latin typeface="游ゴシック" pitchFamily="34" charset="0"/>
                <a:ea typeface="游ゴシック" pitchFamily="34" charset="-122"/>
                <a:cs typeface="游ゴシック" pitchFamily="34" charset="-120"/>
              </a:rPr>
              <a:t>7</a:t>
            </a:r>
            <a:endParaRPr lang="en-US" sz="3000" dirty="0"/>
          </a:p>
        </p:txBody>
      </p:sp>
      <p:sp>
        <p:nvSpPr>
          <p:cNvPr id="115" name="text h3"/>
          <p:cNvSpPr txBox="1"/>
          <p:nvPr/>
        </p:nvSpPr>
        <p:spPr>
          <a:xfrm>
            <a:off x="575965" y="20034855"/>
            <a:ext cx="7836138" cy="402908"/>
          </a:xfrm>
          <a:prstGeom prst="rect">
            <a:avLst/>
          </a:prstGeom>
          <a:noFill/>
          <a:ln/>
        </p:spPr>
        <p:txBody>
          <a:bodyPr wrap="square" lIns="0" tIns="0" rIns="0" bIns="0" rtlCol="0" anchor="t"/>
          <a:lstStyle/>
          <a:p>
            <a:pPr algn="l" indent="0" marL="0">
              <a:lnSpc>
                <a:spcPts val="3172"/>
              </a:lnSpc>
              <a:buNone/>
            </a:pPr>
            <a:r>
              <a:rPr lang="ja-JP" altLang="en-US" sz="2350" b="1" dirty="0">
                <a:solidFill>
                  <a:srgbClr val="222222"/>
                </a:solidFill>
                <a:latin typeface="游ゴシック" pitchFamily="34" charset="0"/>
                <a:ea typeface="游ゴシック" pitchFamily="34" charset="-122"/>
                <a:cs typeface="游ゴシック" pitchFamily="34" charset="-120"/>
              </a:rPr>
              <a:t>7.1　課題：現場の専門語が崩れる</a:t>
            </a:r>
            <a:endParaRPr lang="en-US" sz="2350" dirty="0"/>
          </a:p>
        </p:txBody>
      </p:sp>
      <p:sp>
        <p:nvSpPr>
          <p:cNvPr id="116" name="text p.sm"/>
          <p:cNvSpPr txBox="1"/>
          <p:nvPr/>
        </p:nvSpPr>
        <p:spPr>
          <a:xfrm>
            <a:off x="575965" y="20479157"/>
            <a:ext cx="7836138" cy="377507"/>
          </a:xfrm>
          <a:prstGeom prst="rect">
            <a:avLst/>
          </a:prstGeom>
          <a:noFill/>
          <a:ln/>
        </p:spPr>
        <p:txBody>
          <a:bodyPr wrap="square" lIns="0" tIns="0" rIns="0" bIns="0" rtlCol="0" anchor="t"/>
          <a:lstStyle/>
          <a:p>
            <a:pPr algn="l" indent="0" marL="0">
              <a:lnSpc>
                <a:spcPts val="2972"/>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Whisper には現場の語彙をヒントとして与えている。</a:t>
            </a:r>
            <a:endParaRPr lang="en-US" sz="2050" dirty="0"/>
          </a:p>
        </p:txBody>
      </p:sp>
      <p:sp>
        <p:nvSpPr>
          <p:cNvPr id="117" name="text caption"/>
          <p:cNvSpPr txBox="1"/>
          <p:nvPr/>
        </p:nvSpPr>
        <p:spPr>
          <a:xfrm>
            <a:off x="575965" y="20909667"/>
            <a:ext cx="7836138" cy="350520"/>
          </a:xfrm>
          <a:prstGeom prst="rect">
            <a:avLst/>
          </a:prstGeom>
          <a:noFill/>
          <a:ln/>
        </p:spPr>
        <p:txBody>
          <a:bodyPr wrap="square" lIns="0" tIns="0" rIns="0" bIns="0" rtlCol="0" anchor="t"/>
          <a:lstStyle/>
          <a:p>
            <a:pPr algn="l" indent="0" marL="0">
              <a:lnSpc>
                <a:spcPts val="2760"/>
              </a:lnSpc>
              <a:buNone/>
            </a:pPr>
            <a:r>
              <a:rPr lang="ja-JP" altLang="en-US" sz="2000" b="1" dirty="0">
                <a:solidFill>
                  <a:srgbClr val="222222"/>
                </a:solidFill>
                <a:latin typeface="游ゴシック" pitchFamily="34" charset="0"/>
                <a:ea typeface="游ゴシック" pitchFamily="34" charset="-122"/>
                <a:cs typeface="游ゴシック" pitchFamily="34" charset="-120"/>
              </a:rPr>
              <a:t>表 4　語彙ヒントの有無（実機マイク、同一録音、抜粋）</a:t>
            </a:r>
            <a:endParaRPr lang="en-US" sz="2000" dirty="0"/>
          </a:p>
        </p:txBody>
      </p:sp>
      <p:graphicFrame>
        <p:nvGraphicFramePr>
          <p:cNvPr id="5" name="table 117"/>
          <p:cNvGraphicFramePr>
            <a:graphicFrameLocks noGrp="1"/>
          </p:cNvGraphicFramePr>
          <p:nvPr>
            <p:extLst>
              <p:ext uri="{D42A27DB-BD31-4B8C-83A1-F6EECF244321}">
                <p14:modId xmlns:p14="http://schemas.microsoft.com/office/powerpoint/2010/main" val="1579011935"/>
              </p:ext>
            </p:extLst>
          </p:nvPr>
        </p:nvGraphicFramePr>
        <p:xfrm>
          <a:off x="576263" y="21304597"/>
          <a:ext cx="7792403" cy="914400"/>
        </p:xfrm>
        <a:graphic>
          <a:graphicData uri="http://schemas.openxmlformats.org/drawingml/2006/table">
            <a:tbl>
              <a:tblPr/>
              <a:tblGrid>
                <a:gridCol w="4090035"/>
                <a:gridCol w="3702368"/>
              </a:tblGrid>
              <a:tr h="440382">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ヒントあり</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ヒントなし</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r>
              <a:tr h="440382">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旋盤の切粉清掃、至急</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旋盤の</a:t>
                      </a:r>
                      <a:pPr algn="l" indent="0" marL="0">
                        <a:lnSpc>
                          <a:spcPts val="2829"/>
                        </a:lnSpc>
                        <a:buNone/>
                      </a:pPr>
                      <a:r>
                        <a:rPr lang="ja-JP" altLang="en-US" sz="2050" u="sng" dirty="0">
                          <a:solidFill>
                            <a:srgbClr val="B3261E"/>
                          </a:solidFill>
                          <a:uFill>
                            <a:solidFill>
                              <a:srgbClr val="B3261E"/>
                            </a:solidFill>
                          </a:uFill>
                          <a:latin typeface="游ゴシック Medium" pitchFamily="34" charset="0"/>
                          <a:ea typeface="游ゴシック Medium" pitchFamily="34" charset="-122"/>
                          <a:cs typeface="游ゴシック Medium" pitchFamily="34" charset="-120"/>
                        </a:rPr>
                        <a:t>接吻</a:t>
                      </a:r>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清掃</a:t>
                      </a:r>
                      <a:pPr algn="l" indent="0" marL="0">
                        <a:lnSpc>
                          <a:spcPts val="2829"/>
                        </a:lnSpc>
                        <a:buNone/>
                      </a:pPr>
                      <a:r>
                        <a:rPr lang="ja-JP" altLang="en-US" sz="2050" u="sng" dirty="0">
                          <a:solidFill>
                            <a:srgbClr val="B3261E"/>
                          </a:solidFill>
                          <a:uFill>
                            <a:solidFill>
                              <a:srgbClr val="B3261E"/>
                            </a:solidFill>
                          </a:uFill>
                          <a:latin typeface="游ゴシック Medium" pitchFamily="34" charset="0"/>
                          <a:ea typeface="游ゴシック Medium" pitchFamily="34" charset="-122"/>
                          <a:cs typeface="游ゴシック Medium" pitchFamily="34" charset="-120"/>
                        </a:rPr>
                        <a:t>支給</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治具Bの芯出し</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u="sng" dirty="0">
                          <a:solidFill>
                            <a:srgbClr val="B3261E"/>
                          </a:solidFill>
                          <a:uFill>
                            <a:solidFill>
                              <a:srgbClr val="B3261E"/>
                            </a:solidFill>
                          </a:uFill>
                          <a:latin typeface="游ゴシック Medium" pitchFamily="34" charset="0"/>
                          <a:ea typeface="游ゴシック Medium" pitchFamily="34" charset="-122"/>
                          <a:cs typeface="游ゴシック Medium" pitchFamily="34" charset="-120"/>
                        </a:rPr>
                        <a:t>チグ</a:t>
                      </a:r>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Bの</a:t>
                      </a:r>
                      <a:pPr algn="l" indent="0" marL="0">
                        <a:lnSpc>
                          <a:spcPts val="2829"/>
                        </a:lnSpc>
                        <a:buNone/>
                      </a:pPr>
                      <a:r>
                        <a:rPr lang="ja-JP" altLang="en-US" sz="2050" u="sng" dirty="0">
                          <a:solidFill>
                            <a:srgbClr val="B3261E"/>
                          </a:solidFill>
                          <a:uFill>
                            <a:solidFill>
                              <a:srgbClr val="B3261E"/>
                            </a:solidFill>
                          </a:uFill>
                          <a:latin typeface="游ゴシック Medium" pitchFamily="34" charset="0"/>
                          <a:ea typeface="游ゴシック Medium" pitchFamily="34" charset="-122"/>
                          <a:cs typeface="游ゴシック Medium" pitchFamily="34" charset="-120"/>
                        </a:rPr>
                        <a:t>新出し</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振れが出ています。</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u="sng" dirty="0">
                          <a:solidFill>
                            <a:srgbClr val="B3261E"/>
                          </a:solidFill>
                          <a:uFill>
                            <a:solidFill>
                              <a:srgbClr val="B3261E"/>
                            </a:solidFill>
                          </a:uFill>
                          <a:latin typeface="游ゴシック Medium" pitchFamily="34" charset="0"/>
                          <a:ea typeface="游ゴシック Medium" pitchFamily="34" charset="-122"/>
                          <a:cs typeface="游ゴシック Medium" pitchFamily="34" charset="-120"/>
                        </a:rPr>
                        <a:t>フレ</a:t>
                      </a:r>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が出ています</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r>
            </a:tbl>
          </a:graphicData>
        </a:graphic>
      </p:graphicFrame>
      <p:sp>
        <p:nvSpPr>
          <p:cNvPr id="119" name="text p.sm"/>
          <p:cNvSpPr txBox="1"/>
          <p:nvPr/>
        </p:nvSpPr>
        <p:spPr>
          <a:xfrm>
            <a:off x="575965" y="23157726"/>
            <a:ext cx="7836138" cy="755014"/>
          </a:xfrm>
          <a:prstGeom prst="rect">
            <a:avLst/>
          </a:prstGeom>
          <a:noFill/>
          <a:ln/>
        </p:spPr>
        <p:txBody>
          <a:bodyPr wrap="square" lIns="0" tIns="0" rIns="0" bIns="0" rtlCol="0" anchor="t"/>
          <a:lstStyle/>
          <a:p>
            <a:pPr algn="l" indent="0" marL="0">
              <a:lnSpc>
                <a:spcPts val="2972"/>
              </a:lnSpc>
              <a:buNone/>
            </a:pPr>
            <a:r>
              <a:rPr lang="ja-JP" altLang="en-US" sz="2050" b="1" dirty="0">
                <a:solidFill>
                  <a:srgbClr val="222222"/>
                </a:solidFill>
                <a:latin typeface="游ゴシック" pitchFamily="34" charset="0"/>
                <a:ea typeface="游ゴシック" pitchFamily="34" charset="-122"/>
                <a:cs typeface="游ゴシック" pitchFamily="34" charset="-120"/>
              </a:rPr>
              <a:t>ヒントは 224 トークンまで</a:t>
            </a:r>
            <a:pPr algn="l" indent="0" marL="0">
              <a:lnSpc>
                <a:spcPts val="2972"/>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で、既に 116 を使っている。全語彙は入らず、人手での保守も難しい。</a:t>
            </a:r>
            <a:endParaRPr lang="en-US" sz="2050" dirty="0"/>
          </a:p>
        </p:txBody>
      </p:sp>
      <p:sp>
        <p:nvSpPr>
          <p:cNvPr id="120" name="box 119"/>
          <p:cNvSpPr/>
          <p:nvPr/>
        </p:nvSpPr>
        <p:spPr>
          <a:xfrm>
            <a:off x="580727" y="23974276"/>
            <a:ext cx="7783413" cy="278457"/>
          </a:xfrm>
          <a:prstGeom prst="rect">
            <a:avLst/>
          </a:prstGeom>
          <a:ln w="9525">
            <a:solidFill>
              <a:srgbClr val="222222"/>
            </a:solidFill>
            <a:prstDash val="solid"/>
          </a:ln>
        </p:spPr>
      </p:sp>
      <p:sp>
        <p:nvSpPr>
          <p:cNvPr id="121" name="box 120"/>
          <p:cNvSpPr/>
          <p:nvPr/>
        </p:nvSpPr>
        <p:spPr>
          <a:xfrm>
            <a:off x="585490" y="23979039"/>
            <a:ext cx="4026843" cy="268932"/>
          </a:xfrm>
          <a:prstGeom prst="rect">
            <a:avLst/>
          </a:prstGeom>
          <a:solidFill>
            <a:srgbClr val="555555"/>
          </a:solidFill>
          <a:ln/>
        </p:spPr>
      </p:sp>
      <p:sp>
        <p:nvSpPr>
          <p:cNvPr id="122" name="text div.used"/>
          <p:cNvSpPr txBox="1"/>
          <p:nvPr/>
        </p:nvSpPr>
        <p:spPr>
          <a:xfrm>
            <a:off x="675490" y="23937367"/>
            <a:ext cx="3980043" cy="342900"/>
          </a:xfrm>
          <a:prstGeom prst="rect">
            <a:avLst/>
          </a:prstGeom>
          <a:noFill/>
          <a:ln/>
        </p:spPr>
        <p:txBody>
          <a:bodyPr wrap="square" lIns="0" tIns="0" rIns="0" bIns="0" rtlCol="0" anchor="t"/>
          <a:lstStyle/>
          <a:p>
            <a:pPr algn="l" indent="0" marL="0">
              <a:lnSpc>
                <a:spcPts val="2700"/>
              </a:lnSpc>
              <a:buNone/>
            </a:pPr>
            <a:r>
              <a:rPr lang="ja-JP" altLang="en-US" sz="1800" b="1" dirty="0">
                <a:solidFill>
                  <a:srgbClr val="FFFFFF"/>
                </a:solidFill>
                <a:latin typeface="游ゴシック" pitchFamily="34" charset="0"/>
                <a:ea typeface="游ゴシック" pitchFamily="34" charset="-122"/>
                <a:cs typeface="游ゴシック" pitchFamily="34" charset="-120"/>
              </a:rPr>
              <a:t>使用中 116</a:t>
            </a:r>
            <a:endParaRPr lang="en-US" sz="1800" dirty="0"/>
          </a:p>
        </p:txBody>
      </p:sp>
      <p:sp>
        <p:nvSpPr>
          <p:cNvPr id="123" name="text div.rest"/>
          <p:cNvSpPr txBox="1"/>
          <p:nvPr/>
        </p:nvSpPr>
        <p:spPr>
          <a:xfrm>
            <a:off x="7353895" y="23937367"/>
            <a:ext cx="958683" cy="342900"/>
          </a:xfrm>
          <a:prstGeom prst="rect">
            <a:avLst/>
          </a:prstGeom>
          <a:noFill/>
          <a:ln/>
        </p:spPr>
        <p:txBody>
          <a:bodyPr wrap="square" lIns="0" tIns="0" rIns="0" bIns="0" rtlCol="0" anchor="t"/>
          <a:lstStyle/>
          <a:p>
            <a:pPr algn="l" indent="0" marL="0">
              <a:lnSpc>
                <a:spcPts val="2700"/>
              </a:lnSpc>
              <a:buNone/>
            </a:pPr>
            <a:r>
              <a:rPr lang="ja-JP" altLang="en-US" sz="1800" b="1" dirty="0">
                <a:solidFill>
                  <a:srgbClr val="222222"/>
                </a:solidFill>
                <a:latin typeface="游ゴシック" pitchFamily="34" charset="0"/>
                <a:ea typeface="游ゴシック" pitchFamily="34" charset="-122"/>
                <a:cs typeface="游ゴシック" pitchFamily="34" charset="-120"/>
              </a:rPr>
              <a:t>残り 108</a:t>
            </a:r>
            <a:endParaRPr lang="en-US" sz="1800" dirty="0"/>
          </a:p>
        </p:txBody>
      </p:sp>
      <p:sp>
        <p:nvSpPr>
          <p:cNvPr id="124" name="text h3"/>
          <p:cNvSpPr txBox="1"/>
          <p:nvPr/>
        </p:nvSpPr>
        <p:spPr>
          <a:xfrm>
            <a:off x="8728770" y="20034855"/>
            <a:ext cx="12122388" cy="402908"/>
          </a:xfrm>
          <a:prstGeom prst="rect">
            <a:avLst/>
          </a:prstGeom>
          <a:noFill/>
          <a:ln/>
        </p:spPr>
        <p:txBody>
          <a:bodyPr wrap="square" lIns="0" tIns="0" rIns="0" bIns="0" rtlCol="0" anchor="t"/>
          <a:lstStyle/>
          <a:p>
            <a:pPr algn="l" indent="0" marL="0">
              <a:lnSpc>
                <a:spcPts val="3172"/>
              </a:lnSpc>
              <a:buNone/>
            </a:pPr>
            <a:r>
              <a:rPr lang="ja-JP" altLang="en-US" sz="2350" b="1" dirty="0">
                <a:solidFill>
                  <a:srgbClr val="222222"/>
                </a:solidFill>
                <a:latin typeface="游ゴシック" pitchFamily="34" charset="0"/>
                <a:ea typeface="游ゴシック" pitchFamily="34" charset="-122"/>
                <a:cs typeface="游ゴシック" pitchFamily="34" charset="-120"/>
              </a:rPr>
              <a:t>7.2　現状：文字起こしからタスクを登録</a:t>
            </a:r>
            <a:endParaRPr lang="en-US" sz="2350" dirty="0"/>
          </a:p>
        </p:txBody>
      </p:sp>
      <p:sp>
        <p:nvSpPr>
          <p:cNvPr id="125" name="text caption"/>
          <p:cNvSpPr txBox="1"/>
          <p:nvPr/>
        </p:nvSpPr>
        <p:spPr>
          <a:xfrm>
            <a:off x="8728770" y="20478363"/>
            <a:ext cx="12122388" cy="350520"/>
          </a:xfrm>
          <a:prstGeom prst="rect">
            <a:avLst/>
          </a:prstGeom>
          <a:noFill/>
          <a:ln/>
        </p:spPr>
        <p:txBody>
          <a:bodyPr wrap="square" lIns="0" tIns="0" rIns="0" bIns="0" rtlCol="0" anchor="t"/>
          <a:lstStyle/>
          <a:p>
            <a:pPr algn="l" indent="0" marL="0">
              <a:lnSpc>
                <a:spcPts val="2760"/>
              </a:lnSpc>
              <a:buNone/>
            </a:pPr>
            <a:r>
              <a:rPr lang="ja-JP" altLang="en-US" sz="2000" b="1" dirty="0">
                <a:solidFill>
                  <a:srgbClr val="222222"/>
                </a:solidFill>
                <a:latin typeface="游ゴシック" pitchFamily="34" charset="0"/>
                <a:ea typeface="游ゴシック" pitchFamily="34" charset="-122"/>
                <a:cs typeface="游ゴシック" pitchFamily="34" charset="-120"/>
              </a:rPr>
              <a:t>表 5　作業指示の文から登録されたタスク（gemma3:4b）</a:t>
            </a:r>
            <a:endParaRPr lang="en-US" sz="2000" dirty="0"/>
          </a:p>
        </p:txBody>
      </p:sp>
      <p:graphicFrame>
        <p:nvGraphicFramePr>
          <p:cNvPr id="6" name="table 125"/>
          <p:cNvGraphicFramePr>
            <a:graphicFrameLocks noGrp="1"/>
          </p:cNvGraphicFramePr>
          <p:nvPr>
            <p:extLst>
              <p:ext uri="{D42A27DB-BD31-4B8C-83A1-F6EECF244321}">
                <p14:modId xmlns:p14="http://schemas.microsoft.com/office/powerpoint/2010/main" val="1579011935"/>
              </p:ext>
            </p:extLst>
          </p:nvPr>
        </p:nvGraphicFramePr>
        <p:xfrm>
          <a:off x="8728710" y="20873293"/>
          <a:ext cx="12079605" cy="914400"/>
        </p:xfrm>
        <a:graphic>
          <a:graphicData uri="http://schemas.openxmlformats.org/drawingml/2006/table">
            <a:tbl>
              <a:tblPr/>
              <a:tblGrid>
                <a:gridCol w="5533073"/>
                <a:gridCol w="2469832"/>
                <a:gridCol w="924878"/>
                <a:gridCol w="664845"/>
                <a:gridCol w="2486977"/>
              </a:tblGrid>
              <a:tr h="440382">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入力文</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タスク名</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優先度</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r"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数量</a:t>
                      </a:r>
                      <a:endParaRPr lang="en-US" sz="1200" dirty="0">
                        <a:latin typeface="游ゴシック" charset="0"/>
                        <a:ea typeface="游ゴシック" charset="0"/>
                        <a:cs typeface="游ゴシック" charset="0"/>
                      </a:endParaRPr>
                    </a:p>
                  </a:txBody>
                  <a:tcPr marL="72000" marR="72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b="1" dirty="0">
                          <a:solidFill>
                            <a:srgbClr val="222222"/>
                          </a:solidFill>
                          <a:latin typeface="游ゴシック" pitchFamily="34" charset="0"/>
                          <a:ea typeface="游ゴシック" pitchFamily="34" charset="-122"/>
                          <a:cs typeface="游ゴシック" pitchFamily="34" charset="-120"/>
                        </a:rPr>
                        <a:t>資格</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r>
              <a:tr h="440382">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旋盤の切粉清掃、至急をお願いします。</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旋盤の切粉清掃</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至急</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r"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1</a:t>
                      </a:r>
                      <a:endParaRPr lang="en-US" sz="1200" dirty="0">
                        <a:latin typeface="游ゴシック" charset="0"/>
                        <a:ea typeface="游ゴシック" charset="0"/>
                        <a:cs typeface="游ゴシック" charset="0"/>
                      </a:endParaRPr>
                    </a:p>
                  </a:txBody>
                  <a:tcPr marL="72000" marR="72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799505">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製品Cの外形加工20個、明日までにお願いします。</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製品Cの外形加工</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高</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r"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20</a:t>
                      </a:r>
                      <a:endParaRPr lang="en-US" sz="1200" dirty="0">
                        <a:latin typeface="游ゴシック" charset="0"/>
                        <a:ea typeface="游ゴシック" charset="0"/>
                        <a:cs typeface="游ゴシック" charset="0"/>
                      </a:endParaRPr>
                    </a:p>
                  </a:txBody>
                  <a:tcPr marL="72000" marR="72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799505">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フォークリフトで資材置き場から鋼材を運んでおいてください</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資材置き場から鋼材の運搬</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通常</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r"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1</a:t>
                      </a:r>
                      <a:endParaRPr lang="en-US" sz="1200" dirty="0">
                        <a:latin typeface="游ゴシック" charset="0"/>
                        <a:ea typeface="游ゴシック" charset="0"/>
                        <a:cs typeface="游ゴシック" charset="0"/>
                      </a:endParaRPr>
                    </a:p>
                  </a:txBody>
                  <a:tcPr marL="72000" marR="72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フォークリフト運転</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tcPr>
                </a:tc>
              </a:tr>
              <a:tr h="440382">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フレームの溶接をお願いします。10本です</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フレームの溶接</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通常</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r"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10</a:t>
                      </a:r>
                      <a:endParaRPr lang="en-US" sz="1200" dirty="0">
                        <a:latin typeface="游ゴシック" charset="0"/>
                        <a:ea typeface="游ゴシック" charset="0"/>
                        <a:cs typeface="游ゴシック" charset="0"/>
                      </a:endParaRPr>
                    </a:p>
                  </a:txBody>
                  <a:tcPr marL="72000" marR="72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c>
                  <a:txBody>
                    <a:bodyPr/>
                    <a:lstStyle/>
                    <a:p>
                      <a:pPr algn="l" indent="0" marL="0">
                        <a:lnSpc>
                          <a:spcPts val="2829"/>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アーク溶接</a:t>
                      </a:r>
                      <a:endParaRPr lang="en-US" sz="1200" dirty="0">
                        <a:latin typeface="游ゴシック" charset="0"/>
                        <a:ea typeface="游ゴシック" charset="0"/>
                        <a:cs typeface="游ゴシック" charset="0"/>
                      </a:endParaRPr>
                    </a:p>
                  </a:txBody>
                  <a:tcPr marL="72000" marR="18000" marT="36000" marB="36000" anchor="t">
                    <a:lnL w="0" cap="flat" cmpd="sng" algn="ctr">
                      <a:noFill/>
                    </a:lnL>
                    <a:lnR w="0" cap="flat" cmpd="sng" algn="ctr">
                      <a:noFill/>
                    </a:lnR>
                    <a:lnT w="0" cap="flat" cmpd="sng" algn="ctr">
                      <a:noFill/>
                    </a:lnT>
                    <a:lnB w="9525" cap="flat" cmpd="sng" algn="ctr">
                      <a:solidFill>
                        <a:srgbClr val="222222"/>
                      </a:solidFill>
                      <a:prstDash val="solid"/>
                      <a:round/>
                      <a:headEnd type="none" w="med" len="med"/>
                      <a:tailEnd type="none" w="med" len="med"/>
                    </a:lnB>
                  </a:tcPr>
                </a:tc>
              </a:tr>
            </a:tbl>
          </a:graphicData>
        </a:graphic>
      </p:graphicFrame>
      <p:sp>
        <p:nvSpPr>
          <p:cNvPr id="127" name="text p.cap"/>
          <p:cNvSpPr txBox="1"/>
          <p:nvPr/>
        </p:nvSpPr>
        <p:spPr>
          <a:xfrm>
            <a:off x="8728770" y="23835658"/>
            <a:ext cx="12122388" cy="325755"/>
          </a:xfrm>
          <a:prstGeom prst="rect">
            <a:avLst/>
          </a:prstGeom>
          <a:noFill/>
          <a:ln/>
        </p:spPr>
        <p:txBody>
          <a:bodyPr wrap="square" lIns="0" tIns="0" rIns="0" bIns="0" rtlCol="0" anchor="t"/>
          <a:lstStyle/>
          <a:p>
            <a:pPr algn="l" indent="0" marL="0">
              <a:lnSpc>
                <a:spcPts val="2565"/>
              </a:lnSpc>
              <a:buNone/>
            </a:pPr>
            <a:r>
              <a:rPr lang="ja-JP" altLang="en-US" sz="1900" dirty="0">
                <a:solidFill>
                  <a:srgbClr val="555555"/>
                </a:solidFill>
                <a:latin typeface="游ゴシック Medium" pitchFamily="34" charset="0"/>
                <a:ea typeface="游ゴシック Medium" pitchFamily="34" charset="-122"/>
                <a:cs typeface="游ゴシック Medium" pitchFamily="34" charset="-120"/>
              </a:rPr>
              <a:t>各欄は正しく取れている。精度を左右するのは前段の文字起こしである。</a:t>
            </a:r>
            <a:endParaRPr lang="en-US" sz="1900" dirty="0"/>
          </a:p>
        </p:txBody>
      </p:sp>
      <p:sp>
        <p:nvSpPr>
          <p:cNvPr id="128" name="text h3"/>
          <p:cNvSpPr txBox="1"/>
          <p:nvPr/>
        </p:nvSpPr>
        <p:spPr>
          <a:xfrm>
            <a:off x="575965" y="24428708"/>
            <a:ext cx="9979263" cy="402908"/>
          </a:xfrm>
          <a:prstGeom prst="rect">
            <a:avLst/>
          </a:prstGeom>
          <a:noFill/>
          <a:ln/>
        </p:spPr>
        <p:txBody>
          <a:bodyPr wrap="square" lIns="0" tIns="0" rIns="0" bIns="0" rtlCol="0" anchor="t"/>
          <a:lstStyle/>
          <a:p>
            <a:pPr algn="l" indent="0" marL="0">
              <a:lnSpc>
                <a:spcPts val="3172"/>
              </a:lnSpc>
              <a:buNone/>
            </a:pPr>
            <a:r>
              <a:rPr lang="ja-JP" altLang="en-US" sz="2350" b="1" dirty="0">
                <a:solidFill>
                  <a:srgbClr val="222222"/>
                </a:solidFill>
                <a:latin typeface="游ゴシック" pitchFamily="34" charset="0"/>
                <a:ea typeface="游ゴシック" pitchFamily="34" charset="-122"/>
                <a:cs typeface="游ゴシック" pitchFamily="34" charset="-120"/>
              </a:rPr>
              <a:t>7.3　提案</a:t>
            </a:r>
            <a:endParaRPr lang="en-US" sz="2350" dirty="0"/>
          </a:p>
        </p:txBody>
      </p:sp>
      <p:sp>
        <p:nvSpPr>
          <p:cNvPr id="129" name="box 128"/>
          <p:cNvSpPr/>
          <p:nvPr/>
        </p:nvSpPr>
        <p:spPr>
          <a:xfrm>
            <a:off x="2039362" y="24900416"/>
            <a:ext cx="1951196" cy="560969"/>
          </a:xfrm>
          <a:prstGeom prst="rect">
            <a:avLst/>
          </a:prstGeom>
          <a:solidFill>
            <a:srgbClr val="EEEEEE"/>
          </a:solidFill>
          <a:ln w="21971">
            <a:solidFill>
              <a:srgbClr val="222222"/>
            </a:solidFill>
            <a:prstDash val="solid"/>
          </a:ln>
        </p:spPr>
      </p:sp>
      <p:sp>
        <p:nvSpPr>
          <p:cNvPr id="130" name="text svgtext"/>
          <p:cNvSpPr txBox="1"/>
          <p:nvPr/>
        </p:nvSpPr>
        <p:spPr>
          <a:xfrm>
            <a:off x="2337569" y="24953815"/>
            <a:ext cx="1354782" cy="247650"/>
          </a:xfrm>
          <a:prstGeom prst="rect">
            <a:avLst/>
          </a:prstGeom>
          <a:noFill/>
          <a:ln/>
        </p:spPr>
        <p:txBody>
          <a:bodyPr wrap="none" lIns="0" tIns="0" rIns="0" bIns="0" rtlCol="0" anchor="ctr"/>
          <a:lstStyle/>
          <a:p>
            <a:pPr algn="ctr" indent="0" marL="0">
              <a:lnSpc>
                <a:spcPts val="1950"/>
              </a:lnSpc>
              <a:buNone/>
            </a:pPr>
            <a:r>
              <a:rPr lang="ja-JP" altLang="en-US" sz="1546" b="1" dirty="0">
                <a:solidFill>
                  <a:srgbClr val="222222"/>
                </a:solidFill>
                <a:latin typeface="游ゴシック" pitchFamily="34" charset="0"/>
                <a:ea typeface="游ゴシック" pitchFamily="34" charset="-122"/>
                <a:cs typeface="游ゴシック" pitchFamily="34" charset="-120"/>
              </a:rPr>
              <a:t>登録データ</a:t>
            </a:r>
            <a:endParaRPr lang="en-US" sz="1546" dirty="0"/>
          </a:p>
        </p:txBody>
      </p:sp>
      <p:sp>
        <p:nvSpPr>
          <p:cNvPr id="131" name="text svgtext"/>
          <p:cNvSpPr txBox="1"/>
          <p:nvPr/>
        </p:nvSpPr>
        <p:spPr>
          <a:xfrm>
            <a:off x="2055993" y="25218280"/>
            <a:ext cx="1917933" cy="171450"/>
          </a:xfrm>
          <a:prstGeom prst="rect">
            <a:avLst/>
          </a:prstGeom>
          <a:noFill/>
          <a:ln/>
        </p:spPr>
        <p:txBody>
          <a:bodyPr wrap="none" lIns="0" tIns="0" rIns="0" bIns="0" rtlCol="0" anchor="ctr"/>
          <a:lstStyle/>
          <a:p>
            <a:pPr algn="ctr" indent="0" marL="0">
              <a:lnSpc>
                <a:spcPts val="1350"/>
              </a:lnSpc>
              <a:buNone/>
            </a:pPr>
            <a:r>
              <a:rPr lang="ja-JP" altLang="en-US" sz="1056" dirty="0">
                <a:solidFill>
                  <a:srgbClr val="555555"/>
                </a:solidFill>
                <a:latin typeface="游ゴシック Medium" pitchFamily="34" charset="0"/>
                <a:ea typeface="游ゴシック Medium" pitchFamily="34" charset="-122"/>
                <a:cs typeface="游ゴシック Medium" pitchFamily="34" charset="-120"/>
              </a:rPr>
              <a:t>機材名・過去のタスク名</a:t>
            </a:r>
            <a:endParaRPr lang="en-US" sz="1056" dirty="0"/>
          </a:p>
        </p:txBody>
      </p:sp>
      <p:sp>
        <p:nvSpPr>
          <p:cNvPr id="132" name="box 131"/>
          <p:cNvSpPr/>
          <p:nvPr/>
        </p:nvSpPr>
        <p:spPr>
          <a:xfrm>
            <a:off x="3624709" y="25815039"/>
            <a:ext cx="1780467" cy="560969"/>
          </a:xfrm>
          <a:prstGeom prst="rect">
            <a:avLst/>
          </a:prstGeom>
          <a:solidFill>
            <a:srgbClr val="FFFFFF"/>
          </a:solidFill>
          <a:ln w="21971">
            <a:solidFill>
              <a:srgbClr val="222222"/>
            </a:solidFill>
            <a:prstDash val="solid"/>
          </a:ln>
        </p:spPr>
      </p:sp>
      <p:sp>
        <p:nvSpPr>
          <p:cNvPr id="133" name="text svgtext"/>
          <p:cNvSpPr txBox="1"/>
          <p:nvPr/>
        </p:nvSpPr>
        <p:spPr>
          <a:xfrm>
            <a:off x="3621120" y="25868439"/>
            <a:ext cx="1791252" cy="247650"/>
          </a:xfrm>
          <a:prstGeom prst="rect">
            <a:avLst/>
          </a:prstGeom>
          <a:noFill/>
          <a:ln/>
        </p:spPr>
        <p:txBody>
          <a:bodyPr wrap="none" lIns="0" tIns="0" rIns="0" bIns="0" rtlCol="0" anchor="ctr"/>
          <a:lstStyle/>
          <a:p>
            <a:pPr algn="ctr" indent="0" marL="0">
              <a:lnSpc>
                <a:spcPts val="1950"/>
              </a:lnSpc>
              <a:buNone/>
            </a:pPr>
            <a:r>
              <a:rPr lang="ja-JP" altLang="en-US" sz="1546" b="1" dirty="0">
                <a:solidFill>
                  <a:srgbClr val="222222"/>
                </a:solidFill>
                <a:latin typeface="游ゴシック" pitchFamily="34" charset="0"/>
                <a:ea typeface="游ゴシック" pitchFamily="34" charset="-122"/>
                <a:cs typeface="游ゴシック" pitchFamily="34" charset="-120"/>
              </a:rPr>
              <a:t>語彙を自動構成</a:t>
            </a:r>
            <a:endParaRPr lang="en-US" sz="1546" dirty="0"/>
          </a:p>
        </p:txBody>
      </p:sp>
      <p:sp>
        <p:nvSpPr>
          <p:cNvPr id="134" name="text svgtext"/>
          <p:cNvSpPr txBox="1"/>
          <p:nvPr/>
        </p:nvSpPr>
        <p:spPr>
          <a:xfrm>
            <a:off x="3468815" y="26132903"/>
            <a:ext cx="2092255" cy="171450"/>
          </a:xfrm>
          <a:prstGeom prst="rect">
            <a:avLst/>
          </a:prstGeom>
          <a:noFill/>
          <a:ln/>
        </p:spPr>
        <p:txBody>
          <a:bodyPr wrap="none" lIns="0" tIns="0" rIns="0" bIns="0" rtlCol="0" anchor="ctr"/>
          <a:lstStyle/>
          <a:p>
            <a:pPr algn="ctr" indent="0" marL="0">
              <a:lnSpc>
                <a:spcPts val="1350"/>
              </a:lnSpc>
              <a:buNone/>
            </a:pPr>
            <a:r>
              <a:rPr lang="ja-JP" altLang="en-US" sz="1056" dirty="0">
                <a:solidFill>
                  <a:srgbClr val="555555"/>
                </a:solidFill>
                <a:latin typeface="游ゴシック Medium" pitchFamily="34" charset="0"/>
                <a:ea typeface="游ゴシック Medium" pitchFamily="34" charset="-122"/>
                <a:cs typeface="游ゴシック Medium" pitchFamily="34" charset="-120"/>
              </a:rPr>
              <a:t>タッチした機材・人で絞る</a:t>
            </a:r>
            <a:endParaRPr lang="en-US" sz="1056" dirty="0"/>
          </a:p>
        </p:txBody>
      </p:sp>
      <p:sp>
        <p:nvSpPr>
          <p:cNvPr id="135" name="box 134"/>
          <p:cNvSpPr/>
          <p:nvPr/>
        </p:nvSpPr>
        <p:spPr>
          <a:xfrm>
            <a:off x="2039362" y="26729662"/>
            <a:ext cx="1951196" cy="560969"/>
          </a:xfrm>
          <a:prstGeom prst="rect">
            <a:avLst/>
          </a:prstGeom>
          <a:solidFill>
            <a:srgbClr val="FFFFFF"/>
          </a:solidFill>
          <a:ln w="21971">
            <a:solidFill>
              <a:srgbClr val="222222"/>
            </a:solidFill>
            <a:prstDash val="solid"/>
          </a:ln>
        </p:spPr>
      </p:sp>
      <p:sp>
        <p:nvSpPr>
          <p:cNvPr id="136" name="text svgtext"/>
          <p:cNvSpPr txBox="1"/>
          <p:nvPr/>
        </p:nvSpPr>
        <p:spPr>
          <a:xfrm>
            <a:off x="2431777" y="26783062"/>
            <a:ext cx="1169956" cy="247650"/>
          </a:xfrm>
          <a:prstGeom prst="rect">
            <a:avLst/>
          </a:prstGeom>
          <a:noFill/>
          <a:ln/>
        </p:spPr>
        <p:txBody>
          <a:bodyPr wrap="none" lIns="0" tIns="0" rIns="0" bIns="0" rtlCol="0" anchor="ctr"/>
          <a:lstStyle/>
          <a:p>
            <a:pPr algn="ctr" indent="0" marL="0">
              <a:lnSpc>
                <a:spcPts val="1950"/>
              </a:lnSpc>
              <a:buNone/>
            </a:pPr>
            <a:r>
              <a:rPr lang="ja-JP" altLang="en-US" sz="1546" b="1" dirty="0">
                <a:solidFill>
                  <a:srgbClr val="222222"/>
                </a:solidFill>
                <a:latin typeface="游ゴシック" pitchFamily="34" charset="0"/>
                <a:ea typeface="游ゴシック" pitchFamily="34" charset="-122"/>
                <a:cs typeface="游ゴシック" pitchFamily="34" charset="-120"/>
              </a:rPr>
              <a:t>音声認識</a:t>
            </a:r>
            <a:endParaRPr lang="en-US" sz="1546" dirty="0"/>
          </a:p>
        </p:txBody>
      </p:sp>
      <p:sp>
        <p:nvSpPr>
          <p:cNvPr id="137" name="text svgtext"/>
          <p:cNvSpPr txBox="1"/>
          <p:nvPr/>
        </p:nvSpPr>
        <p:spPr>
          <a:xfrm>
            <a:off x="2025231" y="27047526"/>
            <a:ext cx="1979459" cy="171450"/>
          </a:xfrm>
          <a:prstGeom prst="rect">
            <a:avLst/>
          </a:prstGeom>
          <a:noFill/>
          <a:ln/>
        </p:spPr>
        <p:txBody>
          <a:bodyPr wrap="none" lIns="0" tIns="0" rIns="0" bIns="0" rtlCol="0" anchor="ctr"/>
          <a:lstStyle/>
          <a:p>
            <a:pPr algn="ctr" indent="0" marL="0">
              <a:lnSpc>
                <a:spcPts val="1350"/>
              </a:lnSpc>
              <a:buNone/>
            </a:pPr>
            <a:r>
              <a:rPr lang="ja-JP" altLang="en-US" sz="1056" dirty="0">
                <a:solidFill>
                  <a:srgbClr val="555555"/>
                </a:solidFill>
                <a:latin typeface="游ゴシック Medium" pitchFamily="34" charset="0"/>
                <a:ea typeface="游ゴシック Medium" pitchFamily="34" charset="-122"/>
                <a:cs typeface="游ゴシック Medium" pitchFamily="34" charset="-120"/>
              </a:rPr>
              <a:t>Whisper ＋ 語彙のヒント</a:t>
            </a:r>
            <a:endParaRPr lang="en-US" sz="1056" dirty="0"/>
          </a:p>
        </p:txBody>
      </p:sp>
      <p:sp>
        <p:nvSpPr>
          <p:cNvPr id="138" name="box 137"/>
          <p:cNvSpPr/>
          <p:nvPr/>
        </p:nvSpPr>
        <p:spPr>
          <a:xfrm>
            <a:off x="624745" y="25815039"/>
            <a:ext cx="1780467" cy="560969"/>
          </a:xfrm>
          <a:prstGeom prst="rect">
            <a:avLst/>
          </a:prstGeom>
          <a:solidFill>
            <a:srgbClr val="FFFFFF"/>
          </a:solidFill>
          <a:ln w="21971">
            <a:solidFill>
              <a:srgbClr val="222222"/>
            </a:solidFill>
            <a:prstDash val="solid"/>
          </a:ln>
        </p:spPr>
      </p:sp>
      <p:sp>
        <p:nvSpPr>
          <p:cNvPr id="139" name="text svgtext"/>
          <p:cNvSpPr txBox="1"/>
          <p:nvPr/>
        </p:nvSpPr>
        <p:spPr>
          <a:xfrm>
            <a:off x="735491" y="25868439"/>
            <a:ext cx="1558975" cy="247650"/>
          </a:xfrm>
          <a:prstGeom prst="rect">
            <a:avLst/>
          </a:prstGeom>
          <a:noFill/>
          <a:ln/>
        </p:spPr>
        <p:txBody>
          <a:bodyPr wrap="none" lIns="0" tIns="0" rIns="0" bIns="0" rtlCol="0" anchor="ctr"/>
          <a:lstStyle/>
          <a:p>
            <a:pPr algn="ctr" indent="0" marL="0">
              <a:lnSpc>
                <a:spcPts val="1950"/>
              </a:lnSpc>
              <a:buNone/>
            </a:pPr>
            <a:r>
              <a:rPr lang="ja-JP" altLang="en-US" sz="1546" b="1" dirty="0">
                <a:solidFill>
                  <a:srgbClr val="222222"/>
                </a:solidFill>
                <a:latin typeface="游ゴシック" pitchFamily="34" charset="0"/>
                <a:ea typeface="游ゴシック" pitchFamily="34" charset="-122"/>
                <a:cs typeface="游ゴシック" pitchFamily="34" charset="-120"/>
              </a:rPr>
              <a:t>管理者が直す</a:t>
            </a:r>
            <a:endParaRPr lang="en-US" sz="1546" dirty="0"/>
          </a:p>
        </p:txBody>
      </p:sp>
      <p:sp>
        <p:nvSpPr>
          <p:cNvPr id="140" name="text svgtext"/>
          <p:cNvSpPr txBox="1"/>
          <p:nvPr/>
        </p:nvSpPr>
        <p:spPr>
          <a:xfrm>
            <a:off x="472333" y="26132903"/>
            <a:ext cx="2085290" cy="171450"/>
          </a:xfrm>
          <a:prstGeom prst="rect">
            <a:avLst/>
          </a:prstGeom>
          <a:noFill/>
          <a:ln/>
        </p:spPr>
        <p:txBody>
          <a:bodyPr wrap="none" lIns="0" tIns="0" rIns="0" bIns="0" rtlCol="0" anchor="ctr"/>
          <a:lstStyle/>
          <a:p>
            <a:pPr algn="ctr" indent="0" marL="0">
              <a:lnSpc>
                <a:spcPts val="1350"/>
              </a:lnSpc>
              <a:buNone/>
            </a:pPr>
            <a:r>
              <a:rPr lang="ja-JP" altLang="en-US" sz="1056" dirty="0">
                <a:solidFill>
                  <a:srgbClr val="555555"/>
                </a:solidFill>
                <a:latin typeface="游ゴシック Medium" pitchFamily="34" charset="0"/>
                <a:ea typeface="游ゴシック Medium" pitchFamily="34" charset="-122"/>
                <a:cs typeface="游ゴシック Medium" pitchFamily="34" charset="-120"/>
              </a:rPr>
              <a:t>普段どおりタスク名を修正</a:t>
            </a:r>
            <a:endParaRPr lang="en-US" sz="1056" dirty="0"/>
          </a:p>
        </p:txBody>
      </p:sp>
      <p:sp>
        <p:nvSpPr>
          <p:cNvPr id="141" name="arrow 140"/>
          <p:cNvSpPr/>
          <p:nvPr/>
        </p:nvSpPr>
        <p:spPr>
          <a:xfrm>
            <a:off x="4014948" y="25180900"/>
            <a:ext cx="585359" cy="597554"/>
          </a:xfrm>
          <a:custGeom>
            <a:avLst/>
            <a:gdLst/>
            <a:ahLst/>
            <a:cxnLst/>
            <a:rect l="l" t="t" r="r" b="b"/>
            <a:pathLst>
              <a:path w="585359" h="597554">
                <a:moveTo>
                  <a:pt x="0" y="0"/>
                </a:moveTo>
                <a:lnTo>
                  <a:pt x="585359" y="0"/>
                </a:lnTo>
                <a:lnTo>
                  <a:pt x="585359" y="597554"/>
                </a:lnTo>
              </a:path>
            </a:pathLst>
          </a:custGeom>
          <a:ln w="21971">
            <a:solidFill>
              <a:srgbClr val="222222"/>
            </a:solidFill>
            <a:prstDash val="solid"/>
            <a:tailEnd type="triangle"/>
          </a:ln>
        </p:spPr>
      </p:sp>
      <p:sp>
        <p:nvSpPr>
          <p:cNvPr id="142" name="arrow 141"/>
          <p:cNvSpPr/>
          <p:nvPr/>
        </p:nvSpPr>
        <p:spPr>
          <a:xfrm>
            <a:off x="4039338" y="26412593"/>
            <a:ext cx="560969" cy="597554"/>
          </a:xfrm>
          <a:custGeom>
            <a:avLst/>
            <a:gdLst/>
            <a:ahLst/>
            <a:cxnLst/>
            <a:rect l="l" t="t" r="r" b="b"/>
            <a:pathLst>
              <a:path w="560969" h="597554">
                <a:moveTo>
                  <a:pt x="560969" y="0"/>
                </a:moveTo>
                <a:lnTo>
                  <a:pt x="560969" y="597554"/>
                </a:lnTo>
                <a:lnTo>
                  <a:pt x="0" y="597554"/>
                </a:lnTo>
              </a:path>
            </a:pathLst>
          </a:custGeom>
          <a:ln w="21971">
            <a:solidFill>
              <a:srgbClr val="222222"/>
            </a:solidFill>
            <a:prstDash val="solid"/>
            <a:tailEnd type="triangle"/>
          </a:ln>
        </p:spPr>
      </p:sp>
      <p:sp>
        <p:nvSpPr>
          <p:cNvPr id="143" name="arrow 142"/>
          <p:cNvSpPr/>
          <p:nvPr/>
        </p:nvSpPr>
        <p:spPr>
          <a:xfrm>
            <a:off x="1429613" y="26412593"/>
            <a:ext cx="560969" cy="597554"/>
          </a:xfrm>
          <a:custGeom>
            <a:avLst/>
            <a:gdLst/>
            <a:ahLst/>
            <a:cxnLst/>
            <a:rect l="l" t="t" r="r" b="b"/>
            <a:pathLst>
              <a:path w="560969" h="597554">
                <a:moveTo>
                  <a:pt x="560969" y="597554"/>
                </a:moveTo>
                <a:lnTo>
                  <a:pt x="0" y="597554"/>
                </a:lnTo>
                <a:lnTo>
                  <a:pt x="0" y="0"/>
                </a:lnTo>
              </a:path>
            </a:pathLst>
          </a:custGeom>
          <a:ln w="21971">
            <a:solidFill>
              <a:srgbClr val="222222"/>
            </a:solidFill>
            <a:prstDash val="solid"/>
            <a:tailEnd type="triangle"/>
          </a:ln>
        </p:spPr>
      </p:sp>
      <p:sp>
        <p:nvSpPr>
          <p:cNvPr id="144" name="arrow 143"/>
          <p:cNvSpPr/>
          <p:nvPr/>
        </p:nvSpPr>
        <p:spPr>
          <a:xfrm>
            <a:off x="1429613" y="25180900"/>
            <a:ext cx="560969" cy="597554"/>
          </a:xfrm>
          <a:custGeom>
            <a:avLst/>
            <a:gdLst/>
            <a:ahLst/>
            <a:cxnLst/>
            <a:rect l="l" t="t" r="r" b="b"/>
            <a:pathLst>
              <a:path w="560969" h="597554">
                <a:moveTo>
                  <a:pt x="0" y="597554"/>
                </a:moveTo>
                <a:lnTo>
                  <a:pt x="0" y="0"/>
                </a:lnTo>
                <a:lnTo>
                  <a:pt x="560969" y="0"/>
                </a:lnTo>
              </a:path>
            </a:pathLst>
          </a:custGeom>
          <a:ln w="21971">
            <a:solidFill>
              <a:srgbClr val="222222"/>
            </a:solidFill>
            <a:prstDash val="solid"/>
            <a:tailEnd type="triangle"/>
          </a:ln>
        </p:spPr>
      </p:sp>
      <p:sp>
        <p:nvSpPr>
          <p:cNvPr id="145" name="text p.cap"/>
          <p:cNvSpPr txBox="1"/>
          <p:nvPr/>
        </p:nvSpPr>
        <p:spPr>
          <a:xfrm>
            <a:off x="575965" y="27352466"/>
            <a:ext cx="4921191" cy="325755"/>
          </a:xfrm>
          <a:prstGeom prst="rect">
            <a:avLst/>
          </a:prstGeom>
          <a:noFill/>
          <a:ln/>
        </p:spPr>
        <p:txBody>
          <a:bodyPr wrap="square" lIns="0" tIns="0" rIns="0" bIns="0" rtlCol="0" anchor="t"/>
          <a:lstStyle/>
          <a:p>
            <a:pPr algn="l" indent="0" marL="0">
              <a:lnSpc>
                <a:spcPts val="2565"/>
              </a:lnSpc>
              <a:buNone/>
            </a:pPr>
            <a:r>
              <a:rPr lang="ja-JP" altLang="en-US" sz="1900" b="1" dirty="0">
                <a:solidFill>
                  <a:srgbClr val="222222"/>
                </a:solidFill>
                <a:latin typeface="游ゴシック" pitchFamily="34" charset="0"/>
                <a:ea typeface="游ゴシック" pitchFamily="34" charset="-122"/>
                <a:cs typeface="游ゴシック" pitchFamily="34" charset="-120"/>
              </a:rPr>
              <a:t>図 4</a:t>
            </a:r>
            <a:pPr algn="l" indent="0" marL="0">
              <a:lnSpc>
                <a:spcPts val="2565"/>
              </a:lnSpc>
              <a:buNone/>
            </a:pPr>
            <a:r>
              <a:rPr lang="ja-JP" altLang="en-US" sz="1900" dirty="0">
                <a:solidFill>
                  <a:srgbClr val="555555"/>
                </a:solidFill>
                <a:latin typeface="游ゴシック Medium" pitchFamily="34" charset="0"/>
                <a:ea typeface="游ゴシック Medium" pitchFamily="34" charset="-122"/>
                <a:cs typeface="游ゴシック Medium" pitchFamily="34" charset="-120"/>
              </a:rPr>
              <a:t>　修正のたびに語彙が育つ循環</a:t>
            </a:r>
            <a:endParaRPr lang="en-US" sz="1900" dirty="0"/>
          </a:p>
        </p:txBody>
      </p:sp>
      <p:sp>
        <p:nvSpPr>
          <p:cNvPr id="146" name="text p.sm"/>
          <p:cNvSpPr txBox="1"/>
          <p:nvPr/>
        </p:nvSpPr>
        <p:spPr>
          <a:xfrm>
            <a:off x="5633889" y="24872970"/>
            <a:ext cx="4921339" cy="755014"/>
          </a:xfrm>
          <a:prstGeom prst="rect">
            <a:avLst/>
          </a:prstGeom>
          <a:noFill/>
          <a:ln/>
        </p:spPr>
        <p:txBody>
          <a:bodyPr wrap="square" lIns="0" tIns="0" rIns="0" bIns="0" rtlCol="0" anchor="t"/>
          <a:lstStyle/>
          <a:p>
            <a:pPr algn="l" indent="0" marL="0">
              <a:lnSpc>
                <a:spcPts val="2972"/>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登録データ（機材名・過去のタスク名）から語彙を自動で組み立てる。</a:t>
            </a:r>
            <a:endParaRPr lang="en-US" sz="2050" dirty="0"/>
          </a:p>
        </p:txBody>
      </p:sp>
      <p:sp>
        <p:nvSpPr>
          <p:cNvPr id="147" name="box 146"/>
          <p:cNvSpPr/>
          <p:nvPr/>
        </p:nvSpPr>
        <p:spPr>
          <a:xfrm>
            <a:off x="5633889" y="25731566"/>
            <a:ext cx="215950" cy="215950"/>
          </a:xfrm>
          <a:prstGeom prst="rect">
            <a:avLst/>
          </a:prstGeom>
          <a:ln/>
        </p:spPr>
      </p:sp>
      <p:sp>
        <p:nvSpPr>
          <p:cNvPr id="148" name="text counter"/>
          <p:cNvSpPr txBox="1"/>
          <p:nvPr/>
        </p:nvSpPr>
        <p:spPr>
          <a:xfrm>
            <a:off x="5443389" y="25731566"/>
            <a:ext cx="596950" cy="215950"/>
          </a:xfrm>
          <a:prstGeom prst="rect">
            <a:avLst/>
          </a:prstGeom>
          <a:noFill/>
          <a:ln/>
        </p:spPr>
        <p:txBody>
          <a:bodyPr wrap="none" lIns="0" tIns="0" rIns="0" bIns="0" rtlCol="0" anchor="ctr"/>
          <a:lstStyle/>
          <a:p>
            <a:pPr algn="ctr" indent="0" marL="0">
              <a:lnSpc>
                <a:spcPts val="2911"/>
              </a:lnSpc>
              <a:buNone/>
            </a:pPr>
            <a:r>
              <a:rPr lang="ja-JP" altLang="en-US" sz="2050" b="1" dirty="0">
                <a:solidFill>
                  <a:srgbClr val="222222"/>
                </a:solidFill>
                <a:latin typeface="游ゴシック" pitchFamily="34" charset="0"/>
                <a:ea typeface="游ゴシック" pitchFamily="34" charset="-122"/>
                <a:cs typeface="游ゴシック" pitchFamily="34" charset="-120"/>
              </a:rPr>
              <a:t>1</a:t>
            </a:r>
            <a:endParaRPr lang="en-US" sz="2050" dirty="0"/>
          </a:p>
        </p:txBody>
      </p:sp>
      <p:sp>
        <p:nvSpPr>
          <p:cNvPr id="149" name="text span"/>
          <p:cNvSpPr txBox="1"/>
          <p:nvPr/>
        </p:nvSpPr>
        <p:spPr>
          <a:xfrm>
            <a:off x="5885706" y="25722776"/>
            <a:ext cx="4669522" cy="739393"/>
          </a:xfrm>
          <a:prstGeom prst="rect">
            <a:avLst/>
          </a:prstGeom>
          <a:noFill/>
          <a:ln/>
        </p:spPr>
        <p:txBody>
          <a:bodyPr wrap="square" lIns="0" tIns="0" rIns="0" bIns="0" rtlCol="0" anchor="t"/>
          <a:lstStyle/>
          <a:p>
            <a:pPr algn="l" indent="0" marL="0">
              <a:lnSpc>
                <a:spcPts val="2911"/>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タッチで話者と機材が確定している点を、語彙の選択に使う</a:t>
            </a:r>
            <a:endParaRPr lang="en-US" sz="2050" dirty="0"/>
          </a:p>
        </p:txBody>
      </p:sp>
      <p:sp>
        <p:nvSpPr>
          <p:cNvPr id="150" name="box 149"/>
          <p:cNvSpPr/>
          <p:nvPr/>
        </p:nvSpPr>
        <p:spPr>
          <a:xfrm>
            <a:off x="5633889" y="26528094"/>
            <a:ext cx="215950" cy="215950"/>
          </a:xfrm>
          <a:prstGeom prst="rect">
            <a:avLst/>
          </a:prstGeom>
          <a:ln/>
        </p:spPr>
      </p:sp>
      <p:sp>
        <p:nvSpPr>
          <p:cNvPr id="151" name="text counter"/>
          <p:cNvSpPr txBox="1"/>
          <p:nvPr/>
        </p:nvSpPr>
        <p:spPr>
          <a:xfrm>
            <a:off x="5443389" y="26528094"/>
            <a:ext cx="596950" cy="215950"/>
          </a:xfrm>
          <a:prstGeom prst="rect">
            <a:avLst/>
          </a:prstGeom>
          <a:noFill/>
          <a:ln/>
        </p:spPr>
        <p:txBody>
          <a:bodyPr wrap="none" lIns="0" tIns="0" rIns="0" bIns="0" rtlCol="0" anchor="ctr"/>
          <a:lstStyle/>
          <a:p>
            <a:pPr algn="ctr" indent="0" marL="0">
              <a:lnSpc>
                <a:spcPts val="2911"/>
              </a:lnSpc>
              <a:buNone/>
            </a:pPr>
            <a:r>
              <a:rPr lang="ja-JP" altLang="en-US" sz="2050" b="1" dirty="0">
                <a:solidFill>
                  <a:srgbClr val="222222"/>
                </a:solidFill>
                <a:latin typeface="游ゴシック" pitchFamily="34" charset="0"/>
                <a:ea typeface="游ゴシック" pitchFamily="34" charset="-122"/>
                <a:cs typeface="游ゴシック" pitchFamily="34" charset="-120"/>
              </a:rPr>
              <a:t>2</a:t>
            </a:r>
            <a:endParaRPr lang="en-US" sz="2050" dirty="0"/>
          </a:p>
        </p:txBody>
      </p:sp>
      <p:sp>
        <p:nvSpPr>
          <p:cNvPr id="152" name="text span"/>
          <p:cNvSpPr txBox="1"/>
          <p:nvPr/>
        </p:nvSpPr>
        <p:spPr>
          <a:xfrm>
            <a:off x="5885706" y="26519304"/>
            <a:ext cx="4669522" cy="739393"/>
          </a:xfrm>
          <a:prstGeom prst="rect">
            <a:avLst/>
          </a:prstGeom>
          <a:noFill/>
          <a:ln/>
        </p:spPr>
        <p:txBody>
          <a:bodyPr wrap="square" lIns="0" tIns="0" rIns="0" bIns="0" rtlCol="0" anchor="t"/>
          <a:lstStyle/>
          <a:p>
            <a:pPr algn="l" indent="0" marL="0">
              <a:lnSpc>
                <a:spcPts val="2911"/>
              </a:lnSpc>
              <a:buNone/>
            </a:pPr>
            <a:r>
              <a:rPr lang="ja-JP" altLang="en-US" sz="2050" dirty="0">
                <a:solidFill>
                  <a:srgbClr val="222222"/>
                </a:solidFill>
                <a:latin typeface="游ゴシック Medium" pitchFamily="34" charset="0"/>
                <a:ea typeface="游ゴシック Medium" pitchFamily="34" charset="-122"/>
                <a:cs typeface="游ゴシック Medium" pitchFamily="34" charset="-120"/>
              </a:rPr>
              <a:t>管理者がタスク名を直すだけで語彙が育つ</a:t>
            </a:r>
            <a:endParaRPr lang="en-US" sz="2050" dirty="0"/>
          </a:p>
        </p:txBody>
      </p:sp>
      <p:sp>
        <p:nvSpPr>
          <p:cNvPr id="153" name="text p.xs muted"/>
          <p:cNvSpPr txBox="1"/>
          <p:nvPr/>
        </p:nvSpPr>
        <p:spPr>
          <a:xfrm>
            <a:off x="5633889" y="27328832"/>
            <a:ext cx="4921339" cy="320040"/>
          </a:xfrm>
          <a:prstGeom prst="rect">
            <a:avLst/>
          </a:prstGeom>
          <a:noFill/>
          <a:ln/>
        </p:spPr>
        <p:txBody>
          <a:bodyPr wrap="square" lIns="0" tIns="0" rIns="0" bIns="0" rtlCol="0" anchor="t"/>
          <a:lstStyle/>
          <a:p>
            <a:pPr algn="l" indent="0" marL="0">
              <a:lnSpc>
                <a:spcPts val="2520"/>
              </a:lnSpc>
              <a:buNone/>
            </a:pPr>
            <a:r>
              <a:rPr lang="ja-JP" altLang="en-US" sz="1800" dirty="0">
                <a:solidFill>
                  <a:srgbClr val="555555"/>
                </a:solidFill>
                <a:latin typeface="游ゴシック Medium" pitchFamily="34" charset="0"/>
                <a:ea typeface="游ゴシック Medium" pitchFamily="34" charset="-122"/>
                <a:cs typeface="游ゴシック Medium" pitchFamily="34" charset="-120"/>
              </a:rPr>
              <a:t>関連研究 [3]–[6]</a:t>
            </a:r>
            <a:endParaRPr lang="en-US" sz="1800" dirty="0"/>
          </a:p>
        </p:txBody>
      </p:sp>
      <p:sp>
        <p:nvSpPr>
          <p:cNvPr id="154" name="text h3"/>
          <p:cNvSpPr txBox="1"/>
          <p:nvPr/>
        </p:nvSpPr>
        <p:spPr>
          <a:xfrm>
            <a:off x="10871895" y="24428708"/>
            <a:ext cx="9979263" cy="402908"/>
          </a:xfrm>
          <a:prstGeom prst="rect">
            <a:avLst/>
          </a:prstGeom>
          <a:noFill/>
          <a:ln/>
        </p:spPr>
        <p:txBody>
          <a:bodyPr wrap="square" lIns="0" tIns="0" rIns="0" bIns="0" rtlCol="0" anchor="t"/>
          <a:lstStyle/>
          <a:p>
            <a:pPr algn="l" indent="0" marL="0">
              <a:lnSpc>
                <a:spcPts val="3172"/>
              </a:lnSpc>
              <a:buNone/>
            </a:pPr>
            <a:r>
              <a:rPr lang="ja-JP" altLang="en-US" sz="2350" b="1" dirty="0">
                <a:solidFill>
                  <a:srgbClr val="222222"/>
                </a:solidFill>
                <a:latin typeface="游ゴシック" pitchFamily="34" charset="0"/>
                <a:ea typeface="游ゴシック" pitchFamily="34" charset="-122"/>
                <a:cs typeface="游ゴシック" pitchFamily="34" charset="-120"/>
              </a:rPr>
              <a:t>7.4　評価計画</a:t>
            </a:r>
            <a:endParaRPr lang="en-US" sz="2350" dirty="0"/>
          </a:p>
        </p:txBody>
      </p:sp>
      <p:sp>
        <p:nvSpPr>
          <p:cNvPr id="155" name="text div.id"/>
          <p:cNvSpPr txBox="1"/>
          <p:nvPr/>
        </p:nvSpPr>
        <p:spPr>
          <a:xfrm>
            <a:off x="10871895" y="24870311"/>
            <a:ext cx="403066" cy="373380"/>
          </a:xfrm>
          <a:prstGeom prst="rect">
            <a:avLst/>
          </a:prstGeom>
          <a:noFill/>
          <a:ln/>
        </p:spPr>
        <p:txBody>
          <a:bodyPr wrap="square" lIns="0" tIns="0" rIns="0" bIns="0" rtlCol="0" anchor="t"/>
          <a:lstStyle/>
          <a:p>
            <a:pPr algn="l" indent="0" marL="0">
              <a:lnSpc>
                <a:spcPts val="2940"/>
              </a:lnSpc>
              <a:buNone/>
            </a:pPr>
            <a:r>
              <a:rPr lang="ja-JP" altLang="en-US" sz="2100" b="1" dirty="0">
                <a:solidFill>
                  <a:srgbClr val="222222"/>
                </a:solidFill>
                <a:latin typeface="游ゴシック" pitchFamily="34" charset="0"/>
                <a:ea typeface="游ゴシック" pitchFamily="34" charset="-122"/>
                <a:cs typeface="游ゴシック" pitchFamily="34" charset="-120"/>
              </a:rPr>
              <a:t>E1</a:t>
            </a:r>
            <a:endParaRPr lang="en-US" sz="2100" dirty="0"/>
          </a:p>
        </p:txBody>
      </p:sp>
      <p:sp>
        <p:nvSpPr>
          <p:cNvPr id="156" name="text p"/>
          <p:cNvSpPr txBox="1"/>
          <p:nvPr/>
        </p:nvSpPr>
        <p:spPr>
          <a:xfrm>
            <a:off x="11285637" y="24870311"/>
            <a:ext cx="9565521" cy="373380"/>
          </a:xfrm>
          <a:prstGeom prst="rect">
            <a:avLst/>
          </a:prstGeom>
          <a:noFill/>
          <a:ln/>
        </p:spPr>
        <p:txBody>
          <a:bodyPr wrap="square" lIns="0" tIns="0" rIns="0" bIns="0" rtlCol="0" anchor="t"/>
          <a:lstStyle/>
          <a:p>
            <a:pPr algn="l" indent="0" marL="0">
              <a:lnSpc>
                <a:spcPts val="2940"/>
              </a:lnSpc>
              <a:buNone/>
            </a:pPr>
            <a:r>
              <a:rPr lang="ja-JP" altLang="en-US" sz="2100" dirty="0">
                <a:solidFill>
                  <a:srgbClr val="222222"/>
                </a:solidFill>
                <a:latin typeface="游ゴシック Medium" pitchFamily="34" charset="0"/>
                <a:ea typeface="游ゴシック Medium" pitchFamily="34" charset="-122"/>
                <a:cs typeface="游ゴシック Medium" pitchFamily="34" charset="-120"/>
              </a:rPr>
              <a:t>語彙なし／固定語彙／自動構成を同じ音声で比較</a:t>
            </a:r>
            <a:endParaRPr lang="en-US" sz="2100" dirty="0"/>
          </a:p>
        </p:txBody>
      </p:sp>
      <p:sp>
        <p:nvSpPr>
          <p:cNvPr id="157" name="text div.id"/>
          <p:cNvSpPr txBox="1"/>
          <p:nvPr/>
        </p:nvSpPr>
        <p:spPr>
          <a:xfrm>
            <a:off x="10871895" y="25297448"/>
            <a:ext cx="403066" cy="373380"/>
          </a:xfrm>
          <a:prstGeom prst="rect">
            <a:avLst/>
          </a:prstGeom>
          <a:noFill/>
          <a:ln/>
        </p:spPr>
        <p:txBody>
          <a:bodyPr wrap="square" lIns="0" tIns="0" rIns="0" bIns="0" rtlCol="0" anchor="t"/>
          <a:lstStyle/>
          <a:p>
            <a:pPr algn="l" indent="0" marL="0">
              <a:lnSpc>
                <a:spcPts val="2940"/>
              </a:lnSpc>
              <a:buNone/>
            </a:pPr>
            <a:r>
              <a:rPr lang="ja-JP" altLang="en-US" sz="2100" b="1" dirty="0">
                <a:solidFill>
                  <a:srgbClr val="222222"/>
                </a:solidFill>
                <a:latin typeface="游ゴシック" pitchFamily="34" charset="0"/>
                <a:ea typeface="游ゴシック" pitchFamily="34" charset="-122"/>
                <a:cs typeface="游ゴシック" pitchFamily="34" charset="-120"/>
              </a:rPr>
              <a:t>E2</a:t>
            </a:r>
            <a:endParaRPr lang="en-US" sz="2100" dirty="0"/>
          </a:p>
        </p:txBody>
      </p:sp>
      <p:sp>
        <p:nvSpPr>
          <p:cNvPr id="158" name="text p"/>
          <p:cNvSpPr txBox="1"/>
          <p:nvPr/>
        </p:nvSpPr>
        <p:spPr>
          <a:xfrm>
            <a:off x="11285637" y="25297448"/>
            <a:ext cx="9565521" cy="373380"/>
          </a:xfrm>
          <a:prstGeom prst="rect">
            <a:avLst/>
          </a:prstGeom>
          <a:noFill/>
          <a:ln/>
        </p:spPr>
        <p:txBody>
          <a:bodyPr wrap="square" lIns="0" tIns="0" rIns="0" bIns="0" rtlCol="0" anchor="t"/>
          <a:lstStyle/>
          <a:p>
            <a:pPr algn="l" indent="0" marL="0">
              <a:lnSpc>
                <a:spcPts val="2940"/>
              </a:lnSpc>
              <a:buNone/>
            </a:pPr>
            <a:r>
              <a:rPr lang="ja-JP" altLang="en-US" sz="2100" dirty="0">
                <a:solidFill>
                  <a:srgbClr val="222222"/>
                </a:solidFill>
                <a:latin typeface="游ゴシック Medium" pitchFamily="34" charset="0"/>
                <a:ea typeface="游ゴシック Medium" pitchFamily="34" charset="-122"/>
                <a:cs typeface="游ゴシック Medium" pitchFamily="34" charset="-120"/>
              </a:rPr>
              <a:t>語の数と、誤挿入との釣り合いを調べる</a:t>
            </a:r>
            <a:endParaRPr lang="en-US" sz="2100" dirty="0"/>
          </a:p>
        </p:txBody>
      </p:sp>
      <p:sp>
        <p:nvSpPr>
          <p:cNvPr id="159" name="text div.id"/>
          <p:cNvSpPr txBox="1"/>
          <p:nvPr/>
        </p:nvSpPr>
        <p:spPr>
          <a:xfrm>
            <a:off x="10871895" y="25724584"/>
            <a:ext cx="403066" cy="373380"/>
          </a:xfrm>
          <a:prstGeom prst="rect">
            <a:avLst/>
          </a:prstGeom>
          <a:noFill/>
          <a:ln/>
        </p:spPr>
        <p:txBody>
          <a:bodyPr wrap="square" lIns="0" tIns="0" rIns="0" bIns="0" rtlCol="0" anchor="t"/>
          <a:lstStyle/>
          <a:p>
            <a:pPr algn="l" indent="0" marL="0">
              <a:lnSpc>
                <a:spcPts val="2940"/>
              </a:lnSpc>
              <a:buNone/>
            </a:pPr>
            <a:r>
              <a:rPr lang="ja-JP" altLang="en-US" sz="2100" b="1" dirty="0">
                <a:solidFill>
                  <a:srgbClr val="222222"/>
                </a:solidFill>
                <a:latin typeface="游ゴシック" pitchFamily="34" charset="0"/>
                <a:ea typeface="游ゴシック" pitchFamily="34" charset="-122"/>
                <a:cs typeface="游ゴシック" pitchFamily="34" charset="-120"/>
              </a:rPr>
              <a:t>E3</a:t>
            </a:r>
            <a:endParaRPr lang="en-US" sz="2100" dirty="0"/>
          </a:p>
        </p:txBody>
      </p:sp>
      <p:sp>
        <p:nvSpPr>
          <p:cNvPr id="160" name="text p"/>
          <p:cNvSpPr txBox="1"/>
          <p:nvPr/>
        </p:nvSpPr>
        <p:spPr>
          <a:xfrm>
            <a:off x="11285637" y="25724584"/>
            <a:ext cx="9565521" cy="373380"/>
          </a:xfrm>
          <a:prstGeom prst="rect">
            <a:avLst/>
          </a:prstGeom>
          <a:noFill/>
          <a:ln/>
        </p:spPr>
        <p:txBody>
          <a:bodyPr wrap="square" lIns="0" tIns="0" rIns="0" bIns="0" rtlCol="0" anchor="t"/>
          <a:lstStyle/>
          <a:p>
            <a:pPr algn="l" indent="0" marL="0">
              <a:lnSpc>
                <a:spcPts val="2940"/>
              </a:lnSpc>
              <a:buNone/>
            </a:pPr>
            <a:r>
              <a:rPr lang="ja-JP" altLang="en-US" sz="2100" dirty="0">
                <a:solidFill>
                  <a:srgbClr val="222222"/>
                </a:solidFill>
                <a:latin typeface="游ゴシック Medium" pitchFamily="34" charset="0"/>
                <a:ea typeface="游ゴシック Medium" pitchFamily="34" charset="-122"/>
                <a:cs typeface="游ゴシック Medium" pitchFamily="34" charset="-120"/>
              </a:rPr>
              <a:t>運用につれ正解率が上がるかを見る</a:t>
            </a:r>
            <a:endParaRPr lang="en-US" sz="2100" dirty="0"/>
          </a:p>
        </p:txBody>
      </p:sp>
      <p:sp>
        <p:nvSpPr>
          <p:cNvPr id="161" name="text div.id"/>
          <p:cNvSpPr txBox="1"/>
          <p:nvPr/>
        </p:nvSpPr>
        <p:spPr>
          <a:xfrm>
            <a:off x="10871895" y="26151721"/>
            <a:ext cx="403066" cy="373380"/>
          </a:xfrm>
          <a:prstGeom prst="rect">
            <a:avLst/>
          </a:prstGeom>
          <a:noFill/>
          <a:ln/>
        </p:spPr>
        <p:txBody>
          <a:bodyPr wrap="square" lIns="0" tIns="0" rIns="0" bIns="0" rtlCol="0" anchor="t"/>
          <a:lstStyle/>
          <a:p>
            <a:pPr algn="l" indent="0" marL="0">
              <a:lnSpc>
                <a:spcPts val="2940"/>
              </a:lnSpc>
              <a:buNone/>
            </a:pPr>
            <a:r>
              <a:rPr lang="ja-JP" altLang="en-US" sz="2100" b="1" dirty="0">
                <a:solidFill>
                  <a:srgbClr val="222222"/>
                </a:solidFill>
                <a:latin typeface="游ゴシック" pitchFamily="34" charset="0"/>
                <a:ea typeface="游ゴシック" pitchFamily="34" charset="-122"/>
                <a:cs typeface="游ゴシック" pitchFamily="34" charset="-120"/>
              </a:rPr>
              <a:t>E4</a:t>
            </a:r>
            <a:endParaRPr lang="en-US" sz="2100" dirty="0"/>
          </a:p>
        </p:txBody>
      </p:sp>
      <p:sp>
        <p:nvSpPr>
          <p:cNvPr id="162" name="text p"/>
          <p:cNvSpPr txBox="1"/>
          <p:nvPr/>
        </p:nvSpPr>
        <p:spPr>
          <a:xfrm>
            <a:off x="11285637" y="26151721"/>
            <a:ext cx="9565521" cy="373380"/>
          </a:xfrm>
          <a:prstGeom prst="rect">
            <a:avLst/>
          </a:prstGeom>
          <a:noFill/>
          <a:ln/>
        </p:spPr>
        <p:txBody>
          <a:bodyPr wrap="square" lIns="0" tIns="0" rIns="0" bIns="0" rtlCol="0" anchor="t"/>
          <a:lstStyle/>
          <a:p>
            <a:pPr algn="l" indent="0" marL="0">
              <a:lnSpc>
                <a:spcPts val="2940"/>
              </a:lnSpc>
              <a:buNone/>
            </a:pPr>
            <a:r>
              <a:rPr lang="ja-JP" altLang="en-US" sz="2100" dirty="0">
                <a:solidFill>
                  <a:srgbClr val="222222"/>
                </a:solidFill>
                <a:latin typeface="游ゴシック Medium" pitchFamily="34" charset="0"/>
                <a:ea typeface="游ゴシック Medium" pitchFamily="34" charset="-122"/>
                <a:cs typeface="游ゴシック Medium" pitchFamily="34" charset="-120"/>
              </a:rPr>
              <a:t>工場の騒音を重ねて E1 を再実施</a:t>
            </a:r>
            <a:endParaRPr lang="en-US" sz="2100" dirty="0"/>
          </a:p>
        </p:txBody>
      </p:sp>
      <p:sp>
        <p:nvSpPr>
          <p:cNvPr id="163" name="text p.metric"/>
          <p:cNvSpPr txBox="1"/>
          <p:nvPr/>
        </p:nvSpPr>
        <p:spPr>
          <a:xfrm>
            <a:off x="10871895" y="26617732"/>
            <a:ext cx="9979263" cy="386715"/>
          </a:xfrm>
          <a:prstGeom prst="rect">
            <a:avLst/>
          </a:prstGeom>
          <a:noFill/>
          <a:ln/>
        </p:spPr>
        <p:txBody>
          <a:bodyPr wrap="square" lIns="0" tIns="0" rIns="0" bIns="0" rtlCol="0" anchor="t"/>
          <a:lstStyle/>
          <a:p>
            <a:pPr algn="l" indent="0" marL="0">
              <a:lnSpc>
                <a:spcPts val="3045"/>
              </a:lnSpc>
              <a:buNone/>
            </a:pPr>
            <a:r>
              <a:rPr lang="ja-JP" altLang="en-US" sz="2100" dirty="0">
                <a:solidFill>
                  <a:srgbClr val="222222"/>
                </a:solidFill>
                <a:latin typeface="游ゴシック Medium" pitchFamily="34" charset="0"/>
                <a:ea typeface="游ゴシック Medium" pitchFamily="34" charset="-122"/>
                <a:cs typeface="游ゴシック Medium" pitchFamily="34" charset="-120"/>
              </a:rPr>
              <a:t>指標は</a:t>
            </a:r>
            <a:pPr algn="l" indent="0" marL="0">
              <a:lnSpc>
                <a:spcPts val="3045"/>
              </a:lnSpc>
              <a:buNone/>
            </a:pPr>
            <a:r>
              <a:rPr lang="ja-JP" altLang="en-US" sz="2100" b="1" dirty="0">
                <a:solidFill>
                  <a:srgbClr val="222222"/>
                </a:solidFill>
                <a:latin typeface="游ゴシック" pitchFamily="34" charset="0"/>
                <a:ea typeface="游ゴシック" pitchFamily="34" charset="-122"/>
                <a:cs typeface="游ゴシック" pitchFamily="34" charset="-120"/>
              </a:rPr>
              <a:t>タスクの各欄が正しく登録された割合</a:t>
            </a:r>
            <a:pPr algn="l" indent="0" marL="0">
              <a:lnSpc>
                <a:spcPts val="3045"/>
              </a:lnSpc>
              <a:buNone/>
            </a:pPr>
            <a:r>
              <a:rPr lang="ja-JP" altLang="en-US" sz="2100" dirty="0">
                <a:solidFill>
                  <a:srgbClr val="222222"/>
                </a:solidFill>
                <a:latin typeface="游ゴシック Medium" pitchFamily="34" charset="0"/>
                <a:ea typeface="游ゴシック Medium" pitchFamily="34" charset="-122"/>
                <a:cs typeface="游ゴシック Medium" pitchFamily="34" charset="-120"/>
              </a:rPr>
              <a:t>とする。</a:t>
            </a:r>
            <a:endParaRPr lang="en-US" sz="2100" dirty="0"/>
          </a:p>
        </p:txBody>
      </p:sp>
      <p:sp>
        <p:nvSpPr>
          <p:cNvPr id="164" name="text h3"/>
          <p:cNvSpPr txBox="1"/>
          <p:nvPr/>
        </p:nvSpPr>
        <p:spPr>
          <a:xfrm>
            <a:off x="10871895" y="27131724"/>
            <a:ext cx="9979263" cy="402908"/>
          </a:xfrm>
          <a:prstGeom prst="rect">
            <a:avLst/>
          </a:prstGeom>
          <a:noFill/>
          <a:ln/>
        </p:spPr>
        <p:txBody>
          <a:bodyPr wrap="square" lIns="0" tIns="0" rIns="0" bIns="0" rtlCol="0" anchor="t"/>
          <a:lstStyle/>
          <a:p>
            <a:pPr algn="l" indent="0" marL="0">
              <a:lnSpc>
                <a:spcPts val="3172"/>
              </a:lnSpc>
              <a:buNone/>
            </a:pPr>
            <a:r>
              <a:rPr lang="ja-JP" altLang="en-US" sz="2350" b="1" dirty="0">
                <a:solidFill>
                  <a:srgbClr val="222222"/>
                </a:solidFill>
                <a:latin typeface="游ゴシック" pitchFamily="34" charset="0"/>
                <a:ea typeface="游ゴシック" pitchFamily="34" charset="-122"/>
                <a:cs typeface="游ゴシック" pitchFamily="34" charset="-120"/>
              </a:rPr>
              <a:t>7.5　課題と今後</a:t>
            </a:r>
            <a:endParaRPr lang="en-US" sz="2350" dirty="0"/>
          </a:p>
        </p:txBody>
      </p:sp>
      <p:sp>
        <p:nvSpPr>
          <p:cNvPr id="165" name="text li"/>
          <p:cNvSpPr txBox="1"/>
          <p:nvPr/>
        </p:nvSpPr>
        <p:spPr>
          <a:xfrm>
            <a:off x="10871865" y="27576026"/>
            <a:ext cx="9979293" cy="377507"/>
          </a:xfrm>
          <a:prstGeom prst="rect">
            <a:avLst/>
          </a:prstGeom>
          <a:noFill/>
          <a:ln/>
        </p:spPr>
        <p:txBody>
          <a:bodyPr wrap="square" lIns="0" tIns="0" rIns="0" bIns="0" rtlCol="0" anchor="t"/>
          <a:lstStyle/>
          <a:p>
            <a:pPr algn="l" marL="312420" indent="-312420">
              <a:lnSpc>
                <a:spcPts val="2972"/>
              </a:lnSpc>
              <a:buSzPct val="100000"/>
              <a:buChar char="•"/>
            </a:pPr>
            <a:r>
              <a:rPr lang="ja-JP" altLang="en-US" sz="2050" dirty="0">
                <a:solidFill>
                  <a:srgbClr val="222222"/>
                </a:solidFill>
                <a:latin typeface="游ゴシック Medium" pitchFamily="34" charset="0"/>
                <a:ea typeface="游ゴシック Medium" pitchFamily="34" charset="-122"/>
                <a:cs typeface="游ゴシック Medium" pitchFamily="34" charset="-120"/>
              </a:rPr>
              <a:t>現場での運用・多人数での同時利用は未検証</a:t>
            </a:r>
            <a:endParaRPr lang="en-US" sz="2050" dirty="0"/>
          </a:p>
        </p:txBody>
      </p:sp>
      <p:sp>
        <p:nvSpPr>
          <p:cNvPr id="166" name="text li"/>
          <p:cNvSpPr txBox="1"/>
          <p:nvPr/>
        </p:nvSpPr>
        <p:spPr>
          <a:xfrm>
            <a:off x="10871865" y="27982178"/>
            <a:ext cx="9979293" cy="377507"/>
          </a:xfrm>
          <a:prstGeom prst="rect">
            <a:avLst/>
          </a:prstGeom>
          <a:noFill/>
          <a:ln/>
        </p:spPr>
        <p:txBody>
          <a:bodyPr wrap="square" lIns="0" tIns="0" rIns="0" bIns="0" rtlCol="0" anchor="t"/>
          <a:lstStyle/>
          <a:p>
            <a:pPr algn="l" marL="312420" indent="-312420">
              <a:lnSpc>
                <a:spcPts val="2972"/>
              </a:lnSpc>
              <a:buSzPct val="100000"/>
              <a:buChar char="•"/>
            </a:pPr>
            <a:r>
              <a:rPr lang="ja-JP" altLang="en-US" sz="2050" dirty="0">
                <a:solidFill>
                  <a:srgbClr val="222222"/>
                </a:solidFill>
                <a:latin typeface="游ゴシック Medium" pitchFamily="34" charset="0"/>
                <a:ea typeface="游ゴシック Medium" pitchFamily="34" charset="-122"/>
                <a:cs typeface="游ゴシック Medium" pitchFamily="34" charset="-120"/>
              </a:rPr>
              <a:t>評価用の音声を複数の話者から集める</a:t>
            </a:r>
            <a:endParaRPr lang="en-US" sz="2050" dirty="0"/>
          </a:p>
        </p:txBody>
      </p:sp>
      <p:sp>
        <p:nvSpPr>
          <p:cNvPr id="167" name="line 166"/>
          <p:cNvSpPr/>
          <p:nvPr/>
        </p:nvSpPr>
        <p:spPr>
          <a:xfrm>
            <a:off x="575965" y="28585864"/>
            <a:ext cx="20231993" cy="0"/>
          </a:xfrm>
          <a:prstGeom prst="line">
            <a:avLst/>
          </a:prstGeom>
          <a:noFill/>
          <a:ln w="9525">
            <a:solidFill>
              <a:srgbClr val="999999"/>
            </a:solidFill>
            <a:prstDash val="solid"/>
          </a:ln>
        </p:spPr>
      </p:sp>
      <p:sp>
        <p:nvSpPr>
          <p:cNvPr id="168" name="text h2"/>
          <p:cNvSpPr txBox="1"/>
          <p:nvPr/>
        </p:nvSpPr>
        <p:spPr>
          <a:xfrm>
            <a:off x="575965" y="28653304"/>
            <a:ext cx="855950" cy="294640"/>
          </a:xfrm>
          <a:prstGeom prst="rect">
            <a:avLst/>
          </a:prstGeom>
          <a:noFill/>
          <a:ln/>
        </p:spPr>
        <p:txBody>
          <a:bodyPr wrap="square" lIns="0" tIns="0" rIns="0" bIns="0" rtlCol="0" anchor="t"/>
          <a:lstStyle/>
          <a:p>
            <a:pPr algn="l" indent="0" marL="0">
              <a:lnSpc>
                <a:spcPts val="2320"/>
              </a:lnSpc>
              <a:buNone/>
            </a:pPr>
            <a:r>
              <a:rPr lang="ja-JP" altLang="en-US" sz="1600" b="1" dirty="0">
                <a:solidFill>
                  <a:srgbClr val="222222"/>
                </a:solidFill>
                <a:latin typeface="游ゴシック" pitchFamily="34" charset="0"/>
                <a:ea typeface="游ゴシック" pitchFamily="34" charset="-122"/>
                <a:cs typeface="游ゴシック" pitchFamily="34" charset="-120"/>
              </a:rPr>
              <a:t>参考文献</a:t>
            </a:r>
            <a:endParaRPr lang="en-US" sz="1600" dirty="0"/>
          </a:p>
        </p:txBody>
      </p:sp>
      <p:sp>
        <p:nvSpPr>
          <p:cNvPr id="169" name="text li"/>
          <p:cNvSpPr txBox="1"/>
          <p:nvPr/>
        </p:nvSpPr>
        <p:spPr>
          <a:xfrm>
            <a:off x="1604616" y="28657431"/>
            <a:ext cx="9536847" cy="257810"/>
          </a:xfrm>
          <a:prstGeom prst="rect">
            <a:avLst/>
          </a:prstGeom>
          <a:noFill/>
          <a:ln/>
        </p:spPr>
        <p:txBody>
          <a:bodyPr wrap="square" lIns="0" tIns="0" rIns="0" bIns="0" rtlCol="0" anchor="t"/>
          <a:lstStyle/>
          <a:p>
            <a:pPr algn="l" marL="355600" indent="-355600">
              <a:lnSpc>
                <a:spcPts val="2030"/>
              </a:lnSpc>
              <a:buSzPct val="100000"/>
              <a:buFont typeface="+mj-lt"/>
              <a:buAutoNum type="arabicPeriod" startAt="1"/>
            </a:pPr>
            <a:r>
              <a:rPr lang="ja-JP" altLang="en-US" sz="1400" dirty="0">
                <a:solidFill>
                  <a:srgbClr val="555555"/>
                </a:solidFill>
                <a:latin typeface="游ゴシック Medium" pitchFamily="34" charset="0"/>
                <a:ea typeface="游ゴシック Medium" pitchFamily="34" charset="-122"/>
                <a:cs typeface="游ゴシック Medium" pitchFamily="34" charset="-120"/>
              </a:rPr>
              <a:t>本多淳也, 中村篤祥, 『バンディット問題の理論とアルゴリズム』, 講談社, 2016.</a:t>
            </a:r>
            <a:endParaRPr lang="en-US" sz="1400" dirty="0"/>
          </a:p>
        </p:txBody>
      </p:sp>
      <p:sp>
        <p:nvSpPr>
          <p:cNvPr id="170" name="text li"/>
          <p:cNvSpPr txBox="1"/>
          <p:nvPr/>
        </p:nvSpPr>
        <p:spPr>
          <a:xfrm>
            <a:off x="1604616" y="28915201"/>
            <a:ext cx="9536847" cy="257810"/>
          </a:xfrm>
          <a:prstGeom prst="rect">
            <a:avLst/>
          </a:prstGeom>
          <a:noFill/>
          <a:ln/>
        </p:spPr>
        <p:txBody>
          <a:bodyPr wrap="square" lIns="0" tIns="0" rIns="0" bIns="0" rtlCol="0" anchor="t"/>
          <a:lstStyle/>
          <a:p>
            <a:pPr algn="l" marL="355600" indent="-355600">
              <a:lnSpc>
                <a:spcPts val="2030"/>
              </a:lnSpc>
              <a:buSzPct val="100000"/>
              <a:buFont typeface="+mj-lt"/>
              <a:buAutoNum type="arabicPeriod" startAt="2"/>
            </a:pPr>
            <a:r>
              <a:rPr lang="ja-JP" altLang="en-US" sz="1400" dirty="0">
                <a:solidFill>
                  <a:srgbClr val="555555"/>
                </a:solidFill>
                <a:latin typeface="游ゴシック Medium" pitchFamily="34" charset="0"/>
                <a:ea typeface="游ゴシック Medium" pitchFamily="34" charset="-122"/>
                <a:cs typeface="游ゴシック Medium" pitchFamily="34" charset="-120"/>
              </a:rPr>
              <a:t>河原達也, 三村正人, 「大規模事前学習モデルに基づく音声認識」, 日本音響学会誌, 79(9), pp. 455–460, 2023.</a:t>
            </a:r>
            <a:endParaRPr lang="en-US" sz="1400" dirty="0"/>
          </a:p>
        </p:txBody>
      </p:sp>
      <p:sp>
        <p:nvSpPr>
          <p:cNvPr id="171" name="text li"/>
          <p:cNvSpPr txBox="1"/>
          <p:nvPr/>
        </p:nvSpPr>
        <p:spPr>
          <a:xfrm>
            <a:off x="1604616" y="29172951"/>
            <a:ext cx="9536847" cy="515621"/>
          </a:xfrm>
          <a:prstGeom prst="rect">
            <a:avLst/>
          </a:prstGeom>
          <a:noFill/>
          <a:ln/>
        </p:spPr>
        <p:txBody>
          <a:bodyPr wrap="square" lIns="0" tIns="0" rIns="0" bIns="0" rtlCol="0" anchor="t"/>
          <a:lstStyle/>
          <a:p>
            <a:pPr algn="l" marL="355600" indent="-355600">
              <a:lnSpc>
                <a:spcPts val="2030"/>
              </a:lnSpc>
              <a:buSzPct val="100000"/>
              <a:buFont typeface="+mj-lt"/>
              <a:buAutoNum type="arabicPeriod" startAt="3"/>
            </a:pPr>
            <a:r>
              <a:rPr lang="ja-JP" altLang="en-US" sz="1400" dirty="0">
                <a:solidFill>
                  <a:srgbClr val="555555"/>
                </a:solidFill>
                <a:latin typeface="游ゴシック Medium" pitchFamily="34" charset="0"/>
                <a:ea typeface="游ゴシック Medium" pitchFamily="34" charset="-122"/>
                <a:cs typeface="游ゴシック Medium" pitchFamily="34" charset="-120"/>
              </a:rPr>
              <a:t>周藤唯, M. Shakeel, Y. Peng, 渡部晋治, 「動的な語彙拡張を用いた End-to-end 音声認識の文脈適応」, 人工知能学会第二種研究会資料, SIG-Challenge-066-05, 2024.</a:t>
            </a:r>
            <a:endParaRPr lang="en-US" sz="1400" dirty="0"/>
          </a:p>
        </p:txBody>
      </p:sp>
      <p:sp>
        <p:nvSpPr>
          <p:cNvPr id="172" name="text li"/>
          <p:cNvSpPr txBox="1"/>
          <p:nvPr/>
        </p:nvSpPr>
        <p:spPr>
          <a:xfrm>
            <a:off x="11314162" y="28657411"/>
            <a:ext cx="9536995" cy="515621"/>
          </a:xfrm>
          <a:prstGeom prst="rect">
            <a:avLst/>
          </a:prstGeom>
          <a:noFill/>
          <a:ln/>
        </p:spPr>
        <p:txBody>
          <a:bodyPr wrap="square" lIns="0" tIns="0" rIns="0" bIns="0" rtlCol="0" anchor="t"/>
          <a:lstStyle/>
          <a:p>
            <a:pPr algn="l" marL="355600" indent="-355600">
              <a:lnSpc>
                <a:spcPts val="2030"/>
              </a:lnSpc>
              <a:buSzPct val="100000"/>
              <a:buFont typeface="+mj-lt"/>
              <a:buAutoNum type="arabicPeriod" startAt="4"/>
            </a:pPr>
            <a:r>
              <a:rPr lang="ja-JP" altLang="en-US" sz="1400" dirty="0">
                <a:solidFill>
                  <a:srgbClr val="555555"/>
                </a:solidFill>
                <a:latin typeface="游ゴシック Medium" pitchFamily="34" charset="0"/>
                <a:ea typeface="游ゴシック Medium" pitchFamily="34" charset="-122"/>
                <a:cs typeface="游ゴシック Medium" pitchFamily="34" charset="-120"/>
              </a:rPr>
              <a:t>佐藤文一, 吉永直樹, 豊田正史, 喜連川優, 「プロンプトと複数の音声認識候補による青空文庫振り仮名注釈付き音声コーパスの再構築」, 言語処理学会第 31 回年次大会, B8-5, 2025.</a:t>
            </a:r>
            <a:endParaRPr lang="en-US" sz="1400" dirty="0"/>
          </a:p>
        </p:txBody>
      </p:sp>
      <p:sp>
        <p:nvSpPr>
          <p:cNvPr id="173" name="text li"/>
          <p:cNvSpPr txBox="1"/>
          <p:nvPr/>
        </p:nvSpPr>
        <p:spPr>
          <a:xfrm>
            <a:off x="11314162" y="29172951"/>
            <a:ext cx="9536995" cy="515621"/>
          </a:xfrm>
          <a:prstGeom prst="rect">
            <a:avLst/>
          </a:prstGeom>
          <a:noFill/>
          <a:ln/>
        </p:spPr>
        <p:txBody>
          <a:bodyPr wrap="square" lIns="0" tIns="0" rIns="0" bIns="0" rtlCol="0" anchor="t"/>
          <a:lstStyle/>
          <a:p>
            <a:pPr algn="l" marL="355600" indent="-355600">
              <a:lnSpc>
                <a:spcPts val="2030"/>
              </a:lnSpc>
              <a:buSzPct val="100000"/>
              <a:buFont typeface="+mj-lt"/>
              <a:buAutoNum type="arabicPeriod" startAt="5"/>
            </a:pPr>
            <a:r>
              <a:rPr lang="ja-JP" altLang="en-US" sz="1400" dirty="0">
                <a:solidFill>
                  <a:srgbClr val="555555"/>
                </a:solidFill>
                <a:latin typeface="游ゴシック Medium" pitchFamily="34" charset="0"/>
                <a:ea typeface="游ゴシック Medium" pitchFamily="34" charset="-122"/>
                <a:cs typeface="游ゴシック Medium" pitchFamily="34" charset="-120"/>
              </a:rPr>
              <a:t>後藤真孝, 緒方淳, 江渡浩一郎, 「PodCastle: ユーザ貢献により性能が向上する音声情報検索システム」, 人工知能学会論文誌, 25(1), 2010.</a:t>
            </a:r>
            <a:endParaRPr lang="en-US" sz="1400" dirty="0"/>
          </a:p>
        </p:txBody>
      </p:sp>
      <p:sp>
        <p:nvSpPr>
          <p:cNvPr id="174" name="text li"/>
          <p:cNvSpPr txBox="1"/>
          <p:nvPr/>
        </p:nvSpPr>
        <p:spPr>
          <a:xfrm>
            <a:off x="11314162" y="29688512"/>
            <a:ext cx="9536995" cy="257810"/>
          </a:xfrm>
          <a:prstGeom prst="rect">
            <a:avLst/>
          </a:prstGeom>
          <a:noFill/>
          <a:ln/>
        </p:spPr>
        <p:txBody>
          <a:bodyPr wrap="square" lIns="0" tIns="0" rIns="0" bIns="0" rtlCol="0" anchor="t"/>
          <a:lstStyle/>
          <a:p>
            <a:pPr algn="l" marL="355600" indent="-355600">
              <a:lnSpc>
                <a:spcPts val="2030"/>
              </a:lnSpc>
              <a:buSzPct val="100000"/>
              <a:buFont typeface="+mj-lt"/>
              <a:buAutoNum type="arabicPeriod" startAt="6"/>
            </a:pPr>
            <a:r>
              <a:rPr lang="ja-JP" altLang="en-US" sz="1400" dirty="0">
                <a:solidFill>
                  <a:srgbClr val="555555"/>
                </a:solidFill>
                <a:latin typeface="游ゴシック Medium" pitchFamily="34" charset="0"/>
                <a:ea typeface="游ゴシック Medium" pitchFamily="34" charset="-122"/>
                <a:cs typeface="游ゴシック Medium" pitchFamily="34" charset="-120"/>
              </a:rPr>
              <a:t>石川開, 隅田英一郎, 「テキストデータを使った音声認識誤りの訂正」, 自然言語処理, 7(4), pp. 205–227, 2000.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中小製造業の共有機材運用を支援する現場連動型タスク管理システム</dc:title>
  <dc:subject>PptxGenJS Presentation</dc:subject>
  <dc:creator>増永 惺真</dc:creator>
  <cp:lastModifiedBy>増永 惺真</cp:lastModifiedBy>
  <cp:revision>1</cp:revision>
  <dcterms:created xsi:type="dcterms:W3CDTF">2026-10-07T23:34:35Z</dcterms:created>
  <dcterms:modified xsi:type="dcterms:W3CDTF">2026-10-07T23:34:35Z</dcterms:modified>
</cp:coreProperties>
</file>