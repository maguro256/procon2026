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FA173BF8-C88D-78A4-8255-395DB6A9288C}">
          <p14:sldIdLst>
            <p14:sldId id="256"/>
          </p14:sldIdLst>
        </p14:section>
        <p14:section name="1. 現状の問題点" id="{F0D5E312-5581-BC8F-8D54-3237DBBEA88A}">
          <p14:sldIdLst>
            <p14:sldId id="257"/>
          </p14:sldIdLst>
        </p14:section>
        <p14:section name="2. 本システムの目的" id="{B8933D70-5BAD-6673-3A19-C8FAA20ED58F}">
          <p14:sldIdLst>
            <p14:sldId id="258"/>
          </p14:sldIdLst>
        </p14:section>
        <p14:section name="3. システムの概要" id="{A630CF64-8EF9-431B-57D2-80FB0216A24A}">
          <p14:sldIdLst>
            <p14:sldId id="259"/>
            <p14:sldId id="260"/>
          </p14:sldIdLst>
        </p14:section>
        <p14:section name="4. システム導入のメリット" id="{A5F5482A-2371-45FD-38C6-56F32FAC011C}">
          <p14:sldIdLst>
            <p14:sldId id="261"/>
            <p14:sldId id="262"/>
            <p14:sldId id="263"/>
          </p14:sldIdLst>
        </p14:section>
        <p14:section name="5. ユースケース" id="{B0A4A62F-753F-C65C-E6BA-647323FBE346}">
          <p14:sldIdLst>
            <p14:sldId id="264"/>
          </p14:sldIdLst>
        </p14:section>
        <p14:section name="6. AI の妥当性" id="{6121E65A-2F3D-3CD3-D8F5-BC4E3ACFF1DF}">
          <p14:sldIdLst>
            <p14:sldId id="265"/>
            <p14:sldId id="266"/>
          </p14:sldIdLst>
        </p14:section>
        <p14:section name="7. まとめと今後の展望" id="{46E1A5A1-B24C-0CC0-DF52-11DF60A68D47}">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404" autoAdjust="0"/>
  </p:normalViewPr>
  <p:slideViewPr>
    <p:cSldViewPr snapToGrid="0" snapToObjects="1">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title>
      <c:tx>
        <c:rich>
          <a:bodyPr/>
          <a:lstStyle/>
          <a:p>
            <a:pPr>
              <a:defRPr sz="1400" b="0" i="0" u="none" strike="noStrike">
                <a:solidFill>
                  <a:srgbClr val="52514E"/>
                </a:solidFill>
                <a:latin typeface="+mn-lt"/>
              </a:defRPr>
            </a:pPr>
            <a:r>
              <a:rPr lang="ja-JP" altLang="en-US" sz="1400" b="0" i="0" u="none" strike="noStrike">
                <a:solidFill>
                  <a:srgbClr val="52514E"/>
                </a:solidFill>
                <a:latin typeface="+mn-lt"/>
              </a:rPr>
              <a:t>全員の作業が終わるまでの時間 </a:t>
            </a:r>
            <a:r>
              <a:rPr lang="en-US" altLang="ja-JP" sz="1400" b="0" i="0" u="none" strike="noStrike" dirty="0">
                <a:solidFill>
                  <a:srgbClr val="52514E"/>
                </a:solidFill>
                <a:latin typeface="+mn-lt"/>
              </a:rPr>
              <a:t>[</a:t>
            </a:r>
            <a:r>
              <a:rPr lang="ja-JP" altLang="en-US" sz="1400" b="0" i="0" u="none" strike="noStrike">
                <a:solidFill>
                  <a:srgbClr val="52514E"/>
                </a:solidFill>
                <a:latin typeface="+mn-lt"/>
              </a:rPr>
              <a:t>分</a:t>
            </a:r>
            <a:r>
              <a:rPr lang="en-US" altLang="ja-JP" sz="1400" b="0" i="0" u="none" strike="noStrike" dirty="0">
                <a:solidFill>
                  <a:srgbClr val="52514E"/>
                </a:solidFill>
                <a:latin typeface="+mn-lt"/>
              </a:rPr>
              <a:t>]</a:t>
            </a:r>
            <a:r>
              <a:rPr lang="ja-JP" altLang="en-US" sz="1400" b="0" i="0" u="none" strike="noStrike">
                <a:solidFill>
                  <a:srgbClr val="52514E"/>
                </a:solidFill>
                <a:latin typeface="+mn-lt"/>
              </a:rPr>
              <a:t>（短いほど良い）</a:t>
            </a:r>
          </a:p>
        </c:rich>
      </c:tx>
      <c:overlay val="0"/>
    </c:title>
    <c:autoTitleDeleted val="0"/>
    <c:plotArea>
      <c:layout/>
      <c:barChart>
        <c:barDir val="bar"/>
        <c:grouping val="clustered"/>
        <c:varyColors val="0"/>
        <c:ser>
          <c:idx val="0"/>
          <c:order val="0"/>
          <c:tx>
            <c:strRef>
              <c:f>Sheet1!$B$1</c:f>
              <c:strCache>
                <c:ptCount val="1"/>
                <c:pt idx="0">
                  <c:v>完了時間 [分]</c:v>
                </c:pt>
              </c:strCache>
            </c:strRef>
          </c:tx>
          <c:spPr>
            <a:solidFill>
              <a:srgbClr val="8A8984"/>
            </a:solidFill>
            <a:effectLst/>
          </c:spPr>
          <c:invertIfNegative val="0"/>
          <c:dPt>
            <c:idx val="0"/>
            <c:invertIfNegative val="0"/>
            <c:bubble3D val="0"/>
            <c:spPr>
              <a:solidFill>
                <a:srgbClr val="8A8984"/>
              </a:solidFill>
              <a:effectLst/>
            </c:spPr>
            <c:extLst>
              <c:ext xmlns:c16="http://schemas.microsoft.com/office/drawing/2014/chart" uri="{C3380CC4-5D6E-409C-BE32-E72D297353CC}">
                <c16:uniqueId val="{00000001-F9D2-4659-B29A-C7A02883BC59}"/>
              </c:ext>
            </c:extLst>
          </c:dPt>
          <c:dPt>
            <c:idx val="1"/>
            <c:invertIfNegative val="0"/>
            <c:bubble3D val="0"/>
            <c:spPr>
              <a:solidFill>
                <a:srgbClr val="8A8984"/>
              </a:solidFill>
              <a:effectLst/>
            </c:spPr>
            <c:extLst>
              <c:ext xmlns:c16="http://schemas.microsoft.com/office/drawing/2014/chart" uri="{C3380CC4-5D6E-409C-BE32-E72D297353CC}">
                <c16:uniqueId val="{00000003-F9D2-4659-B29A-C7A02883BC59}"/>
              </c:ext>
            </c:extLst>
          </c:dPt>
          <c:dPt>
            <c:idx val="2"/>
            <c:invertIfNegative val="0"/>
            <c:bubble3D val="0"/>
            <c:spPr>
              <a:solidFill>
                <a:srgbClr val="8A8984"/>
              </a:solidFill>
              <a:effectLst/>
            </c:spPr>
            <c:extLst>
              <c:ext xmlns:c16="http://schemas.microsoft.com/office/drawing/2014/chart" uri="{C3380CC4-5D6E-409C-BE32-E72D297353CC}">
                <c16:uniqueId val="{00000005-F9D2-4659-B29A-C7A02883BC59}"/>
              </c:ext>
            </c:extLst>
          </c:dPt>
          <c:dPt>
            <c:idx val="3"/>
            <c:invertIfNegative val="0"/>
            <c:bubble3D val="0"/>
            <c:spPr>
              <a:solidFill>
                <a:srgbClr val="2A78D6"/>
              </a:solidFill>
              <a:effectLst/>
            </c:spPr>
            <c:extLst>
              <c:ext xmlns:c16="http://schemas.microsoft.com/office/drawing/2014/chart" uri="{C3380CC4-5D6E-409C-BE32-E72D297353CC}">
                <c16:uniqueId val="{00000007-F9D2-4659-B29A-C7A02883BC59}"/>
              </c:ext>
            </c:extLst>
          </c:dPt>
          <c:dPt>
            <c:idx val="4"/>
            <c:invertIfNegative val="0"/>
            <c:bubble3D val="0"/>
            <c:spPr>
              <a:solidFill>
                <a:srgbClr val="1F3A5F"/>
              </a:solidFill>
              <a:effectLst/>
            </c:spPr>
            <c:extLst>
              <c:ext xmlns:c16="http://schemas.microsoft.com/office/drawing/2014/chart" uri="{C3380CC4-5D6E-409C-BE32-E72D297353CC}">
                <c16:uniqueId val="{00000009-F9D2-4659-B29A-C7A02883BC59}"/>
              </c:ext>
            </c:extLst>
          </c:dPt>
          <c:dLbls>
            <c:numFmt formatCode="0.0" sourceLinked="0"/>
            <c:spPr>
              <a:noFill/>
              <a:ln>
                <a:noFill/>
              </a:ln>
              <a:effectLst/>
            </c:spPr>
            <c:txPr>
              <a:bodyPr/>
              <a:lstStyle/>
              <a:p>
                <a:pPr>
                  <a:defRPr sz="1400" b="0" i="0" u="none" strike="noStrike">
                    <a:solidFill>
                      <a:srgbClr val="1B1B1A"/>
                    </a:solidFill>
                    <a:latin typeface="+mn-lt"/>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経験年数が最長の人</c:v>
                </c:pt>
                <c:pt idx="1">
                  <c:v>ランダム</c:v>
                </c:pt>
                <c:pt idx="2">
                  <c:v>順番に回す</c:v>
                </c:pt>
                <c:pt idx="3">
                  <c:v>提案（Gemmba）</c:v>
                </c:pt>
                <c:pt idx="4">
                  <c:v>真の適性を知る割当（理想）</c:v>
                </c:pt>
              </c:strCache>
            </c:strRef>
          </c:cat>
          <c:val>
            <c:numRef>
              <c:f>Sheet1!$B$2:$B$6</c:f>
              <c:numCache>
                <c:formatCode>General</c:formatCode>
                <c:ptCount val="5"/>
                <c:pt idx="0">
                  <c:v>63.7</c:v>
                </c:pt>
                <c:pt idx="1">
                  <c:v>44.4</c:v>
                </c:pt>
                <c:pt idx="2">
                  <c:v>34.700000000000003</c:v>
                </c:pt>
                <c:pt idx="3">
                  <c:v>25.4</c:v>
                </c:pt>
                <c:pt idx="4">
                  <c:v>23.6</c:v>
                </c:pt>
              </c:numCache>
            </c:numRef>
          </c:val>
          <c:extLst>
            <c:ext xmlns:c16="http://schemas.microsoft.com/office/drawing/2014/chart" uri="{C3380CC4-5D6E-409C-BE32-E72D297353CC}">
              <c16:uniqueId val="{0000000A-F9D2-4659-B29A-C7A02883BC59}"/>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1B1A"/>
                </a:solidFill>
                <a:latin typeface="+mn-lt"/>
              </a:defRPr>
            </a:pPr>
            <a:endParaRPr lang="en-US"/>
          </a:p>
        </c:txPr>
        <c:crossAx val="2094734552"/>
        <c:crosses val="autoZero"/>
        <c:auto val="1"/>
        <c:lblAlgn val="ctr"/>
        <c:lblOffset val="100"/>
        <c:noMultiLvlLbl val="1"/>
      </c:catAx>
      <c:valAx>
        <c:axId val="2094734552"/>
        <c:scaling>
          <c:orientation val="minMax"/>
          <c:max val="70"/>
          <c:min val="0"/>
        </c:scaling>
        <c:delete val="1"/>
        <c:axPos val="t"/>
        <c:numFmt formatCode="General" sourceLinked="0"/>
        <c:majorTickMark val="out"/>
        <c:minorTickMark val="none"/>
        <c:tickLblPos val="low"/>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961011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a:t>
            </a:r>
            <a:r>
              <a:rPr lang="ja-JP" altLang="en-US"/>
              <a:t>目安 </a:t>
            </a:r>
            <a:r>
              <a:rPr lang="en-US" altLang="ja-JP"/>
              <a:t>30 </a:t>
            </a:r>
            <a:r>
              <a:rPr lang="ja-JP" altLang="en-US"/>
              <a:t>秒</a:t>
            </a:r>
            <a:r>
              <a:rPr lang="en-US" altLang="ja-JP"/>
              <a:t>】</a:t>
            </a:r>
          </a:p>
          <a:p>
            <a:r>
              <a:rPr lang="ja-JP" altLang="en-US"/>
              <a:t>（チーム名・名前）です。よろしくお願いします。</a:t>
            </a:r>
          </a:p>
          <a:p>
            <a:r>
              <a:rPr lang="ja-JP" altLang="en-US"/>
              <a:t>私たちは、中小企業向けの </a:t>
            </a:r>
            <a:r>
              <a:rPr lang="en-US" altLang="ja-JP"/>
              <a:t>DX </a:t>
            </a:r>
            <a:r>
              <a:rPr lang="ja-JP" altLang="en-US"/>
              <a:t>推進システム「</a:t>
            </a:r>
            <a:r>
              <a:rPr lang="en-US" altLang="ja-JP"/>
              <a:t>Gemmba</a:t>
            </a:r>
            <a:r>
              <a:rPr lang="ja-JP" altLang="en-US"/>
              <a:t>」を開発しました。</a:t>
            </a:r>
          </a:p>
          <a:p>
            <a:r>
              <a:rPr lang="en-US" altLang="ja-JP"/>
              <a:t>Gemmba </a:t>
            </a:r>
            <a:r>
              <a:rPr lang="ja-JP" altLang="en-US"/>
              <a:t>は、従業員が腕に着けた腕輪型デバイスを工場の機材にタッチするだけで、その人が今やるべき仕事を自動で割り当てるシステムです。</a:t>
            </a:r>
          </a:p>
          <a:p>
            <a:r>
              <a:rPr lang="ja-JP" altLang="en-US"/>
              <a:t>本日は、現状の問題点、本システムの目的と概要、導入のメリット、ユースケース、</a:t>
            </a:r>
            <a:r>
              <a:rPr lang="en-US" altLang="ja-JP"/>
              <a:t>AI </a:t>
            </a:r>
            <a:r>
              <a:rPr lang="ja-JP" altLang="en-US"/>
              <a:t>の妥当性、そして最後にまとめと今後の展望の順にお話しします。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a:t>
            </a:r>
            <a:r>
              <a:rPr lang="ja-JP" altLang="en-US"/>
              <a:t>目安 </a:t>
            </a:r>
            <a:r>
              <a:rPr lang="en-US" altLang="ja-JP"/>
              <a:t>1 </a:t>
            </a:r>
            <a:r>
              <a:rPr lang="ja-JP" altLang="en-US"/>
              <a:t>分</a:t>
            </a:r>
            <a:r>
              <a:rPr lang="en-US" altLang="ja-JP"/>
              <a:t>】</a:t>
            </a:r>
          </a:p>
          <a:p>
            <a:r>
              <a:rPr lang="ja-JP" altLang="en-US"/>
              <a:t>まず、現状の問題点です。</a:t>
            </a:r>
          </a:p>
          <a:p>
            <a:r>
              <a:rPr lang="ja-JP" altLang="en-US"/>
              <a:t>私たちが対象にしたのは、レーザー加工機や旋盤、プレス機などの機材を、複数の人で共有している中小工場です。こうした工場には、専任の </a:t>
            </a:r>
            <a:r>
              <a:rPr lang="en-US" altLang="ja-JP"/>
              <a:t>IT </a:t>
            </a:r>
            <a:r>
              <a:rPr lang="ja-JP" altLang="en-US"/>
              <a:t>担当者がいないことが多くあります。</a:t>
            </a:r>
          </a:p>
          <a:p>
            <a:r>
              <a:rPr lang="ja-JP" altLang="en-US"/>
              <a:t>このような現場では、大きく三つの問題が起きています。</a:t>
            </a:r>
          </a:p>
          <a:p>
            <a:r>
              <a:rPr lang="ja-JP" altLang="en-US"/>
              <a:t>一つ目は、使用状況が見えないことです。誰がどの機材を何に使っているのかが分からず、機材を予約したのに実際には来ない、ということも起こります。</a:t>
            </a:r>
          </a:p>
          <a:p>
            <a:r>
              <a:rPr lang="ja-JP" altLang="en-US"/>
              <a:t>二つ目は、仕事が偏ることです。仕事が特定のベテランに集中したり、急ぎの仕事が後回しにされたり、忘れられたりします。</a:t>
            </a:r>
          </a:p>
          <a:p>
            <a:r>
              <a:rPr lang="ja-JP" altLang="en-US"/>
              <a:t>三つ目は、探す・聞く手間です。空いている機材や次の仕事を探して歩き回り、仕事のたびに管理者に聞きに行ったり、報告したりしなければなりません。</a:t>
            </a:r>
          </a:p>
          <a:p>
            <a:r>
              <a:rPr lang="ja-JP" altLang="en-US"/>
              <a:t>これらはいずれも、管理側と従業員側がうまく連携を取れていないことから起きており、現場の貴重な時間を奪っています。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a:t>
            </a:r>
            <a:r>
              <a:rPr lang="ja-JP" altLang="en-US"/>
              <a:t>目安 </a:t>
            </a:r>
            <a:r>
              <a:rPr lang="en-US" altLang="ja-JP"/>
              <a:t>1 </a:t>
            </a:r>
            <a:r>
              <a:rPr lang="ja-JP" altLang="en-US"/>
              <a:t>分</a:t>
            </a:r>
            <a:r>
              <a:rPr lang="en-US" altLang="ja-JP"/>
              <a:t>】</a:t>
            </a:r>
          </a:p>
          <a:p>
            <a:r>
              <a:rPr lang="ja-JP" altLang="en-US"/>
              <a:t>そこで本システムの目的は、こうした現場の無駄をなくし、人と仕事を最適に結び付けることです。</a:t>
            </a:r>
          </a:p>
          <a:p>
            <a:r>
              <a:rPr lang="ja-JP" altLang="en-US"/>
              <a:t>先ほどの三つの問題に対応して、</a:t>
            </a:r>
            <a:r>
              <a:rPr lang="en-US" altLang="ja-JP"/>
              <a:t>Gemmba </a:t>
            </a:r>
            <a:r>
              <a:rPr lang="ja-JP" altLang="en-US"/>
              <a:t>は次の三つを実現します。</a:t>
            </a:r>
          </a:p>
          <a:p>
            <a:r>
              <a:rPr lang="ja-JP" altLang="en-US"/>
              <a:t>「使用状況が見えない」という問題には、機材と人の状況を常に正しく見える化することで応えます。</a:t>
            </a:r>
          </a:p>
          <a:p>
            <a:r>
              <a:rPr lang="ja-JP" altLang="en-US"/>
              <a:t>「仕事が偏る・忘れられる」という問題には、実績データをもとに、偏りなく最適な人へ仕事を割り当てることで応えます。</a:t>
            </a:r>
          </a:p>
          <a:p>
            <a:r>
              <a:rPr lang="ja-JP" altLang="en-US"/>
              <a:t>「探す・聞く手間」には、腕輪をタッチした瞬間に、その場でやるべき仕事を示すことで応えます。</a:t>
            </a:r>
          </a:p>
          <a:p>
            <a:r>
              <a:rPr lang="ja-JP" altLang="en-US"/>
              <a:t>そのための設計方針として、遠隔予約はあえて作らない、操作はタッチとボタンだけにする、</a:t>
            </a:r>
            <a:r>
              <a:rPr lang="en-US" altLang="ja-JP"/>
              <a:t>IT </a:t>
            </a:r>
            <a:r>
              <a:rPr lang="ja-JP" altLang="en-US"/>
              <a:t>担当者がいなくても導入できる、の三つを決めました。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a:t>
            </a:r>
            <a:r>
              <a:rPr lang="ja-JP" altLang="en-US"/>
              <a:t>目安 </a:t>
            </a:r>
            <a:r>
              <a:rPr lang="en-US" altLang="ja-JP"/>
              <a:t>1 </a:t>
            </a:r>
            <a:r>
              <a:rPr lang="ja-JP" altLang="en-US"/>
              <a:t>分 </a:t>
            </a:r>
            <a:r>
              <a:rPr lang="en-US" altLang="ja-JP"/>
              <a:t>15 </a:t>
            </a:r>
            <a:r>
              <a:rPr lang="ja-JP" altLang="en-US"/>
              <a:t>秒</a:t>
            </a:r>
            <a:r>
              <a:rPr lang="en-US" altLang="ja-JP"/>
              <a:t>】</a:t>
            </a:r>
          </a:p>
          <a:p>
            <a:r>
              <a:rPr lang="ja-JP" altLang="en-US"/>
              <a:t>続いて、システムの概要です。</a:t>
            </a:r>
          </a:p>
          <a:p>
            <a:r>
              <a:rPr lang="en-US" altLang="ja-JP"/>
              <a:t>Gemmba </a:t>
            </a:r>
            <a:r>
              <a:rPr lang="ja-JP" altLang="en-US"/>
              <a:t>は三つの部分からできています。各機材に </a:t>
            </a:r>
            <a:r>
              <a:rPr lang="en-US" altLang="ja-JP"/>
              <a:t>1 </a:t>
            </a:r>
            <a:r>
              <a:rPr lang="ja-JP" altLang="en-US"/>
              <a:t>台ずつ取り付ける機材モジュール、データを管理するサーバ、そして管理者がブラウザで使う管理画面です。</a:t>
            </a:r>
          </a:p>
          <a:p>
            <a:r>
              <a:rPr lang="ja-JP" altLang="en-US"/>
              <a:t>機材モジュールには、</a:t>
            </a:r>
            <a:r>
              <a:rPr lang="en-US" altLang="ja-JP"/>
              <a:t>NFC </a:t>
            </a:r>
            <a:r>
              <a:rPr lang="ja-JP" altLang="en-US"/>
              <a:t>リーダー、画面、ボタン、</a:t>
            </a:r>
            <a:r>
              <a:rPr lang="en-US" altLang="ja-JP"/>
              <a:t>LED </a:t>
            </a:r>
            <a:r>
              <a:rPr lang="ja-JP" altLang="en-US"/>
              <a:t>が付いています。モジュールとサーバは </a:t>
            </a:r>
            <a:r>
              <a:rPr lang="en-US" altLang="ja-JP"/>
              <a:t>MQTT </a:t>
            </a:r>
            <a:r>
              <a:rPr lang="ja-JP" altLang="en-US"/>
              <a:t>という軽量な通信方式でつながっていて、腕輪をタッチすると、その情報がすぐにサーバへ届きます。そして、サーバの中にある割当 </a:t>
            </a:r>
            <a:r>
              <a:rPr lang="en-US" altLang="ja-JP"/>
              <a:t>AI </a:t>
            </a:r>
            <a:r>
              <a:rPr lang="ja-JP" altLang="en-US"/>
              <a:t>が、誰にどの仕事を任せるかを決めます。</a:t>
            </a:r>
          </a:p>
          <a:p>
            <a:r>
              <a:rPr lang="ja-JP" altLang="en-US"/>
              <a:t>ポイントは、すべての操作が腕輪型デバイスのタッチから始まることです。従業員は、</a:t>
            </a:r>
            <a:r>
              <a:rPr lang="en-US" altLang="ja-JP"/>
              <a:t>IC </a:t>
            </a:r>
            <a:r>
              <a:rPr lang="ja-JP" altLang="en-US"/>
              <a:t>チップが埋め込まれた腕輪を、社員証の代わりに腕に着けています。カードを取り出す必要がないので、作業中でも手首をかざすだけで操作できます。</a:t>
            </a:r>
            <a:r>
              <a:rPr lang="en-US" altLang="ja-JP"/>
              <a:t>1 </a:t>
            </a:r>
            <a:r>
              <a:rPr lang="ja-JP" altLang="en-US"/>
              <a:t>回タッチするだけで、機材のロック、作業の開始や完了の報告、所要時間の記録までが済みます。</a:t>
            </a:r>
          </a:p>
          <a:p>
            <a:r>
              <a:rPr lang="ja-JP" altLang="en-US"/>
              <a:t>また、あえて遠隔予約の機能は作っていません。その場でタッチした人だけが機材を使えるので、画面上の状態と現場の実態が常に一致します。</a:t>
            </a:r>
          </a:p>
          <a:p>
            <a:r>
              <a:rPr lang="ja-JP" altLang="en-US"/>
              <a:t>右上の写真が私たちが試作した機材モジュール、右下が腕輪型デバイスです。</a:t>
            </a:r>
            <a:r>
              <a:rPr lang="en-US" altLang="ja-JP"/>
              <a:t>Raspberry Pi </a:t>
            </a:r>
            <a:r>
              <a:rPr lang="ja-JP" altLang="en-US"/>
              <a:t>と </a:t>
            </a:r>
            <a:r>
              <a:rPr lang="en-US" altLang="ja-JP"/>
              <a:t>NFC </a:t>
            </a:r>
            <a:r>
              <a:rPr lang="ja-JP" altLang="en-US"/>
              <a:t>リーダー、小型の画面といった、安価な汎用部品で作ることができます。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a:t>
            </a:r>
            <a:r>
              <a:rPr lang="ja-JP" altLang="en-US"/>
              <a:t>目安 </a:t>
            </a:r>
            <a:r>
              <a:rPr lang="en-US" altLang="ja-JP"/>
              <a:t>45 </a:t>
            </a:r>
            <a:r>
              <a:rPr lang="ja-JP" altLang="en-US"/>
              <a:t>秒</a:t>
            </a:r>
            <a:r>
              <a:rPr lang="en-US" altLang="ja-JP"/>
              <a:t>】</a:t>
            </a:r>
          </a:p>
          <a:p>
            <a:r>
              <a:rPr lang="ja-JP" altLang="en-US"/>
              <a:t>管理者は、ブラウザで管理画面を開いて現場の状況を確認します。</a:t>
            </a:r>
          </a:p>
          <a:p>
            <a:r>
              <a:rPr lang="ja-JP" altLang="en-US"/>
              <a:t>左のダッシュボードでは、どの機材が空いていて、どの機材を誰が使っているかが一目で分かります。右のタスク一覧では、各タスクの「</a:t>
            </a:r>
            <a:r>
              <a:rPr lang="en-US" altLang="ja-JP"/>
              <a:t>AI </a:t>
            </a:r>
            <a:r>
              <a:rPr lang="ja-JP" altLang="en-US"/>
              <a:t>割当」ボタンを押すと、誰に任せるのがよいかと、その根拠が表示されます。</a:t>
            </a:r>
          </a:p>
          <a:p>
            <a:r>
              <a:rPr lang="ja-JP" altLang="en-US"/>
              <a:t>タスクは、重要度・難易度・期限・数量を入力するだけで登録できます。新しい腕輪やモジュールは、タッチするだけで画面に現れるので、そのまま登録できます。また、通信が切れたモジュールもすぐに分かるように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a:t>
            </a:r>
            <a:r>
              <a:rPr lang="ja-JP" altLang="en-US"/>
              <a:t>目安 </a:t>
            </a:r>
            <a:r>
              <a:rPr lang="en-US" altLang="ja-JP"/>
              <a:t>1 </a:t>
            </a:r>
            <a:r>
              <a:rPr lang="ja-JP" altLang="en-US"/>
              <a:t>分</a:t>
            </a:r>
            <a:r>
              <a:rPr lang="en-US" altLang="ja-JP"/>
              <a:t>】</a:t>
            </a:r>
          </a:p>
          <a:p>
            <a:r>
              <a:rPr lang="ja-JP" altLang="en-US"/>
              <a:t>ここからは、システムを導入することで得られるメリットを、作業者、管理者、工場全体の三つの立場からご説明します。</a:t>
            </a:r>
          </a:p>
          <a:p>
            <a:r>
              <a:rPr lang="ja-JP" altLang="en-US"/>
              <a:t>まず、現場の作業者にとってのメリットです。</a:t>
            </a:r>
          </a:p>
          <a:p>
            <a:r>
              <a:rPr lang="ja-JP" altLang="en-US"/>
              <a:t>一つ目は、報告に行かなくてよくなることです。作業の開始と完了はタッチで自動的に記録されるので、わざわざ管理者のところへ報告しに行く必要がありません。</a:t>
            </a:r>
          </a:p>
          <a:p>
            <a:r>
              <a:rPr lang="ja-JP" altLang="en-US"/>
              <a:t>二つ目は、次の仕事を聞かなくてよくなることです。タッチした瞬間に、その場でやるべき仕事が画面に出るので、指示を待つ時間がなくなります。</a:t>
            </a:r>
          </a:p>
          <a:p>
            <a:r>
              <a:rPr lang="ja-JP" altLang="en-US"/>
              <a:t>三つ目は、機材を探して歩かなくてよくなることです。より重要な仕事がある機材へは、システムが案内してくれます。</a:t>
            </a:r>
          </a:p>
          <a:p>
            <a:r>
              <a:rPr lang="ja-JP" altLang="en-US"/>
              <a:t>四つ目は、自分に向いた仕事や新しい仕事が回ってくることです。得意な仕事を任されやすくなるだけでなく、新人にも経験を積む機会が回ってきます。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a:t>
            </a:r>
            <a:r>
              <a:rPr lang="ja-JP" altLang="en-US"/>
              <a:t>目安 </a:t>
            </a:r>
            <a:r>
              <a:rPr lang="en-US" altLang="ja-JP"/>
              <a:t>1 </a:t>
            </a:r>
            <a:r>
              <a:rPr lang="ja-JP" altLang="en-US"/>
              <a:t>分</a:t>
            </a:r>
            <a:r>
              <a:rPr lang="en-US" altLang="ja-JP"/>
              <a:t>】</a:t>
            </a:r>
          </a:p>
          <a:p>
            <a:r>
              <a:rPr lang="ja-JP" altLang="en-US"/>
              <a:t>次に、管理者にとってのメリットです。</a:t>
            </a:r>
          </a:p>
          <a:p>
            <a:r>
              <a:rPr lang="ja-JP" altLang="en-US"/>
              <a:t>一つ目は、今の状況がリアルタイムで分かることです。どの機材を誰が使い、何の仕事をしているかを、現場を見回らなくても画面で確認できます。</a:t>
            </a:r>
          </a:p>
          <a:p>
            <a:r>
              <a:rPr lang="ja-JP" altLang="en-US"/>
              <a:t>二つ目は、作業者の得意・不得意がデータで分かることです。作業ログから一人ひとりの向き・不向きが見えるので、教育や人の配置を考える参考になります。</a:t>
            </a:r>
          </a:p>
          <a:p>
            <a:r>
              <a:rPr lang="ja-JP" altLang="en-US"/>
              <a:t>三つ目は、割当を考える手間が減ることです。「</a:t>
            </a:r>
            <a:r>
              <a:rPr lang="en-US" altLang="ja-JP"/>
              <a:t>AI </a:t>
            </a:r>
            <a:r>
              <a:rPr lang="ja-JP" altLang="en-US"/>
              <a:t>割当」ボタンを押せば候補が出て、選んだ理由も表示されるので、納得して任せることができます。</a:t>
            </a:r>
          </a:p>
          <a:p>
            <a:r>
              <a:rPr lang="ja-JP" altLang="en-US"/>
              <a:t>四つ目は、機材をまとめて管理できることです。機材の登録から状態、通信の切断まで、一つの画面で把握できます。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a:t>
            </a:r>
            <a:r>
              <a:rPr lang="ja-JP" altLang="en-US"/>
              <a:t>目安 </a:t>
            </a:r>
            <a:r>
              <a:rPr lang="en-US" altLang="ja-JP"/>
              <a:t>1 </a:t>
            </a:r>
            <a:r>
              <a:rPr lang="ja-JP" altLang="en-US"/>
              <a:t>分</a:t>
            </a:r>
            <a:r>
              <a:rPr lang="en-US" altLang="ja-JP"/>
              <a:t>】</a:t>
            </a:r>
          </a:p>
          <a:p>
            <a:r>
              <a:rPr lang="ja-JP" altLang="en-US"/>
              <a:t>最後に、工場全体で見たメリットを、これまでのやり方と比べてまとめました。</a:t>
            </a:r>
          </a:p>
          <a:p>
            <a:r>
              <a:rPr lang="ja-JP" altLang="en-US"/>
              <a:t>機材の予約については、これまでは予約だけして来ないということがありましたが、</a:t>
            </a:r>
            <a:r>
              <a:rPr lang="en-US" altLang="ja-JP"/>
              <a:t>Gemmba </a:t>
            </a:r>
            <a:r>
              <a:rPr lang="ja-JP" altLang="en-US"/>
              <a:t>には遠隔予約がないので、そもそも起きません。</a:t>
            </a:r>
          </a:p>
          <a:p>
            <a:r>
              <a:rPr lang="ja-JP" altLang="en-US"/>
              <a:t>仕事の割り振りでは、ベテランへの集中や急ぎの仕事の忘れがありましたが、</a:t>
            </a:r>
            <a:r>
              <a:rPr lang="en-US" altLang="ja-JP"/>
              <a:t>Gemmba </a:t>
            </a:r>
            <a:r>
              <a:rPr lang="ja-JP" altLang="en-US"/>
              <a:t>は負荷を見て仕事を分散し、重要な仕事から提示します。</a:t>
            </a:r>
          </a:p>
          <a:p>
            <a:r>
              <a:rPr lang="ja-JP" altLang="en-US"/>
              <a:t>全体の作業時間については、これまでは一部の人が終わるまで全体が待っていましたが、シミュレーションでは </a:t>
            </a:r>
            <a:r>
              <a:rPr lang="en-US" altLang="ja-JP"/>
              <a:t>27% </a:t>
            </a:r>
            <a:r>
              <a:rPr lang="ja-JP" altLang="en-US"/>
              <a:t>から </a:t>
            </a:r>
            <a:r>
              <a:rPr lang="en-US" altLang="ja-JP"/>
              <a:t>60% </a:t>
            </a:r>
            <a:r>
              <a:rPr lang="ja-JP" altLang="en-US"/>
              <a:t>短くなりました。</a:t>
            </a:r>
          </a:p>
          <a:p>
            <a:r>
              <a:rPr lang="ja-JP" altLang="en-US"/>
              <a:t>技能の継承の面では、誰が何を得意かが勘と記憶頼みでしたが、作業ログとして記録が残ります。</a:t>
            </a:r>
          </a:p>
          <a:p>
            <a:r>
              <a:rPr lang="ja-JP" altLang="en-US"/>
              <a:t>そして導入・運用の面では、専任の </a:t>
            </a:r>
            <a:r>
              <a:rPr lang="en-US" altLang="ja-JP"/>
              <a:t>IT </a:t>
            </a:r>
            <a:r>
              <a:rPr lang="ja-JP" altLang="en-US"/>
              <a:t>担当者がいなくても、タッチだけで使え、既存の機材に後付けで導入できます。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a:t>
            </a:r>
            <a:r>
              <a:rPr lang="ja-JP" altLang="en-US"/>
              <a:t>目安 </a:t>
            </a:r>
            <a:r>
              <a:rPr lang="en-US" altLang="ja-JP"/>
              <a:t>1 </a:t>
            </a:r>
            <a:r>
              <a:rPr lang="ja-JP" altLang="en-US"/>
              <a:t>分 </a:t>
            </a:r>
            <a:r>
              <a:rPr lang="en-US" altLang="ja-JP"/>
              <a:t>30 </a:t>
            </a:r>
            <a:r>
              <a:rPr lang="ja-JP" altLang="en-US"/>
              <a:t>秒</a:t>
            </a:r>
            <a:r>
              <a:rPr lang="en-US" altLang="ja-JP"/>
              <a:t>】</a:t>
            </a:r>
          </a:p>
          <a:p>
            <a:r>
              <a:rPr lang="ja-JP" altLang="en-US"/>
              <a:t>では、実際にどのように使われるのかを、ある日の現場の流れで見ていきます。</a:t>
            </a:r>
          </a:p>
          <a:p>
            <a:r>
              <a:rPr lang="ja-JP" altLang="en-US"/>
              <a:t>まず朝、管理者が今日のタスクを管理画面で登録します。重要度や難易度、期限、数量が保存されます。</a:t>
            </a:r>
          </a:p>
          <a:p>
            <a:r>
              <a:rPr lang="ja-JP" altLang="en-US"/>
              <a:t>次に、作業者が空いている旋盤で腕輪をタッチします。すると割当 </a:t>
            </a:r>
            <a:r>
              <a:rPr lang="en-US" altLang="ja-JP"/>
              <a:t>AI </a:t>
            </a:r>
            <a:r>
              <a:rPr lang="ja-JP" altLang="en-US"/>
              <a:t>が、この人に向いている仕事を選んで画面に表示します。</a:t>
            </a:r>
          </a:p>
          <a:p>
            <a:r>
              <a:rPr lang="ja-JP" altLang="en-US"/>
              <a:t>作業者がボタンで承認すると、作業開始です。旋盤がロックされ、管理画面には「使用中」と担当者の名前が表示されます。</a:t>
            </a:r>
          </a:p>
          <a:p>
            <a:r>
              <a:rPr lang="ja-JP" altLang="en-US"/>
              <a:t>もし、別の機材にこの人宛てのより重要な仕事があれば、そちらへの移動を提案します。</a:t>
            </a:r>
          </a:p>
          <a:p>
            <a:r>
              <a:rPr lang="ja-JP" altLang="en-US"/>
              <a:t>作業が終わったら、もう一度タッチして、作業の難しさを答えます。所要時間が記録され、</a:t>
            </a:r>
            <a:r>
              <a:rPr lang="en-US" altLang="ja-JP"/>
              <a:t>AI </a:t>
            </a:r>
            <a:r>
              <a:rPr lang="ja-JP" altLang="en-US"/>
              <a:t>はこのデータから得意・不得意を学習します。</a:t>
            </a:r>
          </a:p>
          <a:p>
            <a:r>
              <a:rPr lang="ja-JP" altLang="en-US"/>
              <a:t>そして管理者は、画面で進捗と実績を確認し、偏りや遅れがあれば「</a:t>
            </a:r>
            <a:r>
              <a:rPr lang="en-US" altLang="ja-JP"/>
              <a:t>AI </a:t>
            </a:r>
            <a:r>
              <a:rPr lang="ja-JP" altLang="en-US"/>
              <a:t>割当」で割り振り直すことができます。</a:t>
            </a:r>
          </a:p>
          <a:p>
            <a:r>
              <a:rPr lang="ja-JP" altLang="en-US"/>
              <a:t>このように、作業者は機材の前で「タッチ」と「ボタン」を操作するだけです。報告や確認、次の仕事探しのために歩き回る必要はありません。</a:t>
            </a:r>
          </a:p>
          <a:p>
            <a:r>
              <a:rPr lang="ja-JP" altLang="en-US"/>
              <a:t>（デモを行う場合は、ここで実演する）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a:t>
            </a:r>
            <a:r>
              <a:rPr lang="ja-JP" altLang="en-US"/>
              <a:t>目安 </a:t>
            </a:r>
            <a:r>
              <a:rPr lang="en-US" altLang="ja-JP"/>
              <a:t>1 </a:t>
            </a:r>
            <a:r>
              <a:rPr lang="ja-JP" altLang="en-US"/>
              <a:t>分 </a:t>
            </a:r>
            <a:r>
              <a:rPr lang="en-US" altLang="ja-JP"/>
              <a:t>30 </a:t>
            </a:r>
            <a:r>
              <a:rPr lang="ja-JP" altLang="en-US"/>
              <a:t>秒</a:t>
            </a:r>
            <a:r>
              <a:rPr lang="en-US" altLang="ja-JP"/>
              <a:t>】</a:t>
            </a:r>
          </a:p>
          <a:p>
            <a:r>
              <a:rPr lang="ja-JP" altLang="en-US"/>
              <a:t>続いて、割当 </a:t>
            </a:r>
            <a:r>
              <a:rPr lang="en-US" altLang="ja-JP"/>
              <a:t>AI </a:t>
            </a:r>
            <a:r>
              <a:rPr lang="ja-JP" altLang="en-US"/>
              <a:t>の妥当性についてご説明します。まずは仕組みです。</a:t>
            </a:r>
          </a:p>
          <a:p>
            <a:r>
              <a:rPr lang="ja-JP" altLang="en-US"/>
              <a:t>割当 </a:t>
            </a:r>
            <a:r>
              <a:rPr lang="en-US" altLang="ja-JP"/>
              <a:t>AI </a:t>
            </a:r>
            <a:r>
              <a:rPr lang="ja-JP" altLang="en-US"/>
              <a:t>は、作業ログ、つまり実際にかかった時間と、作業者が答えた難しさから、一人ひとりの得意・不得意を学習します。</a:t>
            </a:r>
          </a:p>
          <a:p>
            <a:r>
              <a:rPr lang="ja-JP" altLang="en-US"/>
              <a:t>特徴は三つあります。</a:t>
            </a:r>
          </a:p>
          <a:p>
            <a:r>
              <a:rPr lang="ja-JP" altLang="en-US"/>
              <a:t>一つ目は、隠れた得意分野を見つけることです。経験年数だけでなく、実際の作業時間から向き・不向きを学びます。</a:t>
            </a:r>
          </a:p>
          <a:p>
            <a:r>
              <a:rPr lang="ja-JP" altLang="en-US"/>
              <a:t>二つ目は、新人にも機会を回すことです。実績の少ない人にも試しに仕事を任せて、得意かどうかを確かめます。</a:t>
            </a:r>
          </a:p>
          <a:p>
            <a:r>
              <a:rPr lang="ja-JP" altLang="en-US"/>
              <a:t>三つ目は、一人に仕事を集中させないことです。手持ちの仕事が多い人は点数を下げ、次に向いている人へ回します。</a:t>
            </a:r>
          </a:p>
          <a:p>
            <a:r>
              <a:rPr lang="ja-JP" altLang="en-US"/>
              <a:t>右の表は、溶接・難易度 </a:t>
            </a:r>
            <a:r>
              <a:rPr lang="en-US" altLang="ja-JP"/>
              <a:t>3 </a:t>
            </a:r>
            <a:r>
              <a:rPr lang="ja-JP" altLang="en-US"/>
              <a:t>のタスクで、</a:t>
            </a:r>
            <a:r>
              <a:rPr lang="en-US" altLang="ja-JP"/>
              <a:t>AI </a:t>
            </a:r>
            <a:r>
              <a:rPr lang="ja-JP" altLang="en-US"/>
              <a:t>が実際に出した割当の根拠です。期待値が最も高いのは勤続 </a:t>
            </a:r>
            <a:r>
              <a:rPr lang="en-US" altLang="ja-JP"/>
              <a:t>30 </a:t>
            </a:r>
            <a:r>
              <a:rPr lang="ja-JP" altLang="en-US"/>
              <a:t>年の人ですが、手持ちの仕事が </a:t>
            </a:r>
            <a:r>
              <a:rPr lang="en-US" altLang="ja-JP"/>
              <a:t>23 </a:t>
            </a:r>
            <a:r>
              <a:rPr lang="ja-JP" altLang="en-US"/>
              <a:t>分あるため、点数は </a:t>
            </a:r>
            <a:r>
              <a:rPr lang="en-US" altLang="ja-JP"/>
              <a:t>0.97 </a:t>
            </a:r>
            <a:r>
              <a:rPr lang="ja-JP" altLang="en-US"/>
              <a:t>に下がっています。そこで、手持ちがなく、溶接が </a:t>
            </a:r>
            <a:r>
              <a:rPr lang="en-US" altLang="ja-JP"/>
              <a:t>2 </a:t>
            </a:r>
            <a:r>
              <a:rPr lang="ja-JP" altLang="en-US"/>
              <a:t>番目に得意な勤続 </a:t>
            </a:r>
            <a:r>
              <a:rPr lang="en-US" altLang="ja-JP"/>
              <a:t>8 </a:t>
            </a:r>
            <a:r>
              <a:rPr lang="ja-JP" altLang="en-US"/>
              <a:t>年の人が選ばれました。</a:t>
            </a:r>
          </a:p>
          <a:p>
            <a:r>
              <a:rPr lang="ja-JP" altLang="en-US"/>
              <a:t>このように、「なぜこの人なのか」を管理者が確認できるので、</a:t>
            </a:r>
            <a:r>
              <a:rPr lang="en-US" altLang="ja-JP"/>
              <a:t>AI </a:t>
            </a:r>
            <a:r>
              <a:rPr lang="ja-JP" altLang="en-US"/>
              <a:t>の判断をうのみにせず、納得して使うことができます。</a:t>
            </a:r>
          </a:p>
          <a:p>
            <a:r>
              <a:rPr lang="ja-JP" altLang="en-US"/>
              <a:t>なお、手法としては文脈付きバンディットと呼ばれる方法で、ベイズ線形回帰と </a:t>
            </a:r>
            <a:r>
              <a:rPr lang="en-US" altLang="ja-JP"/>
              <a:t>Thompson Sampling </a:t>
            </a:r>
            <a:r>
              <a:rPr lang="ja-JP" altLang="en-US"/>
              <a:t>を組み合わせています。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a:t>
            </a:r>
            <a:r>
              <a:rPr lang="ja-JP" altLang="en-US"/>
              <a:t>目安 </a:t>
            </a:r>
            <a:r>
              <a:rPr lang="en-US" altLang="ja-JP" dirty="0"/>
              <a:t>1 </a:t>
            </a:r>
            <a:r>
              <a:rPr lang="ja-JP" altLang="en-US"/>
              <a:t>分 </a:t>
            </a:r>
            <a:r>
              <a:rPr lang="en-US" altLang="ja-JP" dirty="0"/>
              <a:t>30 </a:t>
            </a:r>
            <a:r>
              <a:rPr lang="ja-JP" altLang="en-US"/>
              <a:t>秒</a:t>
            </a:r>
            <a:r>
              <a:rPr lang="en-US" altLang="ja-JP" dirty="0"/>
              <a:t>】</a:t>
            </a:r>
          </a:p>
          <a:p>
            <a:r>
              <a:rPr lang="ja-JP" altLang="en-US"/>
              <a:t>次に、この </a:t>
            </a:r>
            <a:r>
              <a:rPr lang="en-US" altLang="ja-JP" dirty="0"/>
              <a:t>AI </a:t>
            </a:r>
            <a:r>
              <a:rPr lang="ja-JP" altLang="en-US"/>
              <a:t>の割当が本当に妥当なのかを、シミュレーションで確かめました。</a:t>
            </a:r>
          </a:p>
          <a:p>
            <a:r>
              <a:rPr lang="ja-JP" altLang="en-US"/>
              <a:t>設定は、勤続 </a:t>
            </a:r>
            <a:r>
              <a:rPr lang="en-US" altLang="ja-JP" dirty="0"/>
              <a:t>1 </a:t>
            </a:r>
            <a:r>
              <a:rPr lang="ja-JP" altLang="en-US"/>
              <a:t>年から </a:t>
            </a:r>
            <a:r>
              <a:rPr lang="en-US" altLang="ja-JP" dirty="0"/>
              <a:t>30 </a:t>
            </a:r>
            <a:r>
              <a:rPr lang="ja-JP" altLang="en-US"/>
              <a:t>年までの作業者 </a:t>
            </a:r>
            <a:r>
              <a:rPr lang="en-US" altLang="ja-JP" dirty="0"/>
              <a:t>6 </a:t>
            </a:r>
            <a:r>
              <a:rPr lang="ja-JP" altLang="en-US"/>
              <a:t>名と、</a:t>
            </a:r>
            <a:r>
              <a:rPr lang="en-US" altLang="ja-JP" dirty="0"/>
              <a:t>6 </a:t>
            </a:r>
            <a:r>
              <a:rPr lang="ja-JP" altLang="en-US"/>
              <a:t>件の仕事です。各作業者には隠れた得意分野があるとし、</a:t>
            </a:r>
            <a:r>
              <a:rPr lang="en-US" altLang="ja-JP" dirty="0"/>
              <a:t>AI </a:t>
            </a:r>
            <a:r>
              <a:rPr lang="ja-JP" altLang="en-US"/>
              <a:t>には本当の能力を見せていません。これを </a:t>
            </a:r>
            <a:r>
              <a:rPr lang="en-US" altLang="ja-JP" dirty="0"/>
              <a:t>150 </a:t>
            </a:r>
            <a:r>
              <a:rPr lang="ja-JP" altLang="en-US"/>
              <a:t>ラウンド、</a:t>
            </a:r>
            <a:r>
              <a:rPr lang="en-US" altLang="ja-JP" dirty="0"/>
              <a:t>20 </a:t>
            </a:r>
            <a:r>
              <a:rPr lang="ja-JP" altLang="en-US"/>
              <a:t>回繰り返して平均を取り、学習が進んだ </a:t>
            </a:r>
            <a:r>
              <a:rPr lang="en-US" altLang="ja-JP" dirty="0"/>
              <a:t>51 </a:t>
            </a:r>
            <a:r>
              <a:rPr lang="ja-JP" altLang="en-US"/>
              <a:t>ラウンド目以降で測定しました。</a:t>
            </a:r>
          </a:p>
          <a:p>
            <a:r>
              <a:rPr lang="ja-JP" altLang="en-US"/>
              <a:t>グラフは、全員の作業が終わるまでの時間で、短いほど良い結果です。</a:t>
            </a:r>
          </a:p>
          <a:p>
            <a:r>
              <a:rPr lang="ja-JP" altLang="en-US"/>
              <a:t>経験年数が最も長い人に任せる方法は、ベテラン </a:t>
            </a:r>
            <a:r>
              <a:rPr lang="en-US" altLang="ja-JP" dirty="0"/>
              <a:t>1 </a:t>
            </a:r>
            <a:r>
              <a:rPr lang="ja-JP" altLang="en-US"/>
              <a:t>人に仕事が集中してしまい、</a:t>
            </a:r>
            <a:r>
              <a:rPr lang="en-US" altLang="ja-JP" dirty="0"/>
              <a:t>63.7 </a:t>
            </a:r>
            <a:r>
              <a:rPr lang="ja-JP" altLang="en-US"/>
              <a:t>分と最も遅くなりました。ランダムに割り当てる方法は </a:t>
            </a:r>
            <a:r>
              <a:rPr lang="en-US" altLang="ja-JP" dirty="0"/>
              <a:t>44.4 </a:t>
            </a:r>
            <a:r>
              <a:rPr lang="ja-JP" altLang="en-US"/>
              <a:t>分、順番に回す方法は </a:t>
            </a:r>
            <a:r>
              <a:rPr lang="en-US" altLang="ja-JP" dirty="0"/>
              <a:t>34.7 </a:t>
            </a:r>
            <a:r>
              <a:rPr lang="ja-JP" altLang="en-US"/>
              <a:t>分です。</a:t>
            </a:r>
          </a:p>
          <a:p>
            <a:r>
              <a:rPr lang="ja-JP" altLang="en-US"/>
              <a:t>これに対して、私たちの方法は </a:t>
            </a:r>
            <a:r>
              <a:rPr lang="en-US" altLang="ja-JP" dirty="0"/>
              <a:t>25.4 </a:t>
            </a:r>
            <a:r>
              <a:rPr lang="ja-JP" altLang="en-US"/>
              <a:t>分でした。経験年数で選ぶ方法と比べて </a:t>
            </a:r>
            <a:r>
              <a:rPr lang="en-US" altLang="ja-JP" dirty="0"/>
              <a:t>60%</a:t>
            </a:r>
            <a:r>
              <a:rPr lang="ja-JP" altLang="en-US"/>
              <a:t>、順番に回す方法と比べて </a:t>
            </a:r>
            <a:r>
              <a:rPr lang="en-US" altLang="ja-JP" dirty="0"/>
              <a:t>27% </a:t>
            </a:r>
            <a:r>
              <a:rPr lang="ja-JP" altLang="en-US"/>
              <a:t>短くなっています。</a:t>
            </a:r>
          </a:p>
          <a:p>
            <a:r>
              <a:rPr lang="ja-JP" altLang="en-US"/>
              <a:t>また、各作業者の本当の能力を知っている理想的な割当は </a:t>
            </a:r>
            <a:r>
              <a:rPr lang="en-US" altLang="ja-JP" dirty="0"/>
              <a:t>23.6 </a:t>
            </a:r>
            <a:r>
              <a:rPr lang="ja-JP" altLang="en-US"/>
              <a:t>分で、私たちの方法との差は </a:t>
            </a:r>
            <a:r>
              <a:rPr lang="en-US" altLang="ja-JP" dirty="0"/>
              <a:t>8% </a:t>
            </a:r>
            <a:r>
              <a:rPr lang="ja-JP" altLang="en-US"/>
              <a:t>でした。</a:t>
            </a:r>
          </a:p>
          <a:p>
            <a:r>
              <a:rPr lang="ja-JP" altLang="en-US"/>
              <a:t>つまり、</a:t>
            </a:r>
            <a:r>
              <a:rPr lang="en-US" altLang="ja-JP" dirty="0"/>
              <a:t>AI </a:t>
            </a:r>
            <a:r>
              <a:rPr lang="ja-JP" altLang="en-US"/>
              <a:t>は本当の能力を知らされていなくても、実績から学ぶことで理想に近い割当ができることが分かりました。ただし、これはシミュレーションの結果であり、実際の工場での検証はこれからです。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a:t>
            </a:r>
            <a:r>
              <a:rPr lang="ja-JP" altLang="en-US"/>
              <a:t>目安 </a:t>
            </a:r>
            <a:r>
              <a:rPr lang="en-US" altLang="ja-JP"/>
              <a:t>1 </a:t>
            </a:r>
            <a:r>
              <a:rPr lang="ja-JP" altLang="en-US"/>
              <a:t>分</a:t>
            </a:r>
            <a:r>
              <a:rPr lang="en-US" altLang="ja-JP"/>
              <a:t>】</a:t>
            </a:r>
          </a:p>
          <a:p>
            <a:r>
              <a:rPr lang="ja-JP" altLang="en-US"/>
              <a:t>最後に、まとめと今後の展望です。</a:t>
            </a:r>
          </a:p>
          <a:p>
            <a:r>
              <a:rPr lang="en-US" altLang="ja-JP"/>
              <a:t>Gemmba </a:t>
            </a:r>
            <a:r>
              <a:rPr lang="ja-JP" altLang="en-US"/>
              <a:t>は、腕輪をタッチするだけで、人と仕事を </a:t>
            </a:r>
            <a:r>
              <a:rPr lang="en-US" altLang="ja-JP"/>
              <a:t>AI </a:t>
            </a:r>
            <a:r>
              <a:rPr lang="ja-JP" altLang="en-US"/>
              <a:t>が結び付けるシステムです。作業者は報告・確認・探す手間から解放され、管理者は現場の状況と一人ひとりの適性をデータで把握できるようになります。</a:t>
            </a:r>
          </a:p>
          <a:p>
            <a:r>
              <a:rPr lang="ja-JP" altLang="en-US"/>
              <a:t>一方で、課題もあります。評価はまだシミュレーションのみで、実際の現場では検証できていません。また、作業者の上達、つまり能力の変化をまだ考慮していないことや、ログが増えると計算が重くなることも課題です。</a:t>
            </a:r>
          </a:p>
          <a:p>
            <a:r>
              <a:rPr lang="ja-JP" altLang="en-US"/>
              <a:t>今後は、実際の工場で作業ログを集めて評価を行います。また、古いログの重みを下げることで作業者の上達を反映し、</a:t>
            </a:r>
            <a:r>
              <a:rPr lang="en-US" altLang="ja-JP"/>
              <a:t>Elo </a:t>
            </a:r>
            <a:r>
              <a:rPr lang="ja-JP" altLang="en-US"/>
              <a:t>レーティングや </a:t>
            </a:r>
            <a:r>
              <a:rPr lang="en-US" altLang="ja-JP"/>
              <a:t>LinUCB </a:t>
            </a:r>
            <a:r>
              <a:rPr lang="ja-JP" altLang="en-US"/>
              <a:t>といった他の割当アルゴリズムとの比較・検討も進めていきます。</a:t>
            </a:r>
          </a:p>
          <a:p>
            <a:r>
              <a:rPr lang="ja-JP" altLang="en-US"/>
              <a:t>以上で発表を終わります。ご清聴ありがとうございました。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kumimoji="1" lang="ja-JP" altLang="en-US"/>
              <a:t>質疑応答用のスライド。発表では表示せず、質問が来たときに参照してもよい。
回答はあくまで例なので、自分たちの言葉に直して使う。</a:t>
            </a:r>
          </a:p>
        </p:txBody>
      </p:sp>
    </p:spTree>
    <p:extLst>
      <p:ext uri="{BB962C8B-B14F-4D97-AF65-F5344CB8AC3E}">
        <p14:creationId xmlns:p14="http://schemas.microsoft.com/office/powerpoint/2010/main" val="1456275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表紙">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920240"/>
            <a:ext cx="11094415" cy="17373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r>
              <a:rPr lang="en-US" sz="4000" b="1" dirty="0">
                <a:solidFill>
                  <a:schemeClr val="bg1"/>
                </a:solidFill>
              </a:rPr>
              <a:t>タイトル</a:t>
            </a:r>
            <a:endParaRPr lang="en-US" sz="4000" dirty="0"/>
          </a:p>
        </p:txBody>
      </p:sp>
      <p:sp>
        <p:nvSpPr>
          <p:cNvPr id="3" name="Text 0"/>
          <p:cNvSpPr>
            <a:spLocks noGrp="1"/>
          </p:cNvSpPr>
          <p:nvPr>
            <p:ph type="body" idx="101" hasCustomPrompt="1"/>
          </p:nvPr>
        </p:nvSpPr>
        <p:spPr>
          <a:xfrm>
            <a:off x="548640" y="3840480"/>
            <a:ext cx="11094415" cy="731520"/>
          </a:xfrm>
          <a:prstGeom prst="rect">
            <a:avLst/>
          </a:prstGeom>
          <a:noFill/>
          <a:ln/>
        </p:spPr>
        <p:txBody>
          <a:bodyPr wrap="square" rtlCol="0"/>
          <a:lstStyle>
            <a:lvl1pPr marL="0" indent="0" algn="l">
              <a:buNone/>
              <a:defRPr lang="en-US" sz="2200" dirty="0">
                <a:solidFill>
                  <a:schemeClr val="accent5"/>
                </a:solidFill>
              </a:defRPr>
            </a:lvl1pPr>
          </a:lstStyle>
          <a:p>
            <a:pPr marL="0" indent="0" algn="l">
              <a:buNone/>
            </a:pPr>
            <a:r>
              <a:rPr lang="en-US" sz="2200" dirty="0">
                <a:solidFill>
                  <a:schemeClr val="accent5"/>
                </a:solidFill>
              </a:rPr>
              <a:t>サブタイトル</a:t>
            </a:r>
            <a:endParaRPr lang="en-US" sz="2200" dirty="0"/>
          </a:p>
        </p:txBody>
      </p:sp>
      <p:sp>
        <p:nvSpPr>
          <p:cNvPr id="4" name="Text 0"/>
          <p:cNvSpPr>
            <a:spLocks noGrp="1"/>
          </p:cNvSpPr>
          <p:nvPr>
            <p:ph type="body" idx="102" hasCustomPrompt="1"/>
          </p:nvPr>
        </p:nvSpPr>
        <p:spPr>
          <a:xfrm>
            <a:off x="548640" y="5669280"/>
            <a:ext cx="11094415" cy="548640"/>
          </a:xfrm>
          <a:prstGeom prst="rect">
            <a:avLst/>
          </a:prstGeom>
          <a:noFill/>
          <a:ln/>
        </p:spPr>
        <p:txBody>
          <a:bodyPr wrap="square" rtlCol="0"/>
          <a:lstStyle>
            <a:lvl1pPr marL="0" indent="0" algn="l">
              <a:buNone/>
              <a:defRPr lang="en-US" sz="1800" dirty="0">
                <a:solidFill>
                  <a:schemeClr val="bg1"/>
                </a:solidFill>
              </a:defRPr>
            </a:lvl1pPr>
          </a:lstStyle>
          <a:p>
            <a:pPr marL="0" indent="0" algn="l">
              <a:buNone/>
            </a:pPr>
            <a:r>
              <a:rPr lang="en-US" sz="1800" dirty="0">
                <a:solidFill>
                  <a:schemeClr val="bg1"/>
                </a:solidFill>
              </a:rPr>
              <a:t>チーム名・発表者名</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本文">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4415" cy="320040"/>
          </a:xfrm>
          <a:prstGeom prst="rect">
            <a:avLst/>
          </a:prstGeom>
          <a:noFill/>
          <a:ln/>
        </p:spPr>
        <p:txBody>
          <a:bodyPr wrap="square" rtlCol="0"/>
          <a:lstStyle>
            <a:lvl1pPr marL="0" indent="0" algn="l">
              <a:buNone/>
              <a:defRPr lang="en-US" sz="1400" b="1" dirty="0">
                <a:solidFill>
                  <a:schemeClr val="accent1"/>
                </a:solidFill>
              </a:defRPr>
            </a:lvl1pPr>
          </a:lstStyle>
          <a:p>
            <a:pPr marL="0" indent="0" algn="l">
              <a:buNone/>
            </a:pPr>
            <a:r>
              <a:rPr lang="en-US" sz="1400" b="1" dirty="0">
                <a:solidFill>
                  <a:schemeClr val="accent1"/>
                </a:solidFill>
              </a:rPr>
              <a:t>セクション名</a:t>
            </a:r>
            <a:endParaRPr lang="en-US" sz="1400" dirty="0"/>
          </a:p>
        </p:txBody>
      </p:sp>
      <p:sp>
        <p:nvSpPr>
          <p:cNvPr id="3" name="Text 0"/>
          <p:cNvSpPr>
            <a:spLocks noGrp="1"/>
          </p:cNvSpPr>
          <p:nvPr>
            <p:ph type="title" idx="101" hasCustomPrompt="1"/>
          </p:nvPr>
        </p:nvSpPr>
        <p:spPr>
          <a:xfrm>
            <a:off x="548640" y="594360"/>
            <a:ext cx="11094415" cy="73152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r>
              <a:rPr lang="en-US" sz="3200" b="1" dirty="0">
                <a:solidFill>
                  <a:schemeClr val="tx2"/>
                </a:solidFill>
              </a:rPr>
              <a:t>スライドのタイトル</a:t>
            </a:r>
            <a:endParaRPr lang="en-US" sz="3200" dirty="0"/>
          </a:p>
        </p:txBody>
      </p:sp>
      <p:sp>
        <p:nvSpPr>
          <p:cNvPr id="4" name="Text 0"/>
          <p:cNvSpPr/>
          <p:nvPr/>
        </p:nvSpPr>
        <p:spPr>
          <a:xfrm>
            <a:off x="548640" y="6400800"/>
            <a:ext cx="2743200" cy="274320"/>
          </a:xfrm>
          <a:prstGeom prst="rect">
            <a:avLst/>
          </a:prstGeom>
          <a:noFill/>
          <a:ln/>
        </p:spPr>
        <p:txBody>
          <a:bodyPr wrap="square" lIns="0" tIns="0" rIns="0" bIns="0" rtlCol="0" anchor="ctr"/>
          <a:lstStyle/>
          <a:p>
            <a:pPr marL="0" indent="0">
              <a:buNone/>
            </a:pPr>
            <a:r>
              <a:rPr lang="en-US" sz="1100" dirty="0">
                <a:solidFill>
                  <a:schemeClr val="accent3"/>
                </a:solidFill>
              </a:rPr>
              <a:t>Gemmba</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04CD750A-3348-423E-977C-77B2734E312C}"/>
              </a:ext>
            </a:extLst>
          </p:cNvPr>
          <p:cNvPicPr>
            <a:picLocks noChangeAspect="1"/>
          </p:cNvPicPr>
          <p:nvPr/>
        </p:nvPicPr>
        <p:blipFill>
          <a:blip r:embed="rId3"/>
          <a:stretch>
            <a:fillRect/>
          </a:stretch>
        </p:blipFill>
        <p:spPr>
          <a:xfrm>
            <a:off x="1604335" y="1933368"/>
            <a:ext cx="8983329" cy="2962688"/>
          </a:xfrm>
          <a:prstGeom prst="rect">
            <a:avLst/>
          </a:prstGeom>
        </p:spPr>
      </p:pic>
      <p:sp>
        <p:nvSpPr>
          <p:cNvPr id="3" name="Text 0"/>
          <p:cNvSpPr>
            <a:spLocks noGrp="1"/>
          </p:cNvSpPr>
          <p:nvPr>
            <p:ph type="body" idx="4294967295" hasCustomPrompt="1"/>
          </p:nvPr>
        </p:nvSpPr>
        <p:spPr>
          <a:xfrm>
            <a:off x="5764190" y="4246348"/>
            <a:ext cx="4125913" cy="412750"/>
          </a:xfrm>
          <a:prstGeom prst="rect">
            <a:avLst/>
          </a:prstGeom>
          <a:noFill/>
          <a:ln/>
        </p:spPr>
        <p:txBody>
          <a:bodyPr wrap="square" lIns="0" tIns="0" rIns="0" bIns="0" rtlCol="0" anchor="t"/>
          <a:lstStyle/>
          <a:p>
            <a:pPr marL="0" indent="0" algn="l">
              <a:buNone/>
            </a:pPr>
            <a:r>
              <a:rPr lang="ja-JP" altLang="en-US" sz="2200"/>
              <a:t>中小企業向けの</a:t>
            </a:r>
            <a:r>
              <a:rPr lang="en-US" altLang="ja-JP" sz="2200"/>
              <a:t>DX</a:t>
            </a:r>
            <a:r>
              <a:rPr lang="ja-JP" altLang="en-US" sz="2200"/>
              <a:t>推進システム</a:t>
            </a:r>
            <a:endParaRPr lang="ja-JP" sz="2200" dirty="0"/>
          </a:p>
        </p:txBody>
      </p:sp>
      <p:sp>
        <p:nvSpPr>
          <p:cNvPr id="9" name="テキスト ボックス 8">
            <a:extLst>
              <a:ext uri="{FF2B5EF4-FFF2-40B4-BE49-F238E27FC236}">
                <a16:creationId xmlns:a16="http://schemas.microsoft.com/office/drawing/2014/main" id="{7FB050A0-E14C-5A86-62F7-85E13CD6F1D5}"/>
              </a:ext>
            </a:extLst>
          </p:cNvPr>
          <p:cNvSpPr txBox="1"/>
          <p:nvPr/>
        </p:nvSpPr>
        <p:spPr>
          <a:xfrm>
            <a:off x="251460" y="228600"/>
            <a:ext cx="2976372" cy="646331"/>
          </a:xfrm>
          <a:prstGeom prst="rect">
            <a:avLst/>
          </a:prstGeom>
          <a:noFill/>
        </p:spPr>
        <p:txBody>
          <a:bodyPr wrap="square" rtlCol="0">
            <a:spAutoFit/>
          </a:bodyPr>
          <a:lstStyle/>
          <a:p>
            <a:r>
              <a:rPr kumimoji="1" lang="ja-JP" altLang="en-US"/>
              <a:t>課題部門</a:t>
            </a:r>
            <a:endParaRPr kumimoji="1" lang="en-US" altLang="ja-JP"/>
          </a:p>
          <a:p>
            <a:r>
              <a:rPr kumimoji="1" lang="ja-JP" altLang="en-US"/>
              <a:t>登録番号</a:t>
            </a:r>
            <a:r>
              <a:rPr kumimoji="1" lang="en-US" altLang="ja-JP"/>
              <a:t>:10006</a:t>
            </a:r>
            <a:endParaRPr kumimoji="1" lang="ja-JP"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4415" cy="320040"/>
          </a:xfrm>
          <a:prstGeom prst="rect">
            <a:avLst/>
          </a:prstGeom>
          <a:noFill/>
          <a:ln/>
        </p:spPr>
        <p:txBody>
          <a:bodyPr wrap="square" lIns="0" tIns="0" rIns="0" bIns="0" rtlCol="0" anchor="ctr"/>
          <a:lstStyle/>
          <a:p>
            <a:pPr marL="0" indent="0" algn="l">
              <a:buNone/>
            </a:pPr>
            <a:r>
              <a:rPr lang="ja-JP" altLang="en-US" sz="1400" b="1" dirty="0">
                <a:solidFill>
                  <a:schemeClr val="accent1"/>
                </a:solidFill>
              </a:rPr>
              <a:t>1. 現状の問題点</a:t>
            </a:r>
            <a:endParaRPr lang="ja-JP" sz="1400" dirty="0"/>
          </a:p>
        </p:txBody>
      </p:sp>
      <p:sp>
        <p:nvSpPr>
          <p:cNvPr id="3" name="Text 0"/>
          <p:cNvSpPr>
            <a:spLocks noGrp="1"/>
          </p:cNvSpPr>
          <p:nvPr>
            <p:ph type="title" idx="101" hasCustomPrompt="1"/>
          </p:nvPr>
        </p:nvSpPr>
        <p:spPr>
          <a:xfrm>
            <a:off x="548640" y="594360"/>
            <a:ext cx="11094415" cy="731520"/>
          </a:xfrm>
          <a:prstGeom prst="rect">
            <a:avLst/>
          </a:prstGeom>
          <a:noFill/>
          <a:ln/>
        </p:spPr>
        <p:txBody>
          <a:bodyPr wrap="square" lIns="0" tIns="0" rIns="0" bIns="0" rtlCol="0" anchor="ctr"/>
          <a:lstStyle/>
          <a:p>
            <a:pPr marL="0" indent="0" algn="l">
              <a:buNone/>
            </a:pPr>
            <a:r>
              <a:rPr lang="ja-JP" altLang="en-US" sz="3200" b="1" dirty="0">
                <a:solidFill>
                  <a:schemeClr val="tx2"/>
                </a:solidFill>
              </a:rPr>
              <a:t>中小工場の共有機材で起きていること</a:t>
            </a:r>
            <a:endParaRPr lang="ja-JP" sz="3200" dirty="0"/>
          </a:p>
        </p:txBody>
      </p:sp>
      <p:sp>
        <p:nvSpPr>
          <p:cNvPr id="4" name="前提"/>
          <p:cNvSpPr txBox="1"/>
          <p:nvPr/>
        </p:nvSpPr>
        <p:spPr>
          <a:xfrm>
            <a:off x="548640" y="1463040"/>
            <a:ext cx="11094415" cy="457200"/>
          </a:xfrm>
          <a:prstGeom prst="rect">
            <a:avLst/>
          </a:prstGeom>
          <a:noFill/>
          <a:ln/>
        </p:spPr>
        <p:txBody>
          <a:bodyPr wrap="square" lIns="0" tIns="0" rIns="0" bIns="0" rtlCol="0" anchor="ctr"/>
          <a:lstStyle/>
          <a:p>
            <a:pPr marL="0" indent="0">
              <a:buNone/>
            </a:pPr>
            <a:r>
              <a:rPr lang="ja-JP" altLang="en-US" sz="1800" dirty="0">
                <a:solidFill>
                  <a:schemeClr val="accent4"/>
                </a:solidFill>
              </a:rPr>
              <a:t>レーザー加工機・旋盤・プレス機などを複数人で共有。専任の IT 担当者はいないことが多い</a:t>
            </a:r>
            <a:endParaRPr lang="ja-JP" sz="1800" dirty="0"/>
          </a:p>
        </p:txBody>
      </p:sp>
      <p:sp>
        <p:nvSpPr>
          <p:cNvPr id="5" name="課題1"/>
          <p:cNvSpPr/>
          <p:nvPr/>
        </p:nvSpPr>
        <p:spPr>
          <a:xfrm>
            <a:off x="548640" y="2194560"/>
            <a:ext cx="3484778" cy="2743200"/>
          </a:xfrm>
          <a:prstGeom prst="roundRect">
            <a:avLst>
              <a:gd name="adj" fmla="val 2667"/>
            </a:avLst>
          </a:prstGeom>
          <a:solidFill>
            <a:schemeClr val="bg2"/>
          </a:solidFill>
          <a:ln w="12700">
            <a:solidFill>
              <a:schemeClr val="bg2"/>
            </a:solidFill>
            <a:prstDash val="solid"/>
          </a:ln>
        </p:spPr>
        <p:txBody>
          <a:bodyPr/>
          <a:lstStyle/>
          <a:p>
            <a:endParaRPr lang="ja-JP" altLang="en-US"/>
          </a:p>
        </p:txBody>
      </p:sp>
      <p:sp>
        <p:nvSpPr>
          <p:cNvPr id="6" name="課題1_文字"/>
          <p:cNvSpPr txBox="1"/>
          <p:nvPr/>
        </p:nvSpPr>
        <p:spPr>
          <a:xfrm>
            <a:off x="724619" y="3200400"/>
            <a:ext cx="3308797" cy="1554480"/>
          </a:xfrm>
          <a:prstGeom prst="rect">
            <a:avLst/>
          </a:prstGeom>
          <a:noFill/>
          <a:ln/>
        </p:spPr>
        <p:txBody>
          <a:bodyPr wrap="square" lIns="0" tIns="0" rIns="0" bIns="0" rtlCol="0" anchor="t"/>
          <a:lstStyle/>
          <a:p>
            <a:pPr marL="0" indent="0">
              <a:buNone/>
            </a:pPr>
            <a:r>
              <a:rPr lang="ja-JP" altLang="en-US" sz="2200" b="1" dirty="0">
                <a:solidFill>
                  <a:schemeClr val="tx2"/>
                </a:solidFill>
              </a:rPr>
              <a:t>使用状況が見えない</a:t>
            </a:r>
            <a:endParaRPr lang="ja-JP" sz="2200" dirty="0"/>
          </a:p>
          <a:p>
            <a:pPr marL="203200" indent="-203200">
              <a:spcBef>
                <a:spcPts val="1000"/>
              </a:spcBef>
              <a:buSzPct val="100000"/>
              <a:buChar char="•"/>
            </a:pPr>
            <a:r>
              <a:rPr lang="ja-JP" altLang="en-US" sz="1600" dirty="0">
                <a:solidFill>
                  <a:schemeClr val="tx1"/>
                </a:solidFill>
              </a:rPr>
              <a:t>誰がどの機材を何に使っているか分からない</a:t>
            </a:r>
            <a:endParaRPr lang="ja-JP" sz="2200" dirty="0"/>
          </a:p>
          <a:p>
            <a:pPr marL="203200" indent="-203200">
              <a:spcBef>
                <a:spcPts val="1000"/>
              </a:spcBef>
              <a:buSzPct val="100000"/>
              <a:buChar char="•"/>
            </a:pPr>
            <a:r>
              <a:rPr lang="ja-JP" altLang="en-US" sz="1600">
                <a:solidFill>
                  <a:schemeClr val="tx1"/>
                </a:solidFill>
              </a:rPr>
              <a:t>機材を予約</a:t>
            </a:r>
            <a:r>
              <a:rPr lang="ja-JP" altLang="en-US" sz="1600" dirty="0">
                <a:solidFill>
                  <a:schemeClr val="tx1"/>
                </a:solidFill>
              </a:rPr>
              <a:t>した</a:t>
            </a:r>
            <a:r>
              <a:rPr lang="ja-JP" altLang="en-US" sz="1600">
                <a:solidFill>
                  <a:schemeClr val="tx1"/>
                </a:solidFill>
              </a:rPr>
              <a:t>のに来ない</a:t>
            </a:r>
            <a:endParaRPr lang="ja-JP" sz="2200" dirty="0"/>
          </a:p>
        </p:txBody>
      </p:sp>
      <p:sp>
        <p:nvSpPr>
          <p:cNvPr id="7" name="課題2"/>
          <p:cNvSpPr/>
          <p:nvPr/>
        </p:nvSpPr>
        <p:spPr>
          <a:xfrm>
            <a:off x="4353458" y="2194560"/>
            <a:ext cx="3484778" cy="2743200"/>
          </a:xfrm>
          <a:prstGeom prst="roundRect">
            <a:avLst>
              <a:gd name="adj" fmla="val 2667"/>
            </a:avLst>
          </a:prstGeom>
          <a:solidFill>
            <a:schemeClr val="bg2"/>
          </a:solidFill>
          <a:ln w="12700">
            <a:solidFill>
              <a:schemeClr val="bg2"/>
            </a:solidFill>
            <a:prstDash val="solid"/>
          </a:ln>
        </p:spPr>
        <p:txBody>
          <a:bodyPr/>
          <a:lstStyle/>
          <a:p>
            <a:endParaRPr lang="ja-JP" altLang="en-US"/>
          </a:p>
        </p:txBody>
      </p:sp>
      <p:sp>
        <p:nvSpPr>
          <p:cNvPr id="8" name="課題2_文字"/>
          <p:cNvSpPr txBox="1"/>
          <p:nvPr/>
        </p:nvSpPr>
        <p:spPr>
          <a:xfrm>
            <a:off x="4459857" y="3200400"/>
            <a:ext cx="3104059" cy="1554480"/>
          </a:xfrm>
          <a:prstGeom prst="rect">
            <a:avLst/>
          </a:prstGeom>
          <a:noFill/>
          <a:ln/>
        </p:spPr>
        <p:txBody>
          <a:bodyPr wrap="square" lIns="0" tIns="0" rIns="0" bIns="0" rtlCol="0" anchor="t"/>
          <a:lstStyle/>
          <a:p>
            <a:pPr marL="0" indent="0">
              <a:buNone/>
            </a:pPr>
            <a:r>
              <a:rPr lang="ja-JP" altLang="en-US" sz="2200" b="1" dirty="0">
                <a:solidFill>
                  <a:schemeClr val="tx2"/>
                </a:solidFill>
              </a:rPr>
              <a:t>仕事が偏る</a:t>
            </a:r>
            <a:endParaRPr lang="ja-JP" sz="2200" dirty="0"/>
          </a:p>
          <a:p>
            <a:pPr marL="203200" indent="-203200">
              <a:spcBef>
                <a:spcPts val="1000"/>
              </a:spcBef>
              <a:buSzPct val="100000"/>
              <a:buChar char="•"/>
            </a:pPr>
            <a:r>
              <a:rPr lang="ja-JP" altLang="en-US" sz="1600">
                <a:solidFill>
                  <a:schemeClr val="tx1"/>
                </a:solidFill>
              </a:rPr>
              <a:t>仕事が特定</a:t>
            </a:r>
            <a:r>
              <a:rPr lang="ja-JP" altLang="en-US" sz="1600" dirty="0">
                <a:solidFill>
                  <a:schemeClr val="tx1"/>
                </a:solidFill>
              </a:rPr>
              <a:t>のベテランに集中</a:t>
            </a:r>
            <a:endParaRPr lang="ja-JP" sz="2200" dirty="0"/>
          </a:p>
          <a:p>
            <a:pPr marL="203200" indent="-203200">
              <a:spcBef>
                <a:spcPts val="1000"/>
              </a:spcBef>
              <a:buSzPct val="100000"/>
              <a:buChar char="•"/>
            </a:pPr>
            <a:r>
              <a:rPr lang="ja-JP" altLang="en-US" sz="1600" dirty="0">
                <a:solidFill>
                  <a:schemeClr val="tx1"/>
                </a:solidFill>
              </a:rPr>
              <a:t>急ぎの仕事が後回し・忘れられる</a:t>
            </a:r>
            <a:endParaRPr lang="ja-JP" sz="2200" dirty="0"/>
          </a:p>
        </p:txBody>
      </p:sp>
      <p:sp>
        <p:nvSpPr>
          <p:cNvPr id="9" name="課題3"/>
          <p:cNvSpPr/>
          <p:nvPr/>
        </p:nvSpPr>
        <p:spPr>
          <a:xfrm>
            <a:off x="8158276" y="2194560"/>
            <a:ext cx="3608153" cy="2743200"/>
          </a:xfrm>
          <a:prstGeom prst="roundRect">
            <a:avLst>
              <a:gd name="adj" fmla="val 2667"/>
            </a:avLst>
          </a:prstGeom>
          <a:solidFill>
            <a:schemeClr val="bg2"/>
          </a:solidFill>
          <a:ln w="12700">
            <a:solidFill>
              <a:schemeClr val="bg2"/>
            </a:solidFill>
            <a:prstDash val="solid"/>
          </a:ln>
        </p:spPr>
        <p:txBody>
          <a:bodyPr/>
          <a:lstStyle/>
          <a:p>
            <a:endParaRPr lang="ja-JP" altLang="en-US"/>
          </a:p>
        </p:txBody>
      </p:sp>
      <p:sp>
        <p:nvSpPr>
          <p:cNvPr id="10" name="課題3_文字"/>
          <p:cNvSpPr txBox="1"/>
          <p:nvPr/>
        </p:nvSpPr>
        <p:spPr>
          <a:xfrm>
            <a:off x="8272732" y="3200400"/>
            <a:ext cx="3370323" cy="1554480"/>
          </a:xfrm>
          <a:prstGeom prst="rect">
            <a:avLst/>
          </a:prstGeom>
          <a:noFill/>
          <a:ln/>
        </p:spPr>
        <p:txBody>
          <a:bodyPr wrap="square" lIns="0" tIns="0" rIns="0" bIns="0" rtlCol="0" anchor="t"/>
          <a:lstStyle/>
          <a:p>
            <a:pPr marL="0" indent="0">
              <a:buNone/>
            </a:pPr>
            <a:r>
              <a:rPr lang="ja-JP" altLang="en-US" sz="2200" b="1" dirty="0">
                <a:solidFill>
                  <a:schemeClr val="tx2"/>
                </a:solidFill>
              </a:rPr>
              <a:t>探す・聞く手間</a:t>
            </a:r>
            <a:endParaRPr lang="ja-JP" sz="2200" dirty="0"/>
          </a:p>
          <a:p>
            <a:pPr marL="203200" indent="-203200">
              <a:spcBef>
                <a:spcPts val="1000"/>
              </a:spcBef>
              <a:buSzPct val="100000"/>
              <a:buChar char="•"/>
            </a:pPr>
            <a:r>
              <a:rPr lang="ja-JP" altLang="en-US" sz="1600" dirty="0">
                <a:solidFill>
                  <a:schemeClr val="tx1"/>
                </a:solidFill>
              </a:rPr>
              <a:t>空いている</a:t>
            </a:r>
            <a:r>
              <a:rPr lang="ja-JP" altLang="en-US" sz="1600">
                <a:solidFill>
                  <a:schemeClr val="tx1"/>
                </a:solidFill>
              </a:rPr>
              <a:t>機材や仕事</a:t>
            </a:r>
            <a:r>
              <a:rPr lang="ja-JP" altLang="en-US" sz="1600" dirty="0">
                <a:solidFill>
                  <a:schemeClr val="tx1"/>
                </a:solidFill>
              </a:rPr>
              <a:t>を探して歩く</a:t>
            </a:r>
            <a:endParaRPr lang="ja-JP" sz="2200" dirty="0"/>
          </a:p>
          <a:p>
            <a:pPr marL="203200" indent="-203200">
              <a:spcBef>
                <a:spcPts val="1000"/>
              </a:spcBef>
              <a:buSzPct val="100000"/>
              <a:buChar char="•"/>
            </a:pPr>
            <a:r>
              <a:rPr lang="ja-JP" altLang="en-US" sz="1600"/>
              <a:t>仕事のたびに</a:t>
            </a:r>
            <a:r>
              <a:rPr lang="ja-JP" altLang="en-US" sz="1600">
                <a:solidFill>
                  <a:schemeClr val="tx1"/>
                </a:solidFill>
              </a:rPr>
              <a:t>管理者</a:t>
            </a:r>
            <a:r>
              <a:rPr lang="ja-JP" altLang="en-US" sz="1600" dirty="0">
                <a:solidFill>
                  <a:schemeClr val="tx1"/>
                </a:solidFill>
              </a:rPr>
              <a:t>に聞く</a:t>
            </a:r>
            <a:r>
              <a:rPr lang="ja-JP" altLang="en-US" sz="1600">
                <a:solidFill>
                  <a:schemeClr val="tx1"/>
                </a:solidFill>
              </a:rPr>
              <a:t>・報告</a:t>
            </a:r>
            <a:endParaRPr lang="ja-JP" sz="2200" dirty="0"/>
          </a:p>
        </p:txBody>
      </p:sp>
      <p:sp>
        <p:nvSpPr>
          <p:cNvPr id="11" name="課題1_番号"/>
          <p:cNvSpPr/>
          <p:nvPr/>
        </p:nvSpPr>
        <p:spPr>
          <a:xfrm>
            <a:off x="822960" y="2468880"/>
            <a:ext cx="548640" cy="548640"/>
          </a:xfrm>
          <a:prstGeom prst="ellipse">
            <a:avLst/>
          </a:prstGeom>
          <a:solidFill>
            <a:schemeClr val="tx2"/>
          </a:solidFill>
          <a:ln w="12700">
            <a:solidFill>
              <a:schemeClr val="tx2"/>
            </a:solidFill>
            <a:prstDash val="solid"/>
          </a:ln>
        </p:spPr>
        <p:txBody>
          <a:bodyPr/>
          <a:lstStyle/>
          <a:p>
            <a:endParaRPr lang="ja-JP" altLang="en-US"/>
          </a:p>
        </p:txBody>
      </p:sp>
      <p:sp>
        <p:nvSpPr>
          <p:cNvPr id="12" name="課題1_番号_文字"/>
          <p:cNvSpPr txBox="1"/>
          <p:nvPr/>
        </p:nvSpPr>
        <p:spPr>
          <a:xfrm>
            <a:off x="822960" y="2468880"/>
            <a:ext cx="548640" cy="548640"/>
          </a:xfrm>
          <a:prstGeom prst="rect">
            <a:avLst/>
          </a:prstGeom>
          <a:noFill/>
          <a:ln/>
        </p:spPr>
        <p:txBody>
          <a:bodyPr wrap="square" lIns="0" tIns="0" rIns="0" bIns="0" rtlCol="0" anchor="ctr"/>
          <a:lstStyle/>
          <a:p>
            <a:pPr marL="0" indent="0" algn="ctr">
              <a:buNone/>
            </a:pPr>
            <a:r>
              <a:rPr lang="ja-JP" altLang="en-US" sz="1560" b="1" dirty="0">
                <a:solidFill>
                  <a:schemeClr val="bg1"/>
                </a:solidFill>
              </a:rPr>
              <a:t>1</a:t>
            </a:r>
            <a:endParaRPr lang="ja-JP" sz="1560" dirty="0"/>
          </a:p>
        </p:txBody>
      </p:sp>
      <p:sp>
        <p:nvSpPr>
          <p:cNvPr id="13" name="課題2_番号"/>
          <p:cNvSpPr/>
          <p:nvPr/>
        </p:nvSpPr>
        <p:spPr>
          <a:xfrm>
            <a:off x="4627778" y="2468880"/>
            <a:ext cx="548640" cy="548640"/>
          </a:xfrm>
          <a:prstGeom prst="ellipse">
            <a:avLst/>
          </a:prstGeom>
          <a:solidFill>
            <a:schemeClr val="tx2"/>
          </a:solidFill>
          <a:ln w="12700">
            <a:solidFill>
              <a:schemeClr val="tx2"/>
            </a:solidFill>
            <a:prstDash val="solid"/>
          </a:ln>
        </p:spPr>
        <p:txBody>
          <a:bodyPr/>
          <a:lstStyle/>
          <a:p>
            <a:endParaRPr lang="ja-JP" altLang="en-US"/>
          </a:p>
        </p:txBody>
      </p:sp>
      <p:sp>
        <p:nvSpPr>
          <p:cNvPr id="14" name="課題2_番号_文字"/>
          <p:cNvSpPr txBox="1"/>
          <p:nvPr/>
        </p:nvSpPr>
        <p:spPr>
          <a:xfrm>
            <a:off x="4627778" y="2468880"/>
            <a:ext cx="548640" cy="548640"/>
          </a:xfrm>
          <a:prstGeom prst="rect">
            <a:avLst/>
          </a:prstGeom>
          <a:noFill/>
          <a:ln/>
        </p:spPr>
        <p:txBody>
          <a:bodyPr wrap="square" lIns="0" tIns="0" rIns="0" bIns="0" rtlCol="0" anchor="ctr"/>
          <a:lstStyle/>
          <a:p>
            <a:pPr marL="0" indent="0" algn="ctr">
              <a:buNone/>
            </a:pPr>
            <a:r>
              <a:rPr lang="ja-JP" altLang="en-US" sz="1560" b="1" dirty="0">
                <a:solidFill>
                  <a:schemeClr val="bg1"/>
                </a:solidFill>
              </a:rPr>
              <a:t>2</a:t>
            </a:r>
            <a:endParaRPr lang="ja-JP" sz="1560" dirty="0"/>
          </a:p>
        </p:txBody>
      </p:sp>
      <p:sp>
        <p:nvSpPr>
          <p:cNvPr id="15" name="課題3_番号"/>
          <p:cNvSpPr/>
          <p:nvPr/>
        </p:nvSpPr>
        <p:spPr>
          <a:xfrm>
            <a:off x="8432597" y="2468880"/>
            <a:ext cx="548640" cy="548640"/>
          </a:xfrm>
          <a:prstGeom prst="ellipse">
            <a:avLst/>
          </a:prstGeom>
          <a:solidFill>
            <a:schemeClr val="tx2"/>
          </a:solidFill>
          <a:ln w="12700">
            <a:solidFill>
              <a:schemeClr val="tx2"/>
            </a:solidFill>
            <a:prstDash val="solid"/>
          </a:ln>
        </p:spPr>
        <p:txBody>
          <a:bodyPr/>
          <a:lstStyle/>
          <a:p>
            <a:endParaRPr lang="ja-JP" altLang="en-US"/>
          </a:p>
        </p:txBody>
      </p:sp>
      <p:sp>
        <p:nvSpPr>
          <p:cNvPr id="16" name="課題3_番号_文字"/>
          <p:cNvSpPr txBox="1"/>
          <p:nvPr/>
        </p:nvSpPr>
        <p:spPr>
          <a:xfrm>
            <a:off x="8432597" y="2468880"/>
            <a:ext cx="548640" cy="548640"/>
          </a:xfrm>
          <a:prstGeom prst="rect">
            <a:avLst/>
          </a:prstGeom>
          <a:noFill/>
          <a:ln/>
        </p:spPr>
        <p:txBody>
          <a:bodyPr wrap="square" lIns="0" tIns="0" rIns="0" bIns="0" rtlCol="0" anchor="ctr"/>
          <a:lstStyle/>
          <a:p>
            <a:pPr marL="0" indent="0" algn="ctr">
              <a:buNone/>
            </a:pPr>
            <a:r>
              <a:rPr lang="ja-JP" altLang="en-US" sz="1560" b="1" dirty="0">
                <a:solidFill>
                  <a:schemeClr val="bg1"/>
                </a:solidFill>
              </a:rPr>
              <a:t>3</a:t>
            </a:r>
            <a:endParaRPr lang="ja-JP" sz="1560" dirty="0"/>
          </a:p>
        </p:txBody>
      </p:sp>
      <p:sp>
        <p:nvSpPr>
          <p:cNvPr id="17" name="まとめ"/>
          <p:cNvSpPr txBox="1"/>
          <p:nvPr/>
        </p:nvSpPr>
        <p:spPr>
          <a:xfrm>
            <a:off x="453749" y="5486400"/>
            <a:ext cx="11094415" cy="548640"/>
          </a:xfrm>
          <a:prstGeom prst="rect">
            <a:avLst/>
          </a:prstGeom>
          <a:noFill/>
          <a:ln/>
        </p:spPr>
        <p:txBody>
          <a:bodyPr wrap="square" lIns="0" tIns="0" rIns="0" bIns="0" rtlCol="0" anchor="ctr"/>
          <a:lstStyle/>
          <a:p>
            <a:pPr marL="0" indent="0">
              <a:buNone/>
            </a:pPr>
            <a:r>
              <a:rPr lang="ja-JP" altLang="en-US" sz="2000" b="1">
                <a:solidFill>
                  <a:schemeClr val="accent1"/>
                </a:solidFill>
              </a:rPr>
              <a:t>→ 管理側と従業員側が連携を取れず現場</a:t>
            </a:r>
            <a:r>
              <a:rPr lang="ja-JP" altLang="en-US" sz="2000" b="1" dirty="0">
                <a:solidFill>
                  <a:schemeClr val="accent1"/>
                </a:solidFill>
              </a:rPr>
              <a:t>の時間を奪っている</a:t>
            </a:r>
            <a:endParaRPr lang="ja-JP"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4415" cy="320040"/>
          </a:xfrm>
          <a:prstGeom prst="rect">
            <a:avLst/>
          </a:prstGeom>
          <a:noFill/>
          <a:ln/>
        </p:spPr>
        <p:txBody>
          <a:bodyPr wrap="square" lIns="0" tIns="0" rIns="0" bIns="0" rtlCol="0" anchor="ctr"/>
          <a:lstStyle/>
          <a:p>
            <a:pPr marL="0" indent="0" algn="l">
              <a:buNone/>
            </a:pPr>
            <a:r>
              <a:rPr lang="ja-JP" altLang="en-US" sz="1400" b="1" dirty="0">
                <a:solidFill>
                  <a:schemeClr val="accent1"/>
                </a:solidFill>
              </a:rPr>
              <a:t>2. 本システムの目的</a:t>
            </a:r>
            <a:endParaRPr lang="ja-JP" sz="1400" dirty="0"/>
          </a:p>
        </p:txBody>
      </p:sp>
      <p:sp>
        <p:nvSpPr>
          <p:cNvPr id="3" name="Text 0"/>
          <p:cNvSpPr>
            <a:spLocks noGrp="1"/>
          </p:cNvSpPr>
          <p:nvPr>
            <p:ph type="title" idx="101" hasCustomPrompt="1"/>
          </p:nvPr>
        </p:nvSpPr>
        <p:spPr>
          <a:xfrm>
            <a:off x="548640" y="594360"/>
            <a:ext cx="11094415" cy="731520"/>
          </a:xfrm>
          <a:prstGeom prst="rect">
            <a:avLst/>
          </a:prstGeom>
          <a:noFill/>
          <a:ln/>
        </p:spPr>
        <p:txBody>
          <a:bodyPr wrap="square" lIns="0" tIns="0" rIns="0" bIns="0" rtlCol="0" anchor="ctr"/>
          <a:lstStyle/>
          <a:p>
            <a:pPr marL="0" indent="0" algn="l">
              <a:buNone/>
            </a:pPr>
            <a:r>
              <a:rPr lang="ja-JP" altLang="en-US" sz="3200" b="1">
                <a:solidFill>
                  <a:schemeClr val="tx2"/>
                </a:solidFill>
              </a:rPr>
              <a:t>目的：現場の無駄を</a:t>
            </a:r>
            <a:r>
              <a:rPr lang="ja-JP" altLang="en-US" sz="3200" b="1" dirty="0">
                <a:solidFill>
                  <a:schemeClr val="tx2"/>
                </a:solidFill>
              </a:rPr>
              <a:t>なくし、人と仕事を最適に結び付ける</a:t>
            </a:r>
            <a:endParaRPr lang="ja-JP" sz="3200" dirty="0"/>
          </a:p>
        </p:txBody>
      </p:sp>
      <p:sp>
        <p:nvSpPr>
          <p:cNvPr id="4" name="目的_見出し左"/>
          <p:cNvSpPr txBox="1"/>
          <p:nvPr/>
        </p:nvSpPr>
        <p:spPr>
          <a:xfrm>
            <a:off x="548640" y="1554480"/>
            <a:ext cx="3291840" cy="320040"/>
          </a:xfrm>
          <a:prstGeom prst="rect">
            <a:avLst/>
          </a:prstGeom>
          <a:noFill/>
          <a:ln/>
        </p:spPr>
        <p:txBody>
          <a:bodyPr wrap="square" lIns="0" tIns="0" rIns="0" bIns="0" rtlCol="0" anchor="ctr"/>
          <a:lstStyle/>
          <a:p>
            <a:pPr marL="0" indent="0">
              <a:buNone/>
            </a:pPr>
            <a:r>
              <a:rPr lang="ja-JP" altLang="en-US" sz="1400">
                <a:solidFill>
                  <a:schemeClr val="accent4"/>
                </a:solidFill>
              </a:rPr>
              <a:t>現状の</a:t>
            </a:r>
            <a:r>
              <a:rPr lang="ja-JP" altLang="en-US" sz="1400" dirty="0">
                <a:solidFill>
                  <a:schemeClr val="accent4"/>
                </a:solidFill>
              </a:rPr>
              <a:t>問題</a:t>
            </a:r>
            <a:endParaRPr lang="ja-JP" sz="1400" dirty="0"/>
          </a:p>
        </p:txBody>
      </p:sp>
      <p:sp>
        <p:nvSpPr>
          <p:cNvPr id="5" name="目的_見出し右"/>
          <p:cNvSpPr txBox="1"/>
          <p:nvPr/>
        </p:nvSpPr>
        <p:spPr>
          <a:xfrm>
            <a:off x="4754880" y="1554480"/>
            <a:ext cx="3657600" cy="320040"/>
          </a:xfrm>
          <a:prstGeom prst="rect">
            <a:avLst/>
          </a:prstGeom>
          <a:noFill/>
          <a:ln/>
        </p:spPr>
        <p:txBody>
          <a:bodyPr wrap="square" lIns="0" tIns="0" rIns="0" bIns="0" rtlCol="0" anchor="ctr"/>
          <a:lstStyle/>
          <a:p>
            <a:pPr marL="0" indent="0">
              <a:buNone/>
            </a:pPr>
            <a:r>
              <a:rPr lang="ja-JP" altLang="en-US" sz="1400" b="1">
                <a:solidFill>
                  <a:schemeClr val="accent1"/>
                </a:solidFill>
              </a:rPr>
              <a:t>Gemmba</a:t>
            </a:r>
            <a:r>
              <a:rPr lang="en-US" altLang="ja-JP" sz="1400" b="1">
                <a:solidFill>
                  <a:schemeClr val="accent1"/>
                </a:solidFill>
              </a:rPr>
              <a:t>(</a:t>
            </a:r>
            <a:r>
              <a:rPr lang="ja-JP" altLang="en-US" sz="1400" b="1">
                <a:solidFill>
                  <a:schemeClr val="accent1"/>
                </a:solidFill>
              </a:rPr>
              <a:t>本システム</a:t>
            </a:r>
            <a:r>
              <a:rPr lang="en-US" altLang="ja-JP" sz="1400" b="1">
                <a:solidFill>
                  <a:schemeClr val="accent1"/>
                </a:solidFill>
              </a:rPr>
              <a:t>)</a:t>
            </a:r>
            <a:endParaRPr lang="ja-JP" sz="1400" dirty="0"/>
          </a:p>
        </p:txBody>
      </p:sp>
      <p:sp>
        <p:nvSpPr>
          <p:cNvPr id="6" name="目的_問題1"/>
          <p:cNvSpPr/>
          <p:nvPr/>
        </p:nvSpPr>
        <p:spPr>
          <a:xfrm>
            <a:off x="548640" y="1965960"/>
            <a:ext cx="3291840" cy="960120"/>
          </a:xfrm>
          <a:prstGeom prst="roundRect">
            <a:avLst>
              <a:gd name="adj" fmla="val 7619"/>
            </a:avLst>
          </a:prstGeom>
          <a:solidFill>
            <a:schemeClr val="bg2"/>
          </a:solidFill>
          <a:ln w="12700">
            <a:solidFill>
              <a:schemeClr val="bg2"/>
            </a:solidFill>
            <a:prstDash val="solid"/>
          </a:ln>
        </p:spPr>
        <p:txBody>
          <a:bodyPr/>
          <a:lstStyle/>
          <a:p>
            <a:endParaRPr lang="ja-JP" altLang="en-US"/>
          </a:p>
        </p:txBody>
      </p:sp>
      <p:sp>
        <p:nvSpPr>
          <p:cNvPr id="7" name="目的_問題1_文字"/>
          <p:cNvSpPr txBox="1"/>
          <p:nvPr/>
        </p:nvSpPr>
        <p:spPr>
          <a:xfrm>
            <a:off x="777240" y="1965960"/>
            <a:ext cx="2834640" cy="960120"/>
          </a:xfrm>
          <a:prstGeom prst="rect">
            <a:avLst/>
          </a:prstGeom>
          <a:noFill/>
          <a:ln/>
        </p:spPr>
        <p:txBody>
          <a:bodyPr wrap="square" lIns="0" tIns="0" rIns="0" bIns="0" rtlCol="0" anchor="ctr"/>
          <a:lstStyle/>
          <a:p>
            <a:pPr marL="0" indent="0">
              <a:buNone/>
            </a:pPr>
            <a:r>
              <a:rPr lang="ja-JP" altLang="en-US" sz="1800" dirty="0">
                <a:solidFill>
                  <a:schemeClr val="accent4"/>
                </a:solidFill>
              </a:rPr>
              <a:t>使用状況が見えない</a:t>
            </a:r>
            <a:endParaRPr lang="ja-JP" sz="1800" dirty="0"/>
          </a:p>
        </p:txBody>
      </p:sp>
      <p:sp>
        <p:nvSpPr>
          <p:cNvPr id="8" name="目的_矢印1"/>
          <p:cNvSpPr/>
          <p:nvPr/>
        </p:nvSpPr>
        <p:spPr>
          <a:xfrm>
            <a:off x="4023360" y="2244852"/>
            <a:ext cx="548640" cy="402336"/>
          </a:xfrm>
          <a:prstGeom prst="rightArrow">
            <a:avLst/>
          </a:prstGeom>
          <a:solidFill>
            <a:schemeClr val="accent1"/>
          </a:solidFill>
          <a:ln w="12700">
            <a:solidFill>
              <a:schemeClr val="accent1"/>
            </a:solidFill>
            <a:prstDash val="solid"/>
          </a:ln>
        </p:spPr>
        <p:txBody>
          <a:bodyPr/>
          <a:lstStyle/>
          <a:p>
            <a:endParaRPr lang="ja-JP" altLang="en-US"/>
          </a:p>
        </p:txBody>
      </p:sp>
      <p:sp>
        <p:nvSpPr>
          <p:cNvPr id="9" name="目的_目標1"/>
          <p:cNvSpPr/>
          <p:nvPr/>
        </p:nvSpPr>
        <p:spPr>
          <a:xfrm>
            <a:off x="4754880" y="1965960"/>
            <a:ext cx="6888175" cy="960120"/>
          </a:xfrm>
          <a:prstGeom prst="roundRect">
            <a:avLst>
              <a:gd name="adj" fmla="val 7619"/>
            </a:avLst>
          </a:prstGeom>
          <a:solidFill>
            <a:schemeClr val="accent5"/>
          </a:solidFill>
          <a:ln w="12700">
            <a:solidFill>
              <a:schemeClr val="accent5"/>
            </a:solidFill>
            <a:prstDash val="solid"/>
          </a:ln>
        </p:spPr>
        <p:txBody>
          <a:bodyPr/>
          <a:lstStyle/>
          <a:p>
            <a:endParaRPr lang="ja-JP" altLang="en-US"/>
          </a:p>
        </p:txBody>
      </p:sp>
      <p:sp>
        <p:nvSpPr>
          <p:cNvPr id="10" name="目的_目標1_文字"/>
          <p:cNvSpPr txBox="1"/>
          <p:nvPr/>
        </p:nvSpPr>
        <p:spPr>
          <a:xfrm>
            <a:off x="5029200" y="1965960"/>
            <a:ext cx="6339535" cy="960120"/>
          </a:xfrm>
          <a:prstGeom prst="rect">
            <a:avLst/>
          </a:prstGeom>
          <a:noFill/>
          <a:ln/>
        </p:spPr>
        <p:txBody>
          <a:bodyPr wrap="square" lIns="0" tIns="0" rIns="0" bIns="0" rtlCol="0" anchor="ctr"/>
          <a:lstStyle/>
          <a:p>
            <a:pPr marL="0" indent="0">
              <a:buNone/>
            </a:pPr>
            <a:r>
              <a:rPr lang="ja-JP" altLang="en-US" sz="2000" b="1" dirty="0">
                <a:solidFill>
                  <a:schemeClr val="tx2"/>
                </a:solidFill>
              </a:rPr>
              <a:t>機材と人の状況を、常に正しく見える化する</a:t>
            </a:r>
            <a:endParaRPr lang="ja-JP" sz="2000" dirty="0"/>
          </a:p>
        </p:txBody>
      </p:sp>
      <p:sp>
        <p:nvSpPr>
          <p:cNvPr id="11" name="目的_問題2"/>
          <p:cNvSpPr/>
          <p:nvPr/>
        </p:nvSpPr>
        <p:spPr>
          <a:xfrm>
            <a:off x="548640" y="3154680"/>
            <a:ext cx="3291840" cy="960120"/>
          </a:xfrm>
          <a:prstGeom prst="roundRect">
            <a:avLst>
              <a:gd name="adj" fmla="val 7619"/>
            </a:avLst>
          </a:prstGeom>
          <a:solidFill>
            <a:schemeClr val="bg2"/>
          </a:solidFill>
          <a:ln w="12700">
            <a:solidFill>
              <a:schemeClr val="bg2"/>
            </a:solidFill>
            <a:prstDash val="solid"/>
          </a:ln>
        </p:spPr>
        <p:txBody>
          <a:bodyPr/>
          <a:lstStyle/>
          <a:p>
            <a:endParaRPr lang="ja-JP" altLang="en-US"/>
          </a:p>
        </p:txBody>
      </p:sp>
      <p:sp>
        <p:nvSpPr>
          <p:cNvPr id="12" name="目的_問題2_文字"/>
          <p:cNvSpPr txBox="1"/>
          <p:nvPr/>
        </p:nvSpPr>
        <p:spPr>
          <a:xfrm>
            <a:off x="777240" y="3154680"/>
            <a:ext cx="2834640" cy="960120"/>
          </a:xfrm>
          <a:prstGeom prst="rect">
            <a:avLst/>
          </a:prstGeom>
          <a:noFill/>
          <a:ln/>
        </p:spPr>
        <p:txBody>
          <a:bodyPr wrap="square" lIns="0" tIns="0" rIns="0" bIns="0" rtlCol="0" anchor="ctr"/>
          <a:lstStyle/>
          <a:p>
            <a:pPr marL="0" indent="0">
              <a:buNone/>
            </a:pPr>
            <a:r>
              <a:rPr lang="ja-JP" altLang="en-US" sz="1800" dirty="0">
                <a:solidFill>
                  <a:schemeClr val="accent4"/>
                </a:solidFill>
              </a:rPr>
              <a:t>仕事が偏る・忘れられる</a:t>
            </a:r>
            <a:endParaRPr lang="ja-JP" sz="1800" dirty="0"/>
          </a:p>
        </p:txBody>
      </p:sp>
      <p:sp>
        <p:nvSpPr>
          <p:cNvPr id="13" name="目的_矢印2"/>
          <p:cNvSpPr/>
          <p:nvPr/>
        </p:nvSpPr>
        <p:spPr>
          <a:xfrm>
            <a:off x="4023360" y="3433572"/>
            <a:ext cx="548640" cy="402336"/>
          </a:xfrm>
          <a:prstGeom prst="rightArrow">
            <a:avLst/>
          </a:prstGeom>
          <a:solidFill>
            <a:schemeClr val="accent1"/>
          </a:solidFill>
          <a:ln w="12700">
            <a:solidFill>
              <a:schemeClr val="accent1"/>
            </a:solidFill>
            <a:prstDash val="solid"/>
          </a:ln>
        </p:spPr>
        <p:txBody>
          <a:bodyPr/>
          <a:lstStyle/>
          <a:p>
            <a:endParaRPr lang="ja-JP" altLang="en-US"/>
          </a:p>
        </p:txBody>
      </p:sp>
      <p:sp>
        <p:nvSpPr>
          <p:cNvPr id="14" name="目的_目標2"/>
          <p:cNvSpPr/>
          <p:nvPr/>
        </p:nvSpPr>
        <p:spPr>
          <a:xfrm>
            <a:off x="4754880" y="3154680"/>
            <a:ext cx="6888175" cy="960120"/>
          </a:xfrm>
          <a:prstGeom prst="roundRect">
            <a:avLst>
              <a:gd name="adj" fmla="val 7619"/>
            </a:avLst>
          </a:prstGeom>
          <a:solidFill>
            <a:schemeClr val="accent5"/>
          </a:solidFill>
          <a:ln w="12700">
            <a:solidFill>
              <a:schemeClr val="accent5"/>
            </a:solidFill>
            <a:prstDash val="solid"/>
          </a:ln>
        </p:spPr>
        <p:txBody>
          <a:bodyPr/>
          <a:lstStyle/>
          <a:p>
            <a:endParaRPr lang="ja-JP" altLang="en-US"/>
          </a:p>
        </p:txBody>
      </p:sp>
      <p:sp>
        <p:nvSpPr>
          <p:cNvPr id="15" name="目的_目標2_文字"/>
          <p:cNvSpPr txBox="1"/>
          <p:nvPr/>
        </p:nvSpPr>
        <p:spPr>
          <a:xfrm>
            <a:off x="5029200" y="3154680"/>
            <a:ext cx="6339535" cy="960120"/>
          </a:xfrm>
          <a:prstGeom prst="rect">
            <a:avLst/>
          </a:prstGeom>
          <a:noFill/>
          <a:ln/>
        </p:spPr>
        <p:txBody>
          <a:bodyPr wrap="square" lIns="0" tIns="0" rIns="0" bIns="0" rtlCol="0" anchor="ctr"/>
          <a:lstStyle/>
          <a:p>
            <a:pPr marL="0" indent="0">
              <a:buNone/>
            </a:pPr>
            <a:r>
              <a:rPr lang="ja-JP" altLang="en-US" sz="2000" b="1" dirty="0">
                <a:solidFill>
                  <a:schemeClr val="tx2"/>
                </a:solidFill>
              </a:rPr>
              <a:t>実績データをもとに、偏りなく最適な人へ割り当てる</a:t>
            </a:r>
            <a:endParaRPr lang="ja-JP" sz="2000" dirty="0"/>
          </a:p>
        </p:txBody>
      </p:sp>
      <p:sp>
        <p:nvSpPr>
          <p:cNvPr id="16" name="目的_問題3"/>
          <p:cNvSpPr/>
          <p:nvPr/>
        </p:nvSpPr>
        <p:spPr>
          <a:xfrm>
            <a:off x="548640" y="4343400"/>
            <a:ext cx="3291840" cy="960120"/>
          </a:xfrm>
          <a:prstGeom prst="roundRect">
            <a:avLst>
              <a:gd name="adj" fmla="val 7619"/>
            </a:avLst>
          </a:prstGeom>
          <a:solidFill>
            <a:schemeClr val="bg2"/>
          </a:solidFill>
          <a:ln w="12700">
            <a:solidFill>
              <a:schemeClr val="bg2"/>
            </a:solidFill>
            <a:prstDash val="solid"/>
          </a:ln>
        </p:spPr>
        <p:txBody>
          <a:bodyPr/>
          <a:lstStyle/>
          <a:p>
            <a:endParaRPr lang="ja-JP" altLang="en-US"/>
          </a:p>
        </p:txBody>
      </p:sp>
      <p:sp>
        <p:nvSpPr>
          <p:cNvPr id="17" name="目的_問題3_文字"/>
          <p:cNvSpPr txBox="1"/>
          <p:nvPr/>
        </p:nvSpPr>
        <p:spPr>
          <a:xfrm>
            <a:off x="777240" y="4343400"/>
            <a:ext cx="2834640" cy="960120"/>
          </a:xfrm>
          <a:prstGeom prst="rect">
            <a:avLst/>
          </a:prstGeom>
          <a:noFill/>
          <a:ln/>
        </p:spPr>
        <p:txBody>
          <a:bodyPr wrap="square" lIns="0" tIns="0" rIns="0" bIns="0" rtlCol="0" anchor="ctr"/>
          <a:lstStyle/>
          <a:p>
            <a:pPr marL="0" indent="0">
              <a:buNone/>
            </a:pPr>
            <a:r>
              <a:rPr lang="ja-JP" altLang="en-US" sz="1800" dirty="0">
                <a:solidFill>
                  <a:schemeClr val="accent4"/>
                </a:solidFill>
              </a:rPr>
              <a:t>探す・聞く手間</a:t>
            </a:r>
            <a:endParaRPr lang="ja-JP" sz="1800" dirty="0"/>
          </a:p>
        </p:txBody>
      </p:sp>
      <p:sp>
        <p:nvSpPr>
          <p:cNvPr id="18" name="目的_矢印3"/>
          <p:cNvSpPr/>
          <p:nvPr/>
        </p:nvSpPr>
        <p:spPr>
          <a:xfrm>
            <a:off x="4023360" y="4622292"/>
            <a:ext cx="548640" cy="402336"/>
          </a:xfrm>
          <a:prstGeom prst="rightArrow">
            <a:avLst/>
          </a:prstGeom>
          <a:solidFill>
            <a:schemeClr val="accent1"/>
          </a:solidFill>
          <a:ln w="12700">
            <a:solidFill>
              <a:schemeClr val="accent1"/>
            </a:solidFill>
            <a:prstDash val="solid"/>
          </a:ln>
        </p:spPr>
        <p:txBody>
          <a:bodyPr/>
          <a:lstStyle/>
          <a:p>
            <a:endParaRPr lang="ja-JP" altLang="en-US"/>
          </a:p>
        </p:txBody>
      </p:sp>
      <p:sp>
        <p:nvSpPr>
          <p:cNvPr id="19" name="目的_目標3"/>
          <p:cNvSpPr/>
          <p:nvPr/>
        </p:nvSpPr>
        <p:spPr>
          <a:xfrm>
            <a:off x="4754880" y="4343400"/>
            <a:ext cx="6888175" cy="960120"/>
          </a:xfrm>
          <a:prstGeom prst="roundRect">
            <a:avLst>
              <a:gd name="adj" fmla="val 7619"/>
            </a:avLst>
          </a:prstGeom>
          <a:solidFill>
            <a:schemeClr val="accent5"/>
          </a:solidFill>
          <a:ln w="12700">
            <a:solidFill>
              <a:schemeClr val="accent5"/>
            </a:solidFill>
            <a:prstDash val="solid"/>
          </a:ln>
        </p:spPr>
        <p:txBody>
          <a:bodyPr/>
          <a:lstStyle/>
          <a:p>
            <a:endParaRPr lang="ja-JP" altLang="en-US"/>
          </a:p>
        </p:txBody>
      </p:sp>
      <p:sp>
        <p:nvSpPr>
          <p:cNvPr id="20" name="目的_目標3_文字"/>
          <p:cNvSpPr txBox="1"/>
          <p:nvPr/>
        </p:nvSpPr>
        <p:spPr>
          <a:xfrm>
            <a:off x="5029200" y="4343400"/>
            <a:ext cx="6339535" cy="960120"/>
          </a:xfrm>
          <a:prstGeom prst="rect">
            <a:avLst/>
          </a:prstGeom>
          <a:noFill/>
          <a:ln/>
        </p:spPr>
        <p:txBody>
          <a:bodyPr wrap="square" lIns="0" tIns="0" rIns="0" bIns="0" rtlCol="0" anchor="ctr"/>
          <a:lstStyle/>
          <a:p>
            <a:pPr marL="0" indent="0">
              <a:buNone/>
            </a:pPr>
            <a:r>
              <a:rPr lang="ja-JP" altLang="en-US" sz="2000" b="1" dirty="0">
                <a:solidFill>
                  <a:schemeClr val="tx2"/>
                </a:solidFill>
              </a:rPr>
              <a:t>タッチした瞬間に、その場でやるべき仕事を示す</a:t>
            </a:r>
            <a:endParaRPr lang="ja-JP" sz="2000" dirty="0"/>
          </a:p>
        </p:txBody>
      </p:sp>
      <p:sp>
        <p:nvSpPr>
          <p:cNvPr id="21" name="目的_方針"/>
          <p:cNvSpPr txBox="1"/>
          <p:nvPr/>
        </p:nvSpPr>
        <p:spPr>
          <a:xfrm>
            <a:off x="548640" y="5623560"/>
            <a:ext cx="11094415" cy="457200"/>
          </a:xfrm>
          <a:prstGeom prst="rect">
            <a:avLst/>
          </a:prstGeom>
          <a:noFill/>
          <a:ln/>
        </p:spPr>
        <p:txBody>
          <a:bodyPr wrap="square" lIns="0" tIns="0" rIns="0" bIns="0" rtlCol="0" anchor="ctr"/>
          <a:lstStyle/>
          <a:p>
            <a:pPr marL="0" indent="0">
              <a:buNone/>
            </a:pPr>
            <a:r>
              <a:rPr lang="ja-JP" altLang="en-US" sz="1800" b="1" dirty="0">
                <a:solidFill>
                  <a:schemeClr val="tx2"/>
                </a:solidFill>
              </a:rPr>
              <a:t>設計の方針：</a:t>
            </a:r>
            <a:r>
              <a:rPr lang="ja-JP" altLang="en-US" sz="1800" dirty="0">
                <a:solidFill>
                  <a:schemeClr val="tx1"/>
                </a:solidFill>
              </a:rPr>
              <a:t>遠隔予約を作らない ／ 操作はタッチとボタンだけ ／ IT 担当者がいなくても導入できる</a:t>
            </a:r>
            <a:endParaRPr lang="ja-JP"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4415" cy="320040"/>
          </a:xfrm>
          <a:prstGeom prst="rect">
            <a:avLst/>
          </a:prstGeom>
          <a:noFill/>
          <a:ln/>
        </p:spPr>
        <p:txBody>
          <a:bodyPr wrap="square" lIns="0" tIns="0" rIns="0" bIns="0" rtlCol="0" anchor="ctr"/>
          <a:lstStyle/>
          <a:p>
            <a:pPr marL="0" indent="0" algn="l">
              <a:buNone/>
            </a:pPr>
            <a:r>
              <a:rPr lang="ja-JP" altLang="en-US" sz="1400" b="1" dirty="0">
                <a:solidFill>
                  <a:schemeClr val="accent1"/>
                </a:solidFill>
              </a:rPr>
              <a:t>3. システムの概要</a:t>
            </a:r>
            <a:endParaRPr lang="ja-JP" sz="1400" dirty="0"/>
          </a:p>
        </p:txBody>
      </p:sp>
      <p:sp>
        <p:nvSpPr>
          <p:cNvPr id="3" name="Text 0"/>
          <p:cNvSpPr>
            <a:spLocks noGrp="1"/>
          </p:cNvSpPr>
          <p:nvPr>
            <p:ph type="title" idx="101" hasCustomPrompt="1"/>
          </p:nvPr>
        </p:nvSpPr>
        <p:spPr>
          <a:xfrm>
            <a:off x="548640" y="594360"/>
            <a:ext cx="11094415" cy="731520"/>
          </a:xfrm>
          <a:prstGeom prst="rect">
            <a:avLst/>
          </a:prstGeom>
          <a:noFill/>
          <a:ln/>
        </p:spPr>
        <p:txBody>
          <a:bodyPr wrap="square" lIns="0" tIns="0" rIns="0" bIns="0" rtlCol="0" anchor="ctr"/>
          <a:lstStyle/>
          <a:p>
            <a:pPr marL="0" indent="0" algn="l">
              <a:buNone/>
            </a:pPr>
            <a:r>
              <a:rPr lang="ja-JP" altLang="en-US" sz="3200" b="1" dirty="0">
                <a:solidFill>
                  <a:schemeClr val="tx2"/>
                </a:solidFill>
              </a:rPr>
              <a:t>システムの構成</a:t>
            </a:r>
            <a:endParaRPr lang="ja-JP" sz="3200" dirty="0"/>
          </a:p>
        </p:txBody>
      </p:sp>
      <p:sp>
        <p:nvSpPr>
          <p:cNvPr id="4" name="構成_モジュール"/>
          <p:cNvSpPr/>
          <p:nvPr/>
        </p:nvSpPr>
        <p:spPr>
          <a:xfrm>
            <a:off x="548640" y="1600200"/>
            <a:ext cx="2377440" cy="1325880"/>
          </a:xfrm>
          <a:prstGeom prst="roundRect">
            <a:avLst>
              <a:gd name="adj" fmla="val 5517"/>
            </a:avLst>
          </a:prstGeom>
          <a:solidFill>
            <a:schemeClr val="bg1"/>
          </a:solidFill>
          <a:ln w="25400">
            <a:solidFill>
              <a:schemeClr val="tx2"/>
            </a:solidFill>
            <a:prstDash val="solid"/>
          </a:ln>
        </p:spPr>
        <p:txBody>
          <a:bodyPr/>
          <a:lstStyle/>
          <a:p>
            <a:endParaRPr lang="ja-JP" altLang="en-US"/>
          </a:p>
        </p:txBody>
      </p:sp>
      <p:sp>
        <p:nvSpPr>
          <p:cNvPr id="5" name="構成_モジュール_文字"/>
          <p:cNvSpPr txBox="1"/>
          <p:nvPr/>
        </p:nvSpPr>
        <p:spPr>
          <a:xfrm>
            <a:off x="548640" y="1600200"/>
            <a:ext cx="2377440" cy="1325880"/>
          </a:xfrm>
          <a:prstGeom prst="rect">
            <a:avLst/>
          </a:prstGeom>
          <a:noFill/>
          <a:ln/>
        </p:spPr>
        <p:txBody>
          <a:bodyPr wrap="square" lIns="1270" tIns="1270" rIns="1270" bIns="1270" rtlCol="0" anchor="ctr"/>
          <a:lstStyle/>
          <a:p>
            <a:pPr marL="0" indent="0" algn="ctr">
              <a:buNone/>
            </a:pPr>
            <a:r>
              <a:rPr lang="ja-JP" altLang="en-US" sz="2000" b="1" dirty="0">
                <a:solidFill>
                  <a:schemeClr val="tx2"/>
                </a:solidFill>
              </a:rPr>
              <a:t>機材モジュール</a:t>
            </a:r>
            <a:endParaRPr lang="ja-JP" sz="2000" dirty="0"/>
          </a:p>
          <a:p>
            <a:pPr marL="0" indent="0" algn="ctr">
              <a:spcBef>
                <a:spcPts val="400"/>
              </a:spcBef>
              <a:buNone/>
            </a:pPr>
            <a:r>
              <a:rPr lang="ja-JP" altLang="en-US" sz="1400" dirty="0">
                <a:solidFill>
                  <a:schemeClr val="accent4"/>
                </a:solidFill>
              </a:rPr>
              <a:t>機材ごとに 1 台</a:t>
            </a:r>
            <a:endParaRPr lang="ja-JP" sz="2000" dirty="0"/>
          </a:p>
          <a:p>
            <a:pPr marL="0" indent="0" algn="ctr">
              <a:spcBef>
                <a:spcPts val="400"/>
              </a:spcBef>
              <a:buNone/>
            </a:pPr>
            <a:r>
              <a:rPr lang="ja-JP" altLang="en-US" sz="1400" dirty="0">
                <a:solidFill>
                  <a:schemeClr val="accent4"/>
                </a:solidFill>
              </a:rPr>
              <a:t>NFC・画面・ボタン・LED</a:t>
            </a:r>
            <a:endParaRPr lang="ja-JP" sz="2000" dirty="0"/>
          </a:p>
        </p:txBody>
      </p:sp>
      <p:sp>
        <p:nvSpPr>
          <p:cNvPr id="6" name="構成_矢印1"/>
          <p:cNvSpPr/>
          <p:nvPr/>
        </p:nvSpPr>
        <p:spPr>
          <a:xfrm>
            <a:off x="3017520" y="2057400"/>
            <a:ext cx="640080" cy="457200"/>
          </a:xfrm>
          <a:prstGeom prst="rightArrow">
            <a:avLst/>
          </a:prstGeom>
          <a:solidFill>
            <a:schemeClr val="accent3"/>
          </a:solidFill>
          <a:ln w="12700">
            <a:solidFill>
              <a:schemeClr val="accent3"/>
            </a:solidFill>
            <a:prstDash val="solid"/>
          </a:ln>
        </p:spPr>
        <p:txBody>
          <a:bodyPr/>
          <a:lstStyle/>
          <a:p>
            <a:endParaRPr lang="ja-JP" altLang="en-US"/>
          </a:p>
        </p:txBody>
      </p:sp>
      <p:sp>
        <p:nvSpPr>
          <p:cNvPr id="7" name="構成_MQTT"/>
          <p:cNvSpPr txBox="1"/>
          <p:nvPr/>
        </p:nvSpPr>
        <p:spPr>
          <a:xfrm>
            <a:off x="2926080" y="2560320"/>
            <a:ext cx="822960" cy="274320"/>
          </a:xfrm>
          <a:prstGeom prst="rect">
            <a:avLst/>
          </a:prstGeom>
          <a:noFill/>
          <a:ln/>
        </p:spPr>
        <p:txBody>
          <a:bodyPr wrap="square" lIns="0" tIns="0" rIns="0" bIns="0" rtlCol="0" anchor="ctr"/>
          <a:lstStyle/>
          <a:p>
            <a:pPr marL="0" indent="0" algn="ctr">
              <a:buNone/>
            </a:pPr>
            <a:r>
              <a:rPr lang="ja-JP" altLang="en-US" sz="1200" dirty="0">
                <a:solidFill>
                  <a:schemeClr val="accent4"/>
                </a:solidFill>
              </a:rPr>
              <a:t>MQTT</a:t>
            </a:r>
            <a:endParaRPr lang="ja-JP" sz="1200" dirty="0"/>
          </a:p>
        </p:txBody>
      </p:sp>
      <p:sp>
        <p:nvSpPr>
          <p:cNvPr id="8" name="構成_サーバ"/>
          <p:cNvSpPr/>
          <p:nvPr/>
        </p:nvSpPr>
        <p:spPr>
          <a:xfrm>
            <a:off x="3749040" y="1600200"/>
            <a:ext cx="2194560" cy="1325880"/>
          </a:xfrm>
          <a:prstGeom prst="roundRect">
            <a:avLst>
              <a:gd name="adj" fmla="val 5517"/>
            </a:avLst>
          </a:prstGeom>
          <a:solidFill>
            <a:schemeClr val="bg1"/>
          </a:solidFill>
          <a:ln w="25400">
            <a:solidFill>
              <a:schemeClr val="tx2"/>
            </a:solidFill>
            <a:prstDash val="solid"/>
          </a:ln>
        </p:spPr>
        <p:txBody>
          <a:bodyPr/>
          <a:lstStyle/>
          <a:p>
            <a:endParaRPr lang="ja-JP" altLang="en-US"/>
          </a:p>
        </p:txBody>
      </p:sp>
      <p:sp>
        <p:nvSpPr>
          <p:cNvPr id="9" name="構成_サーバ_文字"/>
          <p:cNvSpPr txBox="1"/>
          <p:nvPr/>
        </p:nvSpPr>
        <p:spPr>
          <a:xfrm>
            <a:off x="3749040" y="1600200"/>
            <a:ext cx="2194560" cy="1325880"/>
          </a:xfrm>
          <a:prstGeom prst="rect">
            <a:avLst/>
          </a:prstGeom>
          <a:noFill/>
          <a:ln/>
        </p:spPr>
        <p:txBody>
          <a:bodyPr wrap="square" lIns="1270" tIns="1270" rIns="1270" bIns="1270" rtlCol="0" anchor="ctr"/>
          <a:lstStyle/>
          <a:p>
            <a:pPr marL="0" indent="0" algn="ctr">
              <a:buNone/>
            </a:pPr>
            <a:r>
              <a:rPr lang="ja-JP" altLang="en-US" sz="2000" b="1" dirty="0">
                <a:solidFill>
                  <a:schemeClr val="tx2"/>
                </a:solidFill>
              </a:rPr>
              <a:t>サーバ</a:t>
            </a:r>
            <a:endParaRPr lang="ja-JP" sz="2000" dirty="0"/>
          </a:p>
          <a:p>
            <a:pPr marL="0" indent="0" algn="ctr">
              <a:spcBef>
                <a:spcPts val="400"/>
              </a:spcBef>
              <a:buNone/>
            </a:pPr>
            <a:r>
              <a:rPr lang="ja-JP" altLang="en-US" sz="1400" dirty="0">
                <a:solidFill>
                  <a:schemeClr val="accent4"/>
                </a:solidFill>
              </a:rPr>
              <a:t>Flask + SQLite</a:t>
            </a:r>
            <a:endParaRPr lang="ja-JP" sz="2000" dirty="0"/>
          </a:p>
          <a:p>
            <a:pPr marL="0" indent="0" algn="ctr">
              <a:spcBef>
                <a:spcPts val="400"/>
              </a:spcBef>
              <a:buNone/>
            </a:pPr>
            <a:r>
              <a:rPr lang="ja-JP" altLang="en-US" sz="1400" dirty="0">
                <a:solidFill>
                  <a:schemeClr val="accent4"/>
                </a:solidFill>
              </a:rPr>
              <a:t>作業者・タスク・ログ</a:t>
            </a:r>
            <a:endParaRPr lang="ja-JP" sz="2000" dirty="0"/>
          </a:p>
        </p:txBody>
      </p:sp>
      <p:sp>
        <p:nvSpPr>
          <p:cNvPr id="10" name="構成_矢印2"/>
          <p:cNvSpPr/>
          <p:nvPr/>
        </p:nvSpPr>
        <p:spPr>
          <a:xfrm>
            <a:off x="6035040" y="2057400"/>
            <a:ext cx="640080" cy="457200"/>
          </a:xfrm>
          <a:prstGeom prst="rightArrow">
            <a:avLst/>
          </a:prstGeom>
          <a:solidFill>
            <a:schemeClr val="accent3"/>
          </a:solidFill>
          <a:ln w="12700">
            <a:solidFill>
              <a:schemeClr val="accent3"/>
            </a:solidFill>
            <a:prstDash val="solid"/>
          </a:ln>
        </p:spPr>
        <p:txBody>
          <a:bodyPr/>
          <a:lstStyle/>
          <a:p>
            <a:endParaRPr lang="ja-JP" altLang="en-US"/>
          </a:p>
        </p:txBody>
      </p:sp>
      <p:sp>
        <p:nvSpPr>
          <p:cNvPr id="11" name="構成_HTTP"/>
          <p:cNvSpPr txBox="1"/>
          <p:nvPr/>
        </p:nvSpPr>
        <p:spPr>
          <a:xfrm>
            <a:off x="5943600" y="2560320"/>
            <a:ext cx="822960" cy="274320"/>
          </a:xfrm>
          <a:prstGeom prst="rect">
            <a:avLst/>
          </a:prstGeom>
          <a:noFill/>
          <a:ln/>
        </p:spPr>
        <p:txBody>
          <a:bodyPr wrap="square" lIns="0" tIns="0" rIns="0" bIns="0" rtlCol="0" anchor="ctr"/>
          <a:lstStyle/>
          <a:p>
            <a:pPr marL="0" indent="0" algn="ctr">
              <a:buNone/>
            </a:pPr>
            <a:r>
              <a:rPr lang="ja-JP" altLang="en-US" sz="1200" dirty="0">
                <a:solidFill>
                  <a:schemeClr val="accent4"/>
                </a:solidFill>
              </a:rPr>
              <a:t>ブラウザ</a:t>
            </a:r>
            <a:endParaRPr lang="ja-JP" sz="1200" dirty="0"/>
          </a:p>
        </p:txBody>
      </p:sp>
      <p:sp>
        <p:nvSpPr>
          <p:cNvPr id="12" name="構成_管理画面"/>
          <p:cNvSpPr/>
          <p:nvPr/>
        </p:nvSpPr>
        <p:spPr>
          <a:xfrm>
            <a:off x="6766560" y="1600200"/>
            <a:ext cx="1828800" cy="1325880"/>
          </a:xfrm>
          <a:prstGeom prst="roundRect">
            <a:avLst>
              <a:gd name="adj" fmla="val 5517"/>
            </a:avLst>
          </a:prstGeom>
          <a:solidFill>
            <a:schemeClr val="bg1"/>
          </a:solidFill>
          <a:ln w="25400">
            <a:solidFill>
              <a:schemeClr val="tx2"/>
            </a:solidFill>
            <a:prstDash val="solid"/>
          </a:ln>
        </p:spPr>
        <p:txBody>
          <a:bodyPr/>
          <a:lstStyle/>
          <a:p>
            <a:endParaRPr lang="ja-JP" altLang="en-US"/>
          </a:p>
        </p:txBody>
      </p:sp>
      <p:sp>
        <p:nvSpPr>
          <p:cNvPr id="13" name="構成_管理画面_文字"/>
          <p:cNvSpPr txBox="1"/>
          <p:nvPr/>
        </p:nvSpPr>
        <p:spPr>
          <a:xfrm>
            <a:off x="6766560" y="1600200"/>
            <a:ext cx="1828800" cy="1325880"/>
          </a:xfrm>
          <a:prstGeom prst="rect">
            <a:avLst/>
          </a:prstGeom>
          <a:noFill/>
          <a:ln/>
        </p:spPr>
        <p:txBody>
          <a:bodyPr wrap="square" lIns="1270" tIns="1270" rIns="1270" bIns="1270" rtlCol="0" anchor="ctr"/>
          <a:lstStyle/>
          <a:p>
            <a:pPr marL="0" indent="0" algn="ctr">
              <a:buNone/>
            </a:pPr>
            <a:r>
              <a:rPr lang="ja-JP" altLang="en-US" sz="2000" b="1" dirty="0">
                <a:solidFill>
                  <a:schemeClr val="tx2"/>
                </a:solidFill>
              </a:rPr>
              <a:t>管理画面</a:t>
            </a:r>
            <a:endParaRPr lang="ja-JP" sz="2000" dirty="0"/>
          </a:p>
          <a:p>
            <a:pPr marL="0" indent="0" algn="ctr">
              <a:spcBef>
                <a:spcPts val="400"/>
              </a:spcBef>
              <a:buNone/>
            </a:pPr>
            <a:r>
              <a:rPr lang="ja-JP" altLang="en-US" sz="1400" dirty="0">
                <a:solidFill>
                  <a:schemeClr val="accent4"/>
                </a:solidFill>
              </a:rPr>
              <a:t>登録・割当</a:t>
            </a:r>
            <a:endParaRPr lang="ja-JP" sz="2000" dirty="0"/>
          </a:p>
          <a:p>
            <a:pPr marL="0" indent="0" algn="ctr">
              <a:spcBef>
                <a:spcPts val="400"/>
              </a:spcBef>
              <a:buNone/>
            </a:pPr>
            <a:r>
              <a:rPr lang="ja-JP" altLang="en-US" sz="1400" dirty="0">
                <a:solidFill>
                  <a:schemeClr val="accent4"/>
                </a:solidFill>
              </a:rPr>
              <a:t>稼働状況</a:t>
            </a:r>
            <a:endParaRPr lang="ja-JP" sz="2000" dirty="0"/>
          </a:p>
        </p:txBody>
      </p:sp>
      <p:sp>
        <p:nvSpPr>
          <p:cNvPr id="14" name="構成_AI"/>
          <p:cNvSpPr/>
          <p:nvPr/>
        </p:nvSpPr>
        <p:spPr>
          <a:xfrm>
            <a:off x="3749040" y="3291840"/>
            <a:ext cx="2194560" cy="914400"/>
          </a:xfrm>
          <a:prstGeom prst="roundRect">
            <a:avLst>
              <a:gd name="adj" fmla="val 8000"/>
            </a:avLst>
          </a:prstGeom>
          <a:solidFill>
            <a:schemeClr val="accent5"/>
          </a:solidFill>
          <a:ln w="25400">
            <a:solidFill>
              <a:schemeClr val="accent1"/>
            </a:solidFill>
            <a:prstDash val="solid"/>
          </a:ln>
        </p:spPr>
        <p:txBody>
          <a:bodyPr/>
          <a:lstStyle/>
          <a:p>
            <a:endParaRPr lang="ja-JP" altLang="en-US"/>
          </a:p>
        </p:txBody>
      </p:sp>
      <p:sp>
        <p:nvSpPr>
          <p:cNvPr id="15" name="構成_AI_文字"/>
          <p:cNvSpPr txBox="1"/>
          <p:nvPr/>
        </p:nvSpPr>
        <p:spPr>
          <a:xfrm>
            <a:off x="3749040" y="3291840"/>
            <a:ext cx="2194560" cy="914400"/>
          </a:xfrm>
          <a:prstGeom prst="rect">
            <a:avLst/>
          </a:prstGeom>
          <a:noFill/>
          <a:ln/>
        </p:spPr>
        <p:txBody>
          <a:bodyPr wrap="square" lIns="1270" tIns="1270" rIns="1270" bIns="1270" rtlCol="0" anchor="ctr"/>
          <a:lstStyle/>
          <a:p>
            <a:pPr marL="0" indent="0" algn="ctr">
              <a:buNone/>
            </a:pPr>
            <a:r>
              <a:rPr lang="ja-JP" altLang="en-US" sz="2000" b="1" dirty="0">
                <a:solidFill>
                  <a:schemeClr val="tx2"/>
                </a:solidFill>
              </a:rPr>
              <a:t>割当 AI</a:t>
            </a:r>
            <a:endParaRPr lang="ja-JP" sz="2000" dirty="0"/>
          </a:p>
          <a:p>
            <a:pPr marL="0" indent="0" algn="ctr">
              <a:spcBef>
                <a:spcPts val="400"/>
              </a:spcBef>
              <a:buNone/>
            </a:pPr>
            <a:r>
              <a:rPr lang="ja-JP" altLang="en-US" sz="1400" dirty="0">
                <a:solidFill>
                  <a:schemeClr val="accent4"/>
                </a:solidFill>
              </a:rPr>
              <a:t>実績から学習</a:t>
            </a:r>
            <a:endParaRPr lang="ja-JP" sz="2000" dirty="0"/>
          </a:p>
        </p:txBody>
      </p:sp>
      <p:sp>
        <p:nvSpPr>
          <p:cNvPr id="16" name="構成_AI線"/>
          <p:cNvSpPr/>
          <p:nvPr/>
        </p:nvSpPr>
        <p:spPr>
          <a:xfrm>
            <a:off x="4846320" y="2926080"/>
            <a:ext cx="0" cy="365760"/>
          </a:xfrm>
          <a:prstGeom prst="line">
            <a:avLst/>
          </a:prstGeom>
          <a:noFill/>
          <a:ln w="31750">
            <a:solidFill>
              <a:schemeClr val="accent1"/>
            </a:solidFill>
            <a:prstDash val="solid"/>
          </a:ln>
        </p:spPr>
        <p:txBody>
          <a:bodyPr/>
          <a:lstStyle/>
          <a:p>
            <a:endParaRPr lang="ja-JP" altLang="en-US"/>
          </a:p>
        </p:txBody>
      </p:sp>
      <p:sp>
        <p:nvSpPr>
          <p:cNvPr id="17" name="構成_説明"/>
          <p:cNvSpPr txBox="1"/>
          <p:nvPr/>
        </p:nvSpPr>
        <p:spPr>
          <a:xfrm>
            <a:off x="548640" y="4434840"/>
            <a:ext cx="8046720" cy="1828800"/>
          </a:xfrm>
          <a:prstGeom prst="rect">
            <a:avLst/>
          </a:prstGeom>
          <a:noFill/>
          <a:ln/>
        </p:spPr>
        <p:txBody>
          <a:bodyPr wrap="square" lIns="0" tIns="0" rIns="0" bIns="0" rtlCol="0" anchor="t"/>
          <a:lstStyle/>
          <a:p>
            <a:pPr marL="0" indent="0">
              <a:buNone/>
            </a:pPr>
            <a:r>
              <a:rPr lang="ja-JP" altLang="en-US" sz="1800" b="1">
                <a:solidFill>
                  <a:schemeClr val="tx2"/>
                </a:solidFill>
              </a:rPr>
              <a:t>すべての操作は腕輪型デバイスのタッチから</a:t>
            </a:r>
            <a:endParaRPr lang="ja-JP" sz="1800" dirty="0"/>
          </a:p>
          <a:p>
            <a:pPr marL="203200" indent="-203200">
              <a:spcBef>
                <a:spcPts val="600"/>
              </a:spcBef>
              <a:buSzPct val="100000"/>
              <a:buChar char="•"/>
            </a:pPr>
            <a:r>
              <a:rPr lang="ja-JP" altLang="en-US" sz="1600">
                <a:solidFill>
                  <a:schemeClr val="tx1"/>
                </a:solidFill>
              </a:rPr>
              <a:t>従業員は </a:t>
            </a:r>
            <a:r>
              <a:rPr lang="en-US" altLang="ja-JP" sz="1600">
                <a:solidFill>
                  <a:schemeClr val="tx1"/>
                </a:solidFill>
              </a:rPr>
              <a:t>IC </a:t>
            </a:r>
            <a:r>
              <a:rPr lang="ja-JP" altLang="en-US" sz="1600">
                <a:solidFill>
                  <a:schemeClr val="tx1"/>
                </a:solidFill>
              </a:rPr>
              <a:t>チップ入りの腕輪を社員証の代わりに着け、機材にタッチする</a:t>
            </a:r>
          </a:p>
          <a:p>
            <a:pPr marL="203200" indent="-203200">
              <a:spcBef>
                <a:spcPts val="600"/>
              </a:spcBef>
              <a:buSzPct val="100000"/>
              <a:buChar char="•"/>
            </a:pPr>
            <a:r>
              <a:rPr lang="ja-JP" altLang="en-US" sz="1600">
                <a:solidFill>
                  <a:schemeClr val="tx1"/>
                </a:solidFill>
              </a:rPr>
              <a:t>1 </a:t>
            </a:r>
            <a:r>
              <a:rPr lang="ja-JP" altLang="en-US" sz="1600" dirty="0">
                <a:solidFill>
                  <a:schemeClr val="tx1"/>
                </a:solidFill>
              </a:rPr>
              <a:t>回のタッチで機材のロック・作業の開始／完了の報告・所要時間の記録まで済む</a:t>
            </a:r>
            <a:endParaRPr lang="ja-JP" sz="1800" dirty="0"/>
          </a:p>
          <a:p>
            <a:pPr marL="203200" indent="-203200">
              <a:spcBef>
                <a:spcPts val="600"/>
              </a:spcBef>
              <a:buSzPct val="100000"/>
              <a:buChar char="•"/>
            </a:pPr>
            <a:r>
              <a:rPr lang="ja-JP" altLang="en-US" sz="1600" dirty="0">
                <a:solidFill>
                  <a:schemeClr val="tx1"/>
                </a:solidFill>
              </a:rPr>
              <a:t>遠隔予約はあえて作らない → 画面と現場の状態が常に一致する</a:t>
            </a:r>
            <a:endParaRPr lang="ja-JP" sz="1800" dirty="0"/>
          </a:p>
          <a:p>
            <a:pPr marL="203200" indent="-203200">
              <a:spcBef>
                <a:spcPts val="600"/>
              </a:spcBef>
              <a:buSzPct val="100000"/>
              <a:buChar char="•"/>
            </a:pPr>
            <a:r>
              <a:rPr lang="ja-JP" altLang="en-US" sz="1600" dirty="0">
                <a:solidFill>
                  <a:schemeClr val="tx1"/>
                </a:solidFill>
              </a:rPr>
              <a:t>部品は安価な汎用品（試作機：Raspberry Pi＋NFC リーダー＋小型画面）</a:t>
            </a:r>
            <a:endParaRPr lang="ja-JP" sz="1800" dirty="0"/>
          </a:p>
        </p:txBody>
      </p:sp>
      <p:pic>
        <p:nvPicPr>
          <p:cNvPr id="18" name="構成_写真" descr="C:\procon2026\resume\module.png"/>
          <p:cNvPicPr>
            <a:picLocks noChangeAspect="1"/>
          </p:cNvPicPr>
          <p:nvPr/>
        </p:nvPicPr>
        <p:blipFill>
          <a:blip r:embed="rId3"/>
          <a:stretch>
            <a:fillRect/>
          </a:stretch>
        </p:blipFill>
        <p:spPr>
          <a:xfrm>
            <a:off x="9242755" y="1600200"/>
            <a:ext cx="2103120" cy="1851226"/>
          </a:xfrm>
          <a:prstGeom prst="rect">
            <a:avLst/>
          </a:prstGeom>
        </p:spPr>
      </p:pic>
      <p:sp>
        <p:nvSpPr>
          <p:cNvPr id="19" name="構成_写真説明"/>
          <p:cNvSpPr txBox="1"/>
          <p:nvPr/>
        </p:nvSpPr>
        <p:spPr>
          <a:xfrm>
            <a:off x="8945575" y="3506290"/>
            <a:ext cx="2697480" cy="320040"/>
          </a:xfrm>
          <a:prstGeom prst="rect">
            <a:avLst/>
          </a:prstGeom>
          <a:noFill/>
          <a:ln/>
        </p:spPr>
        <p:txBody>
          <a:bodyPr wrap="square" lIns="0" tIns="0" rIns="0" bIns="0" rtlCol="0" anchor="ctr"/>
          <a:lstStyle/>
          <a:p>
            <a:pPr marL="0" indent="0" algn="ctr">
              <a:buNone/>
            </a:pPr>
            <a:r>
              <a:rPr lang="ja-JP" altLang="en-US" sz="1200" dirty="0">
                <a:solidFill>
                  <a:schemeClr val="accent4"/>
                </a:solidFill>
              </a:rPr>
              <a:t>試作した機材モジュール</a:t>
            </a:r>
            <a:endParaRPr lang="ja-JP"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4</a:t>
            </a:fld>
            <a:endParaRPr lang="en-US"/>
          </a:p>
        </p:txBody>
      </p:sp>
      <p:pic>
        <p:nvPicPr>
          <p:cNvPr id="21" name="構成_腕輪写真">
            <a:extLst>
              <a:ext uri="{FF2B5EF4-FFF2-40B4-BE49-F238E27FC236}">
                <a16:creationId xmlns:a16="http://schemas.microsoft.com/office/drawing/2014/main" id="{030D061D-F1C0-6092-95D6-52A65E6541E5}"/>
              </a:ext>
            </a:extLst>
          </p:cNvPr>
          <p:cNvPicPr>
            <a:picLocks noChangeAspect="1"/>
          </p:cNvPicPr>
          <p:nvPr/>
        </p:nvPicPr>
        <p:blipFill>
          <a:blip r:embed="rId4"/>
          <a:stretch>
            <a:fillRect/>
          </a:stretch>
        </p:blipFill>
        <p:spPr>
          <a:xfrm>
            <a:off x="9385761" y="3886200"/>
            <a:ext cx="1817107" cy="1600200"/>
          </a:xfrm>
          <a:prstGeom prst="rect">
            <a:avLst/>
          </a:prstGeom>
        </p:spPr>
      </p:pic>
      <p:sp>
        <p:nvSpPr>
          <p:cNvPr id="22" name="構成_腕輪写真説明">
            <a:extLst>
              <a:ext uri="{FF2B5EF4-FFF2-40B4-BE49-F238E27FC236}">
                <a16:creationId xmlns:a16="http://schemas.microsoft.com/office/drawing/2014/main" id="{22B64C99-85AB-4108-0D53-2F7AF872058D}"/>
              </a:ext>
            </a:extLst>
          </p:cNvPr>
          <p:cNvSpPr txBox="1"/>
          <p:nvPr/>
        </p:nvSpPr>
        <p:spPr>
          <a:xfrm>
            <a:off x="8945575" y="5541264"/>
            <a:ext cx="2697480" cy="320040"/>
          </a:xfrm>
          <a:prstGeom prst="rect">
            <a:avLst/>
          </a:prstGeom>
          <a:noFill/>
          <a:ln/>
        </p:spPr>
        <p:txBody>
          <a:bodyPr wrap="square" lIns="0" tIns="0" rIns="0" bIns="0" rtlCol="0" anchor="ctr"/>
          <a:lstStyle/>
          <a:p>
            <a:pPr marL="0" indent="0" algn="ctr">
              <a:buNone/>
            </a:pPr>
            <a:r>
              <a:rPr lang="ja-JP" altLang="en-US" sz="1200">
                <a:solidFill>
                  <a:schemeClr val="accent4"/>
                </a:solidFill>
              </a:rPr>
              <a:t>腕輪型デバイス（</a:t>
            </a:r>
            <a:r>
              <a:rPr lang="en-US" altLang="ja-JP" sz="1200">
                <a:solidFill>
                  <a:schemeClr val="accent4"/>
                </a:solidFill>
              </a:rPr>
              <a:t>IC </a:t>
            </a:r>
            <a:r>
              <a:rPr lang="ja-JP" altLang="en-US" sz="1200">
                <a:solidFill>
                  <a:schemeClr val="accent4"/>
                </a:solidFill>
              </a:rPr>
              <a:t>チップ入り）</a:t>
            </a:r>
            <a:endParaRPr lang="ja-JP"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4415" cy="320040"/>
          </a:xfrm>
          <a:prstGeom prst="rect">
            <a:avLst/>
          </a:prstGeom>
          <a:noFill/>
          <a:ln/>
        </p:spPr>
        <p:txBody>
          <a:bodyPr wrap="square" lIns="0" tIns="0" rIns="0" bIns="0" rtlCol="0" anchor="ctr"/>
          <a:lstStyle/>
          <a:p>
            <a:pPr marL="0" indent="0" algn="l">
              <a:buNone/>
            </a:pPr>
            <a:r>
              <a:rPr lang="ja-JP" altLang="en-US" sz="1400" b="1" dirty="0">
                <a:solidFill>
                  <a:schemeClr val="accent1"/>
                </a:solidFill>
              </a:rPr>
              <a:t>3. システムの概要</a:t>
            </a:r>
            <a:endParaRPr lang="ja-JP" sz="1400" dirty="0"/>
          </a:p>
        </p:txBody>
      </p:sp>
      <p:sp>
        <p:nvSpPr>
          <p:cNvPr id="3" name="Text 0"/>
          <p:cNvSpPr>
            <a:spLocks noGrp="1"/>
          </p:cNvSpPr>
          <p:nvPr>
            <p:ph type="title" idx="101" hasCustomPrompt="1"/>
          </p:nvPr>
        </p:nvSpPr>
        <p:spPr>
          <a:xfrm>
            <a:off x="548640" y="594360"/>
            <a:ext cx="11094415" cy="731520"/>
          </a:xfrm>
          <a:prstGeom prst="rect">
            <a:avLst/>
          </a:prstGeom>
          <a:noFill/>
          <a:ln/>
        </p:spPr>
        <p:txBody>
          <a:bodyPr wrap="square" lIns="0" tIns="0" rIns="0" bIns="0" rtlCol="0" anchor="ctr"/>
          <a:lstStyle/>
          <a:p>
            <a:pPr marL="0" indent="0" algn="l">
              <a:buNone/>
            </a:pPr>
            <a:r>
              <a:rPr lang="ja-JP" altLang="en-US" sz="3200" b="1" dirty="0">
                <a:solidFill>
                  <a:schemeClr val="tx2"/>
                </a:solidFill>
              </a:rPr>
              <a:t>管理者はブラウザで状況を一目で把握</a:t>
            </a:r>
            <a:endParaRPr lang="ja-JP" sz="3200" dirty="0"/>
          </a:p>
        </p:txBody>
      </p:sp>
      <p:pic>
        <p:nvPicPr>
          <p:cNvPr id="4" name="画面1" descr="C:\procon2026\resume\screen_dashboard.png"/>
          <p:cNvPicPr>
            <a:picLocks noChangeAspect="1"/>
          </p:cNvPicPr>
          <p:nvPr/>
        </p:nvPicPr>
        <p:blipFill>
          <a:blip r:embed="rId3"/>
          <a:stretch>
            <a:fillRect/>
          </a:stretch>
        </p:blipFill>
        <p:spPr>
          <a:xfrm>
            <a:off x="548640" y="1554480"/>
            <a:ext cx="5364328" cy="1915831"/>
          </a:xfrm>
          <a:prstGeom prst="rect">
            <a:avLst/>
          </a:prstGeom>
        </p:spPr>
      </p:pic>
      <p:sp>
        <p:nvSpPr>
          <p:cNvPr id="5" name="画面1_枠"/>
          <p:cNvSpPr/>
          <p:nvPr/>
        </p:nvSpPr>
        <p:spPr>
          <a:xfrm>
            <a:off x="548640" y="1554480"/>
            <a:ext cx="5364328" cy="1915831"/>
          </a:xfrm>
          <a:prstGeom prst="rect">
            <a:avLst/>
          </a:prstGeom>
          <a:ln w="12700">
            <a:solidFill>
              <a:schemeClr val="accent3"/>
            </a:solidFill>
            <a:prstDash val="solid"/>
          </a:ln>
        </p:spPr>
        <p:txBody>
          <a:bodyPr/>
          <a:lstStyle/>
          <a:p>
            <a:endParaRPr lang="ja-JP" altLang="en-US"/>
          </a:p>
        </p:txBody>
      </p:sp>
      <p:sp>
        <p:nvSpPr>
          <p:cNvPr id="6" name="画面1_説明"/>
          <p:cNvSpPr txBox="1"/>
          <p:nvPr/>
        </p:nvSpPr>
        <p:spPr>
          <a:xfrm>
            <a:off x="548640" y="3561751"/>
            <a:ext cx="5364328" cy="320040"/>
          </a:xfrm>
          <a:prstGeom prst="rect">
            <a:avLst/>
          </a:prstGeom>
          <a:noFill/>
          <a:ln/>
        </p:spPr>
        <p:txBody>
          <a:bodyPr wrap="square" lIns="0" tIns="0" rIns="0" bIns="0" rtlCol="0" anchor="ctr"/>
          <a:lstStyle/>
          <a:p>
            <a:pPr marL="0" indent="0">
              <a:buNone/>
            </a:pPr>
            <a:r>
              <a:rPr lang="ja-JP" altLang="en-US" sz="1200" dirty="0">
                <a:solidFill>
                  <a:schemeClr val="accent4"/>
                </a:solidFill>
              </a:rPr>
              <a:t>ダッシュボード：機材ごとの空き・使用中・担当者</a:t>
            </a:r>
            <a:endParaRPr lang="ja-JP" sz="1200" dirty="0"/>
          </a:p>
        </p:txBody>
      </p:sp>
      <p:pic>
        <p:nvPicPr>
          <p:cNvPr id="7" name="画面2" descr="C:\procon2026\resume\screen_tasks.png"/>
          <p:cNvPicPr>
            <a:picLocks noChangeAspect="1"/>
          </p:cNvPicPr>
          <p:nvPr/>
        </p:nvPicPr>
        <p:blipFill>
          <a:blip r:embed="rId4"/>
          <a:stretch>
            <a:fillRect/>
          </a:stretch>
        </p:blipFill>
        <p:spPr>
          <a:xfrm>
            <a:off x="6278728" y="1554480"/>
            <a:ext cx="5364328" cy="1915831"/>
          </a:xfrm>
          <a:prstGeom prst="rect">
            <a:avLst/>
          </a:prstGeom>
        </p:spPr>
      </p:pic>
      <p:sp>
        <p:nvSpPr>
          <p:cNvPr id="8" name="画面2_枠"/>
          <p:cNvSpPr/>
          <p:nvPr/>
        </p:nvSpPr>
        <p:spPr>
          <a:xfrm>
            <a:off x="6278728" y="1554480"/>
            <a:ext cx="5364328" cy="1915831"/>
          </a:xfrm>
          <a:prstGeom prst="rect">
            <a:avLst/>
          </a:prstGeom>
          <a:ln w="12700">
            <a:solidFill>
              <a:schemeClr val="accent3"/>
            </a:solidFill>
            <a:prstDash val="solid"/>
          </a:ln>
        </p:spPr>
        <p:txBody>
          <a:bodyPr/>
          <a:lstStyle/>
          <a:p>
            <a:endParaRPr lang="ja-JP" altLang="en-US"/>
          </a:p>
        </p:txBody>
      </p:sp>
      <p:sp>
        <p:nvSpPr>
          <p:cNvPr id="9" name="画面2_説明"/>
          <p:cNvSpPr txBox="1"/>
          <p:nvPr/>
        </p:nvSpPr>
        <p:spPr>
          <a:xfrm>
            <a:off x="6278728" y="3561751"/>
            <a:ext cx="5364328" cy="320040"/>
          </a:xfrm>
          <a:prstGeom prst="rect">
            <a:avLst/>
          </a:prstGeom>
          <a:noFill/>
          <a:ln/>
        </p:spPr>
        <p:txBody>
          <a:bodyPr wrap="square" lIns="0" tIns="0" rIns="0" bIns="0" rtlCol="0" anchor="ctr"/>
          <a:lstStyle/>
          <a:p>
            <a:pPr marL="0" indent="0">
              <a:buNone/>
            </a:pPr>
            <a:r>
              <a:rPr lang="ja-JP" altLang="en-US" sz="1200" dirty="0">
                <a:solidFill>
                  <a:schemeClr val="accent4"/>
                </a:solidFill>
              </a:rPr>
              <a:t>タスク一覧：各タスクの「AI 割当」ボタンと根拠の表示</a:t>
            </a:r>
            <a:endParaRPr lang="ja-JP" sz="1200" dirty="0"/>
          </a:p>
        </p:txBody>
      </p:sp>
      <p:sp>
        <p:nvSpPr>
          <p:cNvPr id="10" name="管理機能1"/>
          <p:cNvSpPr/>
          <p:nvPr/>
        </p:nvSpPr>
        <p:spPr>
          <a:xfrm>
            <a:off x="548640" y="4023360"/>
            <a:ext cx="3484778" cy="1212874"/>
          </a:xfrm>
          <a:prstGeom prst="roundRect">
            <a:avLst>
              <a:gd name="adj" fmla="val 5000"/>
            </a:avLst>
          </a:prstGeom>
          <a:solidFill>
            <a:schemeClr val="bg2"/>
          </a:solidFill>
          <a:ln w="12700">
            <a:solidFill>
              <a:schemeClr val="bg2"/>
            </a:solidFill>
            <a:prstDash val="solid"/>
          </a:ln>
        </p:spPr>
        <p:txBody>
          <a:bodyPr/>
          <a:lstStyle/>
          <a:p>
            <a:endParaRPr lang="ja-JP" altLang="en-US"/>
          </a:p>
        </p:txBody>
      </p:sp>
      <p:sp>
        <p:nvSpPr>
          <p:cNvPr id="11" name="管理機能1_文字"/>
          <p:cNvSpPr txBox="1"/>
          <p:nvPr/>
        </p:nvSpPr>
        <p:spPr>
          <a:xfrm>
            <a:off x="777240" y="4206240"/>
            <a:ext cx="3027578" cy="1097280"/>
          </a:xfrm>
          <a:prstGeom prst="rect">
            <a:avLst/>
          </a:prstGeom>
          <a:noFill/>
          <a:ln/>
        </p:spPr>
        <p:txBody>
          <a:bodyPr wrap="square" lIns="0" tIns="0" rIns="0" bIns="0" rtlCol="0" anchor="t"/>
          <a:lstStyle/>
          <a:p>
            <a:pPr marL="0" indent="0">
              <a:buNone/>
            </a:pPr>
            <a:r>
              <a:rPr lang="ja-JP" altLang="en-US" sz="2000" b="1" dirty="0">
                <a:solidFill>
                  <a:schemeClr val="tx2"/>
                </a:solidFill>
              </a:rPr>
              <a:t>タスク登録</a:t>
            </a:r>
            <a:endParaRPr lang="ja-JP" sz="2000" dirty="0"/>
          </a:p>
          <a:p>
            <a:pPr marL="0" indent="0">
              <a:spcBef>
                <a:spcPts val="800"/>
              </a:spcBef>
              <a:buNone/>
            </a:pPr>
            <a:r>
              <a:rPr lang="ja-JP" altLang="en-US" sz="1600" dirty="0">
                <a:solidFill>
                  <a:schemeClr val="tx1"/>
                </a:solidFill>
              </a:rPr>
              <a:t>重要度・難易度・期限・数量を入力</a:t>
            </a:r>
            <a:endParaRPr lang="ja-JP" sz="2000" dirty="0"/>
          </a:p>
        </p:txBody>
      </p:sp>
      <p:sp>
        <p:nvSpPr>
          <p:cNvPr id="12" name="管理機能2"/>
          <p:cNvSpPr/>
          <p:nvPr/>
        </p:nvSpPr>
        <p:spPr>
          <a:xfrm>
            <a:off x="4353458" y="4023360"/>
            <a:ext cx="3484778" cy="1212874"/>
          </a:xfrm>
          <a:prstGeom prst="roundRect">
            <a:avLst>
              <a:gd name="adj" fmla="val 5000"/>
            </a:avLst>
          </a:prstGeom>
          <a:solidFill>
            <a:schemeClr val="bg2"/>
          </a:solidFill>
          <a:ln w="12700">
            <a:solidFill>
              <a:schemeClr val="bg2"/>
            </a:solidFill>
            <a:prstDash val="solid"/>
          </a:ln>
        </p:spPr>
        <p:txBody>
          <a:bodyPr/>
          <a:lstStyle/>
          <a:p>
            <a:endParaRPr lang="ja-JP" altLang="en-US"/>
          </a:p>
        </p:txBody>
      </p:sp>
      <p:sp>
        <p:nvSpPr>
          <p:cNvPr id="13" name="管理機能2_文字"/>
          <p:cNvSpPr txBox="1"/>
          <p:nvPr/>
        </p:nvSpPr>
        <p:spPr>
          <a:xfrm>
            <a:off x="4582058" y="4206240"/>
            <a:ext cx="3027578" cy="1097280"/>
          </a:xfrm>
          <a:prstGeom prst="rect">
            <a:avLst/>
          </a:prstGeom>
          <a:noFill/>
          <a:ln/>
        </p:spPr>
        <p:txBody>
          <a:bodyPr wrap="square" lIns="0" tIns="0" rIns="0" bIns="0" rtlCol="0" anchor="t"/>
          <a:lstStyle/>
          <a:p>
            <a:pPr marL="0" indent="0">
              <a:buNone/>
            </a:pPr>
            <a:r>
              <a:rPr lang="ja-JP" altLang="en-US" sz="2000" b="1" dirty="0">
                <a:solidFill>
                  <a:schemeClr val="tx2"/>
                </a:solidFill>
              </a:rPr>
              <a:t>作業者・機材の登録</a:t>
            </a:r>
            <a:endParaRPr lang="ja-JP" sz="2000" dirty="0"/>
          </a:p>
          <a:p>
            <a:pPr marL="0" indent="0">
              <a:spcBef>
                <a:spcPts val="800"/>
              </a:spcBef>
              <a:buNone/>
            </a:pPr>
            <a:r>
              <a:rPr lang="ja-JP" altLang="en-US" sz="1600">
                <a:solidFill>
                  <a:schemeClr val="tx1"/>
                </a:solidFill>
              </a:rPr>
              <a:t>腕輪・</a:t>
            </a:r>
            <a:r>
              <a:rPr lang="ja-JP" altLang="en-US" sz="1600" dirty="0">
                <a:solidFill>
                  <a:schemeClr val="tx1"/>
                </a:solidFill>
              </a:rPr>
              <a:t>モジュールはタッチで登録</a:t>
            </a:r>
            <a:endParaRPr lang="ja-JP" sz="2000" dirty="0"/>
          </a:p>
        </p:txBody>
      </p:sp>
      <p:sp>
        <p:nvSpPr>
          <p:cNvPr id="14" name="管理機能3"/>
          <p:cNvSpPr/>
          <p:nvPr/>
        </p:nvSpPr>
        <p:spPr>
          <a:xfrm>
            <a:off x="8158277" y="4023360"/>
            <a:ext cx="3484778" cy="1212874"/>
          </a:xfrm>
          <a:prstGeom prst="roundRect">
            <a:avLst>
              <a:gd name="adj" fmla="val 5000"/>
            </a:avLst>
          </a:prstGeom>
          <a:solidFill>
            <a:schemeClr val="bg2"/>
          </a:solidFill>
          <a:ln w="12700">
            <a:solidFill>
              <a:schemeClr val="bg2"/>
            </a:solidFill>
            <a:prstDash val="solid"/>
          </a:ln>
        </p:spPr>
        <p:txBody>
          <a:bodyPr/>
          <a:lstStyle/>
          <a:p>
            <a:endParaRPr lang="ja-JP" altLang="en-US"/>
          </a:p>
        </p:txBody>
      </p:sp>
      <p:sp>
        <p:nvSpPr>
          <p:cNvPr id="15" name="管理機能3_文字"/>
          <p:cNvSpPr txBox="1"/>
          <p:nvPr/>
        </p:nvSpPr>
        <p:spPr>
          <a:xfrm>
            <a:off x="8386877" y="4206240"/>
            <a:ext cx="3027578" cy="1097280"/>
          </a:xfrm>
          <a:prstGeom prst="rect">
            <a:avLst/>
          </a:prstGeom>
          <a:noFill/>
          <a:ln/>
        </p:spPr>
        <p:txBody>
          <a:bodyPr wrap="square" lIns="0" tIns="0" rIns="0" bIns="0" rtlCol="0" anchor="t"/>
          <a:lstStyle/>
          <a:p>
            <a:pPr marL="0" indent="0">
              <a:buNone/>
            </a:pPr>
            <a:r>
              <a:rPr lang="ja-JP" altLang="en-US" sz="2000" b="1" dirty="0">
                <a:solidFill>
                  <a:schemeClr val="tx2"/>
                </a:solidFill>
              </a:rPr>
              <a:t>稼働状況</a:t>
            </a:r>
            <a:endParaRPr lang="ja-JP" sz="2000" dirty="0"/>
          </a:p>
          <a:p>
            <a:pPr marL="0" indent="0">
              <a:spcBef>
                <a:spcPts val="800"/>
              </a:spcBef>
              <a:buNone/>
            </a:pPr>
            <a:r>
              <a:rPr lang="ja-JP" altLang="en-US" sz="1600" dirty="0">
                <a:solidFill>
                  <a:schemeClr val="tx1"/>
                </a:solidFill>
              </a:rPr>
              <a:t>通信が切れたモジュールも分かる</a:t>
            </a:r>
            <a:endParaRPr lang="ja-JP"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4415" cy="320040"/>
          </a:xfrm>
          <a:prstGeom prst="rect">
            <a:avLst/>
          </a:prstGeom>
          <a:noFill/>
          <a:ln/>
        </p:spPr>
        <p:txBody>
          <a:bodyPr wrap="square" lIns="0" tIns="0" rIns="0" bIns="0" rtlCol="0" anchor="ctr"/>
          <a:lstStyle/>
          <a:p>
            <a:pPr marL="0" indent="0" algn="l">
              <a:buNone/>
            </a:pPr>
            <a:r>
              <a:rPr lang="ja-JP" altLang="en-US" sz="1400" b="1" dirty="0">
                <a:solidFill>
                  <a:schemeClr val="accent1"/>
                </a:solidFill>
              </a:rPr>
              <a:t>4. システム導入のメリット</a:t>
            </a:r>
            <a:endParaRPr lang="ja-JP" sz="1400" dirty="0"/>
          </a:p>
        </p:txBody>
      </p:sp>
      <p:sp>
        <p:nvSpPr>
          <p:cNvPr id="3" name="Text 0"/>
          <p:cNvSpPr>
            <a:spLocks noGrp="1"/>
          </p:cNvSpPr>
          <p:nvPr>
            <p:ph type="title" idx="101" hasCustomPrompt="1"/>
          </p:nvPr>
        </p:nvSpPr>
        <p:spPr>
          <a:xfrm>
            <a:off x="548640" y="594360"/>
            <a:ext cx="11094415" cy="731520"/>
          </a:xfrm>
          <a:prstGeom prst="rect">
            <a:avLst/>
          </a:prstGeom>
          <a:noFill/>
          <a:ln/>
        </p:spPr>
        <p:txBody>
          <a:bodyPr wrap="square" lIns="0" tIns="0" rIns="0" bIns="0" rtlCol="0" anchor="ctr"/>
          <a:lstStyle/>
          <a:p>
            <a:pPr marL="0" indent="0" algn="l">
              <a:buNone/>
            </a:pPr>
            <a:r>
              <a:rPr lang="ja-JP" altLang="en-US" sz="3200" b="1" dirty="0">
                <a:solidFill>
                  <a:schemeClr val="tx2"/>
                </a:solidFill>
              </a:rPr>
              <a:t>導入のメリット ①　現場の作業者</a:t>
            </a:r>
            <a:endParaRPr lang="ja-JP" sz="3200" dirty="0"/>
          </a:p>
        </p:txBody>
      </p:sp>
      <p:sp>
        <p:nvSpPr>
          <p:cNvPr id="4" name="作業者メリット1"/>
          <p:cNvSpPr/>
          <p:nvPr/>
        </p:nvSpPr>
        <p:spPr>
          <a:xfrm>
            <a:off x="548640" y="1645920"/>
            <a:ext cx="5387188" cy="1737360"/>
          </a:xfrm>
          <a:prstGeom prst="roundRect">
            <a:avLst>
              <a:gd name="adj" fmla="val 4211"/>
            </a:avLst>
          </a:prstGeom>
          <a:solidFill>
            <a:schemeClr val="bg2"/>
          </a:solidFill>
          <a:ln w="12700">
            <a:solidFill>
              <a:schemeClr val="bg2"/>
            </a:solidFill>
            <a:prstDash val="solid"/>
          </a:ln>
        </p:spPr>
        <p:txBody>
          <a:bodyPr/>
          <a:lstStyle/>
          <a:p>
            <a:endParaRPr lang="ja-JP" altLang="en-US"/>
          </a:p>
        </p:txBody>
      </p:sp>
      <p:sp>
        <p:nvSpPr>
          <p:cNvPr id="5" name="作業者メリット1_印"/>
          <p:cNvSpPr/>
          <p:nvPr/>
        </p:nvSpPr>
        <p:spPr>
          <a:xfrm>
            <a:off x="822960" y="1965960"/>
            <a:ext cx="502920" cy="502920"/>
          </a:xfrm>
          <a:prstGeom prst="ellipse">
            <a:avLst/>
          </a:prstGeom>
          <a:solidFill>
            <a:schemeClr val="accent1"/>
          </a:solidFill>
          <a:ln w="12700">
            <a:solidFill>
              <a:schemeClr val="accent1"/>
            </a:solidFill>
            <a:prstDash val="solid"/>
          </a:ln>
        </p:spPr>
        <p:txBody>
          <a:bodyPr/>
          <a:lstStyle/>
          <a:p>
            <a:endParaRPr lang="ja-JP" altLang="en-US"/>
          </a:p>
        </p:txBody>
      </p:sp>
      <p:sp>
        <p:nvSpPr>
          <p:cNvPr id="6" name="作業者メリット1_印_文字"/>
          <p:cNvSpPr txBox="1"/>
          <p:nvPr/>
        </p:nvSpPr>
        <p:spPr>
          <a:xfrm>
            <a:off x="822960" y="1965960"/>
            <a:ext cx="502920" cy="502920"/>
          </a:xfrm>
          <a:prstGeom prst="rect">
            <a:avLst/>
          </a:prstGeom>
          <a:noFill/>
          <a:ln/>
        </p:spPr>
        <p:txBody>
          <a:bodyPr wrap="square" lIns="0" tIns="0" rIns="0" bIns="0" rtlCol="0" anchor="ctr"/>
          <a:lstStyle/>
          <a:p>
            <a:pPr marL="0" indent="0" algn="ctr">
              <a:buNone/>
            </a:pPr>
            <a:r>
              <a:rPr lang="ja-JP" altLang="en-US" sz="1430" b="1">
                <a:solidFill>
                  <a:schemeClr val="bg1"/>
                </a:solidFill>
              </a:rPr>
              <a:t>✓</a:t>
            </a:r>
            <a:endParaRPr lang="ja-JP" sz="1430" dirty="0"/>
          </a:p>
        </p:txBody>
      </p:sp>
      <p:sp>
        <p:nvSpPr>
          <p:cNvPr id="7" name="作業者メリット1_文字"/>
          <p:cNvSpPr txBox="1"/>
          <p:nvPr/>
        </p:nvSpPr>
        <p:spPr>
          <a:xfrm>
            <a:off x="1554480" y="1920240"/>
            <a:ext cx="4107028" cy="1280160"/>
          </a:xfrm>
          <a:prstGeom prst="rect">
            <a:avLst/>
          </a:prstGeom>
          <a:noFill/>
          <a:ln/>
        </p:spPr>
        <p:txBody>
          <a:bodyPr wrap="square" lIns="0" tIns="0" rIns="0" bIns="0" rtlCol="0" anchor="t"/>
          <a:lstStyle/>
          <a:p>
            <a:pPr marL="0" indent="0">
              <a:buNone/>
            </a:pPr>
            <a:r>
              <a:rPr lang="ja-JP" altLang="en-US" sz="2100" b="1" dirty="0">
                <a:solidFill>
                  <a:schemeClr val="tx2"/>
                </a:solidFill>
              </a:rPr>
              <a:t>報告に行かなくてよい</a:t>
            </a:r>
            <a:endParaRPr lang="ja-JP" sz="2100" dirty="0"/>
          </a:p>
          <a:p>
            <a:pPr marL="0" indent="0">
              <a:spcBef>
                <a:spcPts val="800"/>
              </a:spcBef>
              <a:buNone/>
            </a:pPr>
            <a:r>
              <a:rPr lang="ja-JP" altLang="en-US" sz="1600" dirty="0">
                <a:solidFill>
                  <a:schemeClr val="tx1"/>
                </a:solidFill>
              </a:rPr>
              <a:t>開始・完了はタッチで自動的に</a:t>
            </a:r>
            <a:r>
              <a:rPr lang="ja-JP" altLang="en-US" sz="1600">
                <a:solidFill>
                  <a:schemeClr val="tx1"/>
                </a:solidFill>
              </a:rPr>
              <a:t>記録。</a:t>
            </a:r>
            <a:endParaRPr lang="en-US" altLang="ja-JP" sz="1600">
              <a:solidFill>
                <a:schemeClr val="tx1"/>
              </a:solidFill>
            </a:endParaRPr>
          </a:p>
          <a:p>
            <a:pPr marL="0" indent="0">
              <a:spcBef>
                <a:spcPts val="800"/>
              </a:spcBef>
              <a:buNone/>
            </a:pPr>
            <a:r>
              <a:rPr lang="ja-JP" altLang="en-US" sz="1600">
                <a:solidFill>
                  <a:schemeClr val="tx1"/>
                </a:solidFill>
              </a:rPr>
              <a:t>管理者</a:t>
            </a:r>
            <a:r>
              <a:rPr lang="ja-JP" altLang="en-US" sz="1600" dirty="0">
                <a:solidFill>
                  <a:schemeClr val="tx1"/>
                </a:solidFill>
              </a:rPr>
              <a:t>のところへ報告しに行く必要がない</a:t>
            </a:r>
            <a:endParaRPr lang="ja-JP" sz="2100" dirty="0"/>
          </a:p>
        </p:txBody>
      </p:sp>
      <p:sp>
        <p:nvSpPr>
          <p:cNvPr id="8" name="作業者メリット2"/>
          <p:cNvSpPr/>
          <p:nvPr/>
        </p:nvSpPr>
        <p:spPr>
          <a:xfrm>
            <a:off x="6255868" y="1645920"/>
            <a:ext cx="5387188" cy="1737360"/>
          </a:xfrm>
          <a:prstGeom prst="roundRect">
            <a:avLst>
              <a:gd name="adj" fmla="val 4211"/>
            </a:avLst>
          </a:prstGeom>
          <a:solidFill>
            <a:schemeClr val="bg2"/>
          </a:solidFill>
          <a:ln w="12700">
            <a:solidFill>
              <a:schemeClr val="bg2"/>
            </a:solidFill>
            <a:prstDash val="solid"/>
          </a:ln>
        </p:spPr>
        <p:txBody>
          <a:bodyPr/>
          <a:lstStyle/>
          <a:p>
            <a:endParaRPr lang="ja-JP" altLang="en-US"/>
          </a:p>
        </p:txBody>
      </p:sp>
      <p:sp>
        <p:nvSpPr>
          <p:cNvPr id="9" name="作業者メリット2_印"/>
          <p:cNvSpPr/>
          <p:nvPr/>
        </p:nvSpPr>
        <p:spPr>
          <a:xfrm>
            <a:off x="6530188" y="1965960"/>
            <a:ext cx="502920" cy="502920"/>
          </a:xfrm>
          <a:prstGeom prst="ellipse">
            <a:avLst/>
          </a:prstGeom>
          <a:solidFill>
            <a:schemeClr val="accent1"/>
          </a:solidFill>
          <a:ln w="12700">
            <a:solidFill>
              <a:schemeClr val="accent1"/>
            </a:solidFill>
            <a:prstDash val="solid"/>
          </a:ln>
        </p:spPr>
        <p:txBody>
          <a:bodyPr/>
          <a:lstStyle/>
          <a:p>
            <a:endParaRPr lang="ja-JP" altLang="en-US"/>
          </a:p>
        </p:txBody>
      </p:sp>
      <p:sp>
        <p:nvSpPr>
          <p:cNvPr id="10" name="作業者メリット2_印_文字"/>
          <p:cNvSpPr txBox="1"/>
          <p:nvPr/>
        </p:nvSpPr>
        <p:spPr>
          <a:xfrm>
            <a:off x="6530188" y="1965960"/>
            <a:ext cx="502920" cy="502920"/>
          </a:xfrm>
          <a:prstGeom prst="rect">
            <a:avLst/>
          </a:prstGeom>
          <a:noFill/>
          <a:ln/>
        </p:spPr>
        <p:txBody>
          <a:bodyPr wrap="square" lIns="0" tIns="0" rIns="0" bIns="0" rtlCol="0" anchor="ctr"/>
          <a:lstStyle/>
          <a:p>
            <a:pPr marL="0" indent="0" algn="ctr">
              <a:buNone/>
            </a:pPr>
            <a:r>
              <a:rPr lang="ja-JP" altLang="en-US" sz="1430" b="1">
                <a:solidFill>
                  <a:schemeClr val="bg1"/>
                </a:solidFill>
              </a:rPr>
              <a:t>✓</a:t>
            </a:r>
            <a:endParaRPr lang="ja-JP" sz="1430" dirty="0"/>
          </a:p>
        </p:txBody>
      </p:sp>
      <p:sp>
        <p:nvSpPr>
          <p:cNvPr id="11" name="作業者メリット2_文字"/>
          <p:cNvSpPr txBox="1"/>
          <p:nvPr/>
        </p:nvSpPr>
        <p:spPr>
          <a:xfrm>
            <a:off x="7261707" y="1920240"/>
            <a:ext cx="4381347" cy="1280160"/>
          </a:xfrm>
          <a:prstGeom prst="rect">
            <a:avLst/>
          </a:prstGeom>
          <a:noFill/>
          <a:ln/>
        </p:spPr>
        <p:txBody>
          <a:bodyPr wrap="square" lIns="0" tIns="0" rIns="0" bIns="0" rtlCol="0" anchor="t"/>
          <a:lstStyle/>
          <a:p>
            <a:pPr marL="0" indent="0">
              <a:buNone/>
            </a:pPr>
            <a:r>
              <a:rPr lang="ja-JP" altLang="en-US" sz="2100" b="1" dirty="0">
                <a:solidFill>
                  <a:schemeClr val="tx2"/>
                </a:solidFill>
              </a:rPr>
              <a:t>次の仕事を聞かなくてよい</a:t>
            </a:r>
            <a:endParaRPr lang="ja-JP" sz="2100" dirty="0"/>
          </a:p>
          <a:p>
            <a:pPr marL="0" indent="0">
              <a:spcBef>
                <a:spcPts val="800"/>
              </a:spcBef>
              <a:buNone/>
            </a:pPr>
            <a:r>
              <a:rPr lang="ja-JP" altLang="en-US" sz="1600" dirty="0">
                <a:solidFill>
                  <a:schemeClr val="tx1"/>
                </a:solidFill>
              </a:rPr>
              <a:t>タッチした瞬間にその場でやるべき仕事が出る。指示待ちの時間がなくなる</a:t>
            </a:r>
            <a:endParaRPr lang="ja-JP" sz="2100" dirty="0"/>
          </a:p>
        </p:txBody>
      </p:sp>
      <p:sp>
        <p:nvSpPr>
          <p:cNvPr id="12" name="作業者メリット3"/>
          <p:cNvSpPr/>
          <p:nvPr/>
        </p:nvSpPr>
        <p:spPr>
          <a:xfrm>
            <a:off x="548640" y="3703320"/>
            <a:ext cx="5387188" cy="1737360"/>
          </a:xfrm>
          <a:prstGeom prst="roundRect">
            <a:avLst>
              <a:gd name="adj" fmla="val 4211"/>
            </a:avLst>
          </a:prstGeom>
          <a:solidFill>
            <a:schemeClr val="bg2"/>
          </a:solidFill>
          <a:ln w="12700">
            <a:solidFill>
              <a:schemeClr val="bg2"/>
            </a:solidFill>
            <a:prstDash val="solid"/>
          </a:ln>
        </p:spPr>
        <p:txBody>
          <a:bodyPr/>
          <a:lstStyle/>
          <a:p>
            <a:endParaRPr lang="ja-JP" altLang="en-US"/>
          </a:p>
        </p:txBody>
      </p:sp>
      <p:sp>
        <p:nvSpPr>
          <p:cNvPr id="13" name="作業者メリット3_印"/>
          <p:cNvSpPr/>
          <p:nvPr/>
        </p:nvSpPr>
        <p:spPr>
          <a:xfrm>
            <a:off x="822960" y="4023360"/>
            <a:ext cx="502920" cy="502920"/>
          </a:xfrm>
          <a:prstGeom prst="ellipse">
            <a:avLst/>
          </a:prstGeom>
          <a:solidFill>
            <a:schemeClr val="accent1"/>
          </a:solidFill>
          <a:ln w="12700">
            <a:solidFill>
              <a:schemeClr val="accent1"/>
            </a:solidFill>
            <a:prstDash val="solid"/>
          </a:ln>
        </p:spPr>
        <p:txBody>
          <a:bodyPr/>
          <a:lstStyle/>
          <a:p>
            <a:endParaRPr lang="ja-JP" altLang="en-US"/>
          </a:p>
        </p:txBody>
      </p:sp>
      <p:sp>
        <p:nvSpPr>
          <p:cNvPr id="14" name="作業者メリット3_印_文字"/>
          <p:cNvSpPr txBox="1"/>
          <p:nvPr/>
        </p:nvSpPr>
        <p:spPr>
          <a:xfrm>
            <a:off x="822960" y="4023360"/>
            <a:ext cx="502920" cy="502920"/>
          </a:xfrm>
          <a:prstGeom prst="rect">
            <a:avLst/>
          </a:prstGeom>
          <a:noFill/>
          <a:ln/>
        </p:spPr>
        <p:txBody>
          <a:bodyPr wrap="square" lIns="0" tIns="0" rIns="0" bIns="0" rtlCol="0" anchor="ctr"/>
          <a:lstStyle/>
          <a:p>
            <a:pPr marL="0" indent="0" algn="ctr">
              <a:buNone/>
            </a:pPr>
            <a:r>
              <a:rPr lang="ja-JP" altLang="en-US" sz="1430" b="1">
                <a:solidFill>
                  <a:schemeClr val="bg1"/>
                </a:solidFill>
              </a:rPr>
              <a:t>✓</a:t>
            </a:r>
            <a:endParaRPr lang="ja-JP" sz="1430" dirty="0"/>
          </a:p>
        </p:txBody>
      </p:sp>
      <p:sp>
        <p:nvSpPr>
          <p:cNvPr id="15" name="作業者メリット3_文字"/>
          <p:cNvSpPr txBox="1"/>
          <p:nvPr/>
        </p:nvSpPr>
        <p:spPr>
          <a:xfrm>
            <a:off x="1554479" y="3977640"/>
            <a:ext cx="4276977" cy="1280160"/>
          </a:xfrm>
          <a:prstGeom prst="rect">
            <a:avLst/>
          </a:prstGeom>
          <a:noFill/>
          <a:ln/>
        </p:spPr>
        <p:txBody>
          <a:bodyPr wrap="square" lIns="0" tIns="0" rIns="0" bIns="0" rtlCol="0" anchor="t"/>
          <a:lstStyle/>
          <a:p>
            <a:pPr marL="0" indent="0">
              <a:buNone/>
            </a:pPr>
            <a:r>
              <a:rPr lang="ja-JP" altLang="en-US" sz="2100" b="1" dirty="0">
                <a:solidFill>
                  <a:schemeClr val="tx2"/>
                </a:solidFill>
              </a:rPr>
              <a:t>機材を探して歩かなくてよい</a:t>
            </a:r>
            <a:endParaRPr lang="ja-JP" sz="2100" dirty="0"/>
          </a:p>
          <a:p>
            <a:pPr marL="0" indent="0">
              <a:spcBef>
                <a:spcPts val="800"/>
              </a:spcBef>
              <a:buNone/>
            </a:pPr>
            <a:r>
              <a:rPr lang="ja-JP" altLang="en-US" sz="1600" dirty="0">
                <a:solidFill>
                  <a:schemeClr val="tx1"/>
                </a:solidFill>
              </a:rPr>
              <a:t>より重要な仕事がある機材へは</a:t>
            </a:r>
            <a:r>
              <a:rPr lang="ja-JP" altLang="en-US" sz="1600">
                <a:solidFill>
                  <a:schemeClr val="tx1"/>
                </a:solidFill>
              </a:rPr>
              <a:t>システムが</a:t>
            </a:r>
            <a:endParaRPr lang="en-US" altLang="ja-JP" sz="1600">
              <a:solidFill>
                <a:schemeClr val="tx1"/>
              </a:solidFill>
            </a:endParaRPr>
          </a:p>
          <a:p>
            <a:pPr marL="0" indent="0">
              <a:spcBef>
                <a:spcPts val="800"/>
              </a:spcBef>
              <a:buNone/>
            </a:pPr>
            <a:r>
              <a:rPr lang="ja-JP" altLang="en-US" sz="1600">
                <a:solidFill>
                  <a:schemeClr val="tx1"/>
                </a:solidFill>
              </a:rPr>
              <a:t>案内</a:t>
            </a:r>
            <a:r>
              <a:rPr lang="ja-JP" altLang="en-US" sz="1600" dirty="0">
                <a:solidFill>
                  <a:schemeClr val="tx1"/>
                </a:solidFill>
              </a:rPr>
              <a:t>してくれる</a:t>
            </a:r>
            <a:endParaRPr lang="ja-JP" sz="2100" dirty="0"/>
          </a:p>
        </p:txBody>
      </p:sp>
      <p:sp>
        <p:nvSpPr>
          <p:cNvPr id="16" name="作業者メリット4"/>
          <p:cNvSpPr/>
          <p:nvPr/>
        </p:nvSpPr>
        <p:spPr>
          <a:xfrm>
            <a:off x="6255868" y="3703320"/>
            <a:ext cx="5387188" cy="1737360"/>
          </a:xfrm>
          <a:prstGeom prst="roundRect">
            <a:avLst>
              <a:gd name="adj" fmla="val 4211"/>
            </a:avLst>
          </a:prstGeom>
          <a:solidFill>
            <a:schemeClr val="bg2"/>
          </a:solidFill>
          <a:ln w="12700">
            <a:solidFill>
              <a:schemeClr val="bg2"/>
            </a:solidFill>
            <a:prstDash val="solid"/>
          </a:ln>
        </p:spPr>
        <p:txBody>
          <a:bodyPr/>
          <a:lstStyle/>
          <a:p>
            <a:endParaRPr lang="ja-JP" altLang="en-US"/>
          </a:p>
        </p:txBody>
      </p:sp>
      <p:sp>
        <p:nvSpPr>
          <p:cNvPr id="17" name="作業者メリット4_印"/>
          <p:cNvSpPr/>
          <p:nvPr/>
        </p:nvSpPr>
        <p:spPr>
          <a:xfrm>
            <a:off x="6530188" y="4023360"/>
            <a:ext cx="502920" cy="502920"/>
          </a:xfrm>
          <a:prstGeom prst="ellipse">
            <a:avLst/>
          </a:prstGeom>
          <a:solidFill>
            <a:schemeClr val="accent1"/>
          </a:solidFill>
          <a:ln w="12700">
            <a:solidFill>
              <a:schemeClr val="accent1"/>
            </a:solidFill>
            <a:prstDash val="solid"/>
          </a:ln>
        </p:spPr>
        <p:txBody>
          <a:bodyPr/>
          <a:lstStyle/>
          <a:p>
            <a:endParaRPr lang="ja-JP" altLang="en-US"/>
          </a:p>
        </p:txBody>
      </p:sp>
      <p:sp>
        <p:nvSpPr>
          <p:cNvPr id="18" name="作業者メリット4_印_文字"/>
          <p:cNvSpPr txBox="1"/>
          <p:nvPr/>
        </p:nvSpPr>
        <p:spPr>
          <a:xfrm>
            <a:off x="6530188" y="4023360"/>
            <a:ext cx="502920" cy="502920"/>
          </a:xfrm>
          <a:prstGeom prst="rect">
            <a:avLst/>
          </a:prstGeom>
          <a:noFill/>
          <a:ln/>
        </p:spPr>
        <p:txBody>
          <a:bodyPr wrap="square" lIns="0" tIns="0" rIns="0" bIns="0" rtlCol="0" anchor="ctr"/>
          <a:lstStyle/>
          <a:p>
            <a:pPr marL="0" indent="0" algn="ctr">
              <a:buNone/>
            </a:pPr>
            <a:r>
              <a:rPr lang="ja-JP" altLang="en-US" sz="1430" b="1">
                <a:solidFill>
                  <a:schemeClr val="bg1"/>
                </a:solidFill>
              </a:rPr>
              <a:t>✓</a:t>
            </a:r>
            <a:endParaRPr lang="ja-JP" sz="1430" dirty="0"/>
          </a:p>
        </p:txBody>
      </p:sp>
      <p:sp>
        <p:nvSpPr>
          <p:cNvPr id="19" name="作業者メリット4_文字"/>
          <p:cNvSpPr txBox="1"/>
          <p:nvPr/>
        </p:nvSpPr>
        <p:spPr>
          <a:xfrm>
            <a:off x="7261708" y="3977640"/>
            <a:ext cx="4107028" cy="1280160"/>
          </a:xfrm>
          <a:prstGeom prst="rect">
            <a:avLst/>
          </a:prstGeom>
          <a:noFill/>
          <a:ln/>
        </p:spPr>
        <p:txBody>
          <a:bodyPr wrap="square" lIns="0" tIns="0" rIns="0" bIns="0" rtlCol="0" anchor="t"/>
          <a:lstStyle/>
          <a:p>
            <a:pPr marL="0" indent="0">
              <a:buNone/>
            </a:pPr>
            <a:r>
              <a:rPr lang="ja-JP" altLang="en-US" sz="2100" b="1" dirty="0">
                <a:solidFill>
                  <a:schemeClr val="tx2"/>
                </a:solidFill>
              </a:rPr>
              <a:t>向いた仕事・新しい仕事が回る</a:t>
            </a:r>
            <a:endParaRPr lang="ja-JP" sz="2100" dirty="0"/>
          </a:p>
          <a:p>
            <a:pPr marL="0" indent="0">
              <a:spcBef>
                <a:spcPts val="800"/>
              </a:spcBef>
              <a:buNone/>
            </a:pPr>
            <a:r>
              <a:rPr lang="ja-JP" altLang="en-US" sz="1600" dirty="0">
                <a:solidFill>
                  <a:schemeClr val="tx1"/>
                </a:solidFill>
              </a:rPr>
              <a:t>向いている仕事を</a:t>
            </a:r>
            <a:r>
              <a:rPr lang="ja-JP" altLang="en-US" sz="1600">
                <a:solidFill>
                  <a:schemeClr val="tx1"/>
                </a:solidFill>
              </a:rPr>
              <a:t>任されやすく、</a:t>
            </a:r>
            <a:endParaRPr lang="en-US" altLang="ja-JP" sz="1600">
              <a:solidFill>
                <a:schemeClr val="tx1"/>
              </a:solidFill>
            </a:endParaRPr>
          </a:p>
          <a:p>
            <a:pPr marL="0" indent="0">
              <a:spcBef>
                <a:spcPts val="800"/>
              </a:spcBef>
              <a:buNone/>
            </a:pPr>
            <a:r>
              <a:rPr lang="ja-JP" altLang="en-US" sz="1600">
                <a:solidFill>
                  <a:schemeClr val="tx1"/>
                </a:solidFill>
              </a:rPr>
              <a:t>新人</a:t>
            </a:r>
            <a:r>
              <a:rPr lang="ja-JP" altLang="en-US" sz="1600" dirty="0">
                <a:solidFill>
                  <a:schemeClr val="tx1"/>
                </a:solidFill>
              </a:rPr>
              <a:t>にも経験を積む機会が回る</a:t>
            </a:r>
            <a:endParaRPr lang="ja-JP" sz="2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4415" cy="320040"/>
          </a:xfrm>
          <a:prstGeom prst="rect">
            <a:avLst/>
          </a:prstGeom>
          <a:noFill/>
          <a:ln/>
        </p:spPr>
        <p:txBody>
          <a:bodyPr wrap="square" lIns="0" tIns="0" rIns="0" bIns="0" rtlCol="0" anchor="ctr"/>
          <a:lstStyle/>
          <a:p>
            <a:pPr marL="0" indent="0" algn="l">
              <a:buNone/>
            </a:pPr>
            <a:r>
              <a:rPr lang="ja-JP" altLang="en-US" sz="1400" b="1" dirty="0">
                <a:solidFill>
                  <a:schemeClr val="accent1"/>
                </a:solidFill>
              </a:rPr>
              <a:t>4. システム導入のメリット</a:t>
            </a:r>
            <a:endParaRPr lang="ja-JP" sz="1400" dirty="0"/>
          </a:p>
        </p:txBody>
      </p:sp>
      <p:sp>
        <p:nvSpPr>
          <p:cNvPr id="3" name="Text 0"/>
          <p:cNvSpPr>
            <a:spLocks noGrp="1"/>
          </p:cNvSpPr>
          <p:nvPr>
            <p:ph type="title" idx="101" hasCustomPrompt="1"/>
          </p:nvPr>
        </p:nvSpPr>
        <p:spPr>
          <a:xfrm>
            <a:off x="548640" y="594360"/>
            <a:ext cx="11094415" cy="731520"/>
          </a:xfrm>
          <a:prstGeom prst="rect">
            <a:avLst/>
          </a:prstGeom>
          <a:noFill/>
          <a:ln/>
        </p:spPr>
        <p:txBody>
          <a:bodyPr wrap="square" lIns="0" tIns="0" rIns="0" bIns="0" rtlCol="0" anchor="ctr"/>
          <a:lstStyle/>
          <a:p>
            <a:pPr marL="0" indent="0" algn="l">
              <a:buNone/>
            </a:pPr>
            <a:r>
              <a:rPr lang="ja-JP" altLang="en-US" sz="3200" b="1" dirty="0">
                <a:solidFill>
                  <a:schemeClr val="tx2"/>
                </a:solidFill>
              </a:rPr>
              <a:t>導入のメリット ②　管理者</a:t>
            </a:r>
            <a:endParaRPr lang="ja-JP" sz="3200" dirty="0"/>
          </a:p>
        </p:txBody>
      </p:sp>
      <p:sp>
        <p:nvSpPr>
          <p:cNvPr id="4" name="管理者メリット1"/>
          <p:cNvSpPr/>
          <p:nvPr/>
        </p:nvSpPr>
        <p:spPr>
          <a:xfrm>
            <a:off x="548640" y="1645920"/>
            <a:ext cx="5387188" cy="1737360"/>
          </a:xfrm>
          <a:prstGeom prst="roundRect">
            <a:avLst>
              <a:gd name="adj" fmla="val 4211"/>
            </a:avLst>
          </a:prstGeom>
          <a:solidFill>
            <a:schemeClr val="bg1"/>
          </a:solidFill>
          <a:ln w="19050">
            <a:solidFill>
              <a:schemeClr val="tx2"/>
            </a:solidFill>
            <a:prstDash val="solid"/>
          </a:ln>
        </p:spPr>
        <p:txBody>
          <a:bodyPr/>
          <a:lstStyle/>
          <a:p>
            <a:endParaRPr lang="ja-JP" altLang="en-US"/>
          </a:p>
        </p:txBody>
      </p:sp>
      <p:sp>
        <p:nvSpPr>
          <p:cNvPr id="5" name="管理者メリット1_印"/>
          <p:cNvSpPr/>
          <p:nvPr/>
        </p:nvSpPr>
        <p:spPr>
          <a:xfrm>
            <a:off x="822960" y="1965960"/>
            <a:ext cx="502920" cy="502920"/>
          </a:xfrm>
          <a:prstGeom prst="ellipse">
            <a:avLst/>
          </a:prstGeom>
          <a:solidFill>
            <a:schemeClr val="tx2"/>
          </a:solidFill>
          <a:ln w="12700">
            <a:solidFill>
              <a:schemeClr val="tx2"/>
            </a:solidFill>
            <a:prstDash val="solid"/>
          </a:ln>
        </p:spPr>
        <p:txBody>
          <a:bodyPr/>
          <a:lstStyle/>
          <a:p>
            <a:endParaRPr lang="ja-JP" altLang="en-US"/>
          </a:p>
        </p:txBody>
      </p:sp>
      <p:sp>
        <p:nvSpPr>
          <p:cNvPr id="6" name="管理者メリット1_印_文字"/>
          <p:cNvSpPr txBox="1"/>
          <p:nvPr/>
        </p:nvSpPr>
        <p:spPr>
          <a:xfrm>
            <a:off x="822960" y="1965960"/>
            <a:ext cx="502920" cy="502920"/>
          </a:xfrm>
          <a:prstGeom prst="rect">
            <a:avLst/>
          </a:prstGeom>
          <a:noFill/>
          <a:ln/>
        </p:spPr>
        <p:txBody>
          <a:bodyPr wrap="square" lIns="0" tIns="0" rIns="0" bIns="0" rtlCol="0" anchor="ctr"/>
          <a:lstStyle/>
          <a:p>
            <a:pPr marL="0" indent="0" algn="ctr">
              <a:buNone/>
            </a:pPr>
            <a:r>
              <a:rPr lang="ja-JP" altLang="en-US" sz="1430" b="1">
                <a:solidFill>
                  <a:schemeClr val="bg1"/>
                </a:solidFill>
              </a:rPr>
              <a:t>✓</a:t>
            </a:r>
            <a:endParaRPr lang="ja-JP" sz="1430" dirty="0"/>
          </a:p>
        </p:txBody>
      </p:sp>
      <p:sp>
        <p:nvSpPr>
          <p:cNvPr id="7" name="管理者メリット1_文字"/>
          <p:cNvSpPr txBox="1"/>
          <p:nvPr/>
        </p:nvSpPr>
        <p:spPr>
          <a:xfrm>
            <a:off x="1554480" y="1920240"/>
            <a:ext cx="4268350" cy="1280160"/>
          </a:xfrm>
          <a:prstGeom prst="rect">
            <a:avLst/>
          </a:prstGeom>
          <a:noFill/>
          <a:ln/>
        </p:spPr>
        <p:txBody>
          <a:bodyPr wrap="square" lIns="0" tIns="0" rIns="0" bIns="0" rtlCol="0" anchor="t"/>
          <a:lstStyle/>
          <a:p>
            <a:pPr marL="0" indent="0">
              <a:buNone/>
            </a:pPr>
            <a:r>
              <a:rPr lang="ja-JP" altLang="en-US" sz="2100" b="1" dirty="0">
                <a:solidFill>
                  <a:schemeClr val="tx2"/>
                </a:solidFill>
              </a:rPr>
              <a:t>今の状況がリアルタイムに分かる</a:t>
            </a:r>
            <a:endParaRPr lang="ja-JP" sz="2100" dirty="0"/>
          </a:p>
          <a:p>
            <a:pPr marL="0" indent="0">
              <a:spcBef>
                <a:spcPts val="800"/>
              </a:spcBef>
              <a:buNone/>
            </a:pPr>
            <a:r>
              <a:rPr lang="ja-JP" altLang="en-US" sz="1600" dirty="0">
                <a:solidFill>
                  <a:schemeClr val="tx1"/>
                </a:solidFill>
              </a:rPr>
              <a:t>どの機材を誰が</a:t>
            </a:r>
            <a:r>
              <a:rPr lang="ja-JP" altLang="en-US" sz="1600">
                <a:solidFill>
                  <a:schemeClr val="tx1"/>
                </a:solidFill>
              </a:rPr>
              <a:t>使い、</a:t>
            </a:r>
            <a:endParaRPr lang="en-US" altLang="ja-JP" sz="1600">
              <a:solidFill>
                <a:schemeClr val="tx1"/>
              </a:solidFill>
            </a:endParaRPr>
          </a:p>
          <a:p>
            <a:pPr marL="0" indent="0">
              <a:spcBef>
                <a:spcPts val="800"/>
              </a:spcBef>
              <a:buNone/>
            </a:pPr>
            <a:r>
              <a:rPr lang="ja-JP" altLang="en-US" sz="1600">
                <a:solidFill>
                  <a:schemeClr val="tx1"/>
                </a:solidFill>
              </a:rPr>
              <a:t>何</a:t>
            </a:r>
            <a:r>
              <a:rPr lang="ja-JP" altLang="en-US" sz="1600" dirty="0">
                <a:solidFill>
                  <a:schemeClr val="tx1"/>
                </a:solidFill>
              </a:rPr>
              <a:t>の仕事をしているかを画面で確認できる</a:t>
            </a:r>
            <a:endParaRPr lang="ja-JP" sz="2100" dirty="0"/>
          </a:p>
        </p:txBody>
      </p:sp>
      <p:sp>
        <p:nvSpPr>
          <p:cNvPr id="8" name="管理者メリット2"/>
          <p:cNvSpPr/>
          <p:nvPr/>
        </p:nvSpPr>
        <p:spPr>
          <a:xfrm>
            <a:off x="6255868" y="1645920"/>
            <a:ext cx="5387188" cy="1737360"/>
          </a:xfrm>
          <a:prstGeom prst="roundRect">
            <a:avLst>
              <a:gd name="adj" fmla="val 4211"/>
            </a:avLst>
          </a:prstGeom>
          <a:solidFill>
            <a:schemeClr val="bg1"/>
          </a:solidFill>
          <a:ln w="19050">
            <a:solidFill>
              <a:schemeClr val="tx2"/>
            </a:solidFill>
            <a:prstDash val="solid"/>
          </a:ln>
        </p:spPr>
        <p:txBody>
          <a:bodyPr/>
          <a:lstStyle/>
          <a:p>
            <a:endParaRPr lang="ja-JP" altLang="en-US"/>
          </a:p>
        </p:txBody>
      </p:sp>
      <p:sp>
        <p:nvSpPr>
          <p:cNvPr id="9" name="管理者メリット2_印"/>
          <p:cNvSpPr/>
          <p:nvPr/>
        </p:nvSpPr>
        <p:spPr>
          <a:xfrm>
            <a:off x="6530188" y="1965960"/>
            <a:ext cx="502920" cy="502920"/>
          </a:xfrm>
          <a:prstGeom prst="ellipse">
            <a:avLst/>
          </a:prstGeom>
          <a:solidFill>
            <a:schemeClr val="tx2"/>
          </a:solidFill>
          <a:ln w="12700">
            <a:solidFill>
              <a:schemeClr val="tx2"/>
            </a:solidFill>
            <a:prstDash val="solid"/>
          </a:ln>
        </p:spPr>
        <p:txBody>
          <a:bodyPr/>
          <a:lstStyle/>
          <a:p>
            <a:endParaRPr lang="ja-JP" altLang="en-US"/>
          </a:p>
        </p:txBody>
      </p:sp>
      <p:sp>
        <p:nvSpPr>
          <p:cNvPr id="10" name="管理者メリット2_印_文字"/>
          <p:cNvSpPr txBox="1"/>
          <p:nvPr/>
        </p:nvSpPr>
        <p:spPr>
          <a:xfrm>
            <a:off x="6530188" y="1965960"/>
            <a:ext cx="502920" cy="502920"/>
          </a:xfrm>
          <a:prstGeom prst="rect">
            <a:avLst/>
          </a:prstGeom>
          <a:noFill/>
          <a:ln/>
        </p:spPr>
        <p:txBody>
          <a:bodyPr wrap="square" lIns="0" tIns="0" rIns="0" bIns="0" rtlCol="0" anchor="ctr"/>
          <a:lstStyle/>
          <a:p>
            <a:pPr marL="0" indent="0" algn="ctr">
              <a:buNone/>
            </a:pPr>
            <a:r>
              <a:rPr lang="ja-JP" altLang="en-US" sz="1430" b="1">
                <a:solidFill>
                  <a:schemeClr val="bg1"/>
                </a:solidFill>
              </a:rPr>
              <a:t>✓</a:t>
            </a:r>
            <a:endParaRPr lang="ja-JP" sz="1430" dirty="0"/>
          </a:p>
        </p:txBody>
      </p:sp>
      <p:sp>
        <p:nvSpPr>
          <p:cNvPr id="11" name="管理者メリット2_文字"/>
          <p:cNvSpPr txBox="1"/>
          <p:nvPr/>
        </p:nvSpPr>
        <p:spPr>
          <a:xfrm>
            <a:off x="7261708" y="1920240"/>
            <a:ext cx="4242720" cy="1280160"/>
          </a:xfrm>
          <a:prstGeom prst="rect">
            <a:avLst/>
          </a:prstGeom>
          <a:noFill/>
          <a:ln/>
        </p:spPr>
        <p:txBody>
          <a:bodyPr wrap="square" lIns="0" tIns="0" rIns="0" bIns="0" rtlCol="0" anchor="t"/>
          <a:lstStyle/>
          <a:p>
            <a:pPr marL="0" indent="0">
              <a:buNone/>
            </a:pPr>
            <a:r>
              <a:rPr lang="ja-JP" altLang="en-US" sz="2100" b="1" dirty="0">
                <a:solidFill>
                  <a:schemeClr val="tx2"/>
                </a:solidFill>
              </a:rPr>
              <a:t>得意・不得意がデータで分かる</a:t>
            </a:r>
            <a:endParaRPr lang="ja-JP" sz="2100" dirty="0"/>
          </a:p>
          <a:p>
            <a:pPr marL="0" indent="0">
              <a:spcBef>
                <a:spcPts val="800"/>
              </a:spcBef>
              <a:buNone/>
            </a:pPr>
            <a:r>
              <a:rPr lang="ja-JP" altLang="en-US" sz="1600" dirty="0">
                <a:solidFill>
                  <a:schemeClr val="tx1"/>
                </a:solidFill>
              </a:rPr>
              <a:t>作業ログから一人ひとりの向き・不向きが見え、教育や配置の参考になる</a:t>
            </a:r>
            <a:endParaRPr lang="ja-JP" sz="2100" dirty="0"/>
          </a:p>
        </p:txBody>
      </p:sp>
      <p:sp>
        <p:nvSpPr>
          <p:cNvPr id="12" name="管理者メリット3"/>
          <p:cNvSpPr/>
          <p:nvPr/>
        </p:nvSpPr>
        <p:spPr>
          <a:xfrm>
            <a:off x="548640" y="3703320"/>
            <a:ext cx="5387188" cy="1737360"/>
          </a:xfrm>
          <a:prstGeom prst="roundRect">
            <a:avLst>
              <a:gd name="adj" fmla="val 4211"/>
            </a:avLst>
          </a:prstGeom>
          <a:solidFill>
            <a:schemeClr val="bg1"/>
          </a:solidFill>
          <a:ln w="19050">
            <a:solidFill>
              <a:schemeClr val="tx2"/>
            </a:solidFill>
            <a:prstDash val="solid"/>
          </a:ln>
        </p:spPr>
        <p:txBody>
          <a:bodyPr/>
          <a:lstStyle/>
          <a:p>
            <a:endParaRPr lang="ja-JP" altLang="en-US"/>
          </a:p>
        </p:txBody>
      </p:sp>
      <p:sp>
        <p:nvSpPr>
          <p:cNvPr id="13" name="管理者メリット3_印"/>
          <p:cNvSpPr/>
          <p:nvPr/>
        </p:nvSpPr>
        <p:spPr>
          <a:xfrm>
            <a:off x="822960" y="4023360"/>
            <a:ext cx="502920" cy="502920"/>
          </a:xfrm>
          <a:prstGeom prst="ellipse">
            <a:avLst/>
          </a:prstGeom>
          <a:solidFill>
            <a:schemeClr val="tx2"/>
          </a:solidFill>
          <a:ln w="12700">
            <a:solidFill>
              <a:schemeClr val="tx2"/>
            </a:solidFill>
            <a:prstDash val="solid"/>
          </a:ln>
        </p:spPr>
        <p:txBody>
          <a:bodyPr/>
          <a:lstStyle/>
          <a:p>
            <a:endParaRPr lang="ja-JP" altLang="en-US"/>
          </a:p>
        </p:txBody>
      </p:sp>
      <p:sp>
        <p:nvSpPr>
          <p:cNvPr id="14" name="管理者メリット3_印_文字"/>
          <p:cNvSpPr txBox="1"/>
          <p:nvPr/>
        </p:nvSpPr>
        <p:spPr>
          <a:xfrm>
            <a:off x="822960" y="4023360"/>
            <a:ext cx="502920" cy="502920"/>
          </a:xfrm>
          <a:prstGeom prst="rect">
            <a:avLst/>
          </a:prstGeom>
          <a:noFill/>
          <a:ln/>
        </p:spPr>
        <p:txBody>
          <a:bodyPr wrap="square" lIns="0" tIns="0" rIns="0" bIns="0" rtlCol="0" anchor="ctr"/>
          <a:lstStyle/>
          <a:p>
            <a:pPr marL="0" indent="0" algn="ctr">
              <a:buNone/>
            </a:pPr>
            <a:r>
              <a:rPr lang="ja-JP" altLang="en-US" sz="1430" b="1">
                <a:solidFill>
                  <a:schemeClr val="bg1"/>
                </a:solidFill>
              </a:rPr>
              <a:t>✓</a:t>
            </a:r>
            <a:endParaRPr lang="ja-JP" sz="1430" dirty="0"/>
          </a:p>
        </p:txBody>
      </p:sp>
      <p:sp>
        <p:nvSpPr>
          <p:cNvPr id="15" name="管理者メリット3_文字"/>
          <p:cNvSpPr txBox="1"/>
          <p:nvPr/>
        </p:nvSpPr>
        <p:spPr>
          <a:xfrm>
            <a:off x="1394460" y="3931920"/>
            <a:ext cx="4472788" cy="1280160"/>
          </a:xfrm>
          <a:prstGeom prst="rect">
            <a:avLst/>
          </a:prstGeom>
          <a:noFill/>
          <a:ln/>
        </p:spPr>
        <p:txBody>
          <a:bodyPr wrap="square" lIns="0" tIns="0" rIns="0" bIns="0" rtlCol="0" anchor="t"/>
          <a:lstStyle/>
          <a:p>
            <a:pPr marL="0" indent="0">
              <a:buNone/>
            </a:pPr>
            <a:r>
              <a:rPr lang="ja-JP" altLang="en-US" sz="2100" b="1" dirty="0">
                <a:solidFill>
                  <a:schemeClr val="tx2"/>
                </a:solidFill>
              </a:rPr>
              <a:t>割当を考える手間が減る</a:t>
            </a:r>
            <a:endParaRPr lang="ja-JP" sz="2100" dirty="0"/>
          </a:p>
          <a:p>
            <a:pPr marL="0" indent="0">
              <a:spcBef>
                <a:spcPts val="800"/>
              </a:spcBef>
              <a:buNone/>
            </a:pPr>
            <a:r>
              <a:rPr lang="ja-JP" altLang="en-US" sz="1600" dirty="0">
                <a:solidFill>
                  <a:schemeClr val="tx1"/>
                </a:solidFill>
              </a:rPr>
              <a:t>「AI 割当」ボタンで候補が</a:t>
            </a:r>
            <a:r>
              <a:rPr lang="ja-JP" altLang="en-US" sz="1600">
                <a:solidFill>
                  <a:schemeClr val="tx1"/>
                </a:solidFill>
              </a:rPr>
              <a:t>出る。</a:t>
            </a:r>
            <a:endParaRPr lang="en-US" altLang="ja-JP" sz="1600">
              <a:solidFill>
                <a:schemeClr val="tx1"/>
              </a:solidFill>
            </a:endParaRPr>
          </a:p>
          <a:p>
            <a:pPr marL="0" indent="0">
              <a:spcBef>
                <a:spcPts val="800"/>
              </a:spcBef>
              <a:buNone/>
            </a:pPr>
            <a:r>
              <a:rPr lang="ja-JP" altLang="en-US" sz="1600">
                <a:solidFill>
                  <a:schemeClr val="tx1"/>
                </a:solidFill>
              </a:rPr>
              <a:t>決めた</a:t>
            </a:r>
            <a:r>
              <a:rPr lang="ja-JP" altLang="en-US" sz="1600" dirty="0">
                <a:solidFill>
                  <a:schemeClr val="tx1"/>
                </a:solidFill>
              </a:rPr>
              <a:t>理由も表示されるので納得して任せられる</a:t>
            </a:r>
            <a:endParaRPr lang="ja-JP" sz="2100" dirty="0"/>
          </a:p>
        </p:txBody>
      </p:sp>
      <p:sp>
        <p:nvSpPr>
          <p:cNvPr id="16" name="管理者メリット4"/>
          <p:cNvSpPr/>
          <p:nvPr/>
        </p:nvSpPr>
        <p:spPr>
          <a:xfrm>
            <a:off x="6255868" y="3703320"/>
            <a:ext cx="5387188" cy="1737360"/>
          </a:xfrm>
          <a:prstGeom prst="roundRect">
            <a:avLst>
              <a:gd name="adj" fmla="val 4211"/>
            </a:avLst>
          </a:prstGeom>
          <a:solidFill>
            <a:schemeClr val="bg1"/>
          </a:solidFill>
          <a:ln w="19050">
            <a:solidFill>
              <a:schemeClr val="tx2"/>
            </a:solidFill>
            <a:prstDash val="solid"/>
          </a:ln>
        </p:spPr>
        <p:txBody>
          <a:bodyPr/>
          <a:lstStyle/>
          <a:p>
            <a:endParaRPr lang="ja-JP" altLang="en-US"/>
          </a:p>
        </p:txBody>
      </p:sp>
      <p:sp>
        <p:nvSpPr>
          <p:cNvPr id="17" name="管理者メリット4_印"/>
          <p:cNvSpPr/>
          <p:nvPr/>
        </p:nvSpPr>
        <p:spPr>
          <a:xfrm>
            <a:off x="6530188" y="4023360"/>
            <a:ext cx="502920" cy="502920"/>
          </a:xfrm>
          <a:prstGeom prst="ellipse">
            <a:avLst/>
          </a:prstGeom>
          <a:solidFill>
            <a:schemeClr val="tx2"/>
          </a:solidFill>
          <a:ln w="12700">
            <a:solidFill>
              <a:schemeClr val="tx2"/>
            </a:solidFill>
            <a:prstDash val="solid"/>
          </a:ln>
        </p:spPr>
        <p:txBody>
          <a:bodyPr/>
          <a:lstStyle/>
          <a:p>
            <a:endParaRPr lang="ja-JP" altLang="en-US"/>
          </a:p>
        </p:txBody>
      </p:sp>
      <p:sp>
        <p:nvSpPr>
          <p:cNvPr id="18" name="管理者メリット4_印_文字"/>
          <p:cNvSpPr txBox="1"/>
          <p:nvPr/>
        </p:nvSpPr>
        <p:spPr>
          <a:xfrm>
            <a:off x="6530188" y="4023360"/>
            <a:ext cx="502920" cy="502920"/>
          </a:xfrm>
          <a:prstGeom prst="rect">
            <a:avLst/>
          </a:prstGeom>
          <a:noFill/>
          <a:ln/>
        </p:spPr>
        <p:txBody>
          <a:bodyPr wrap="square" lIns="0" tIns="0" rIns="0" bIns="0" rtlCol="0" anchor="ctr"/>
          <a:lstStyle/>
          <a:p>
            <a:pPr marL="0" indent="0" algn="ctr">
              <a:buNone/>
            </a:pPr>
            <a:r>
              <a:rPr lang="ja-JP" altLang="en-US" sz="1430" b="1">
                <a:solidFill>
                  <a:schemeClr val="bg1"/>
                </a:solidFill>
              </a:rPr>
              <a:t>✓</a:t>
            </a:r>
            <a:endParaRPr lang="ja-JP" sz="1430" dirty="0"/>
          </a:p>
        </p:txBody>
      </p:sp>
      <p:sp>
        <p:nvSpPr>
          <p:cNvPr id="19" name="管理者メリット4_文字"/>
          <p:cNvSpPr txBox="1"/>
          <p:nvPr/>
        </p:nvSpPr>
        <p:spPr>
          <a:xfrm>
            <a:off x="7261708" y="3977640"/>
            <a:ext cx="4107028" cy="1280160"/>
          </a:xfrm>
          <a:prstGeom prst="rect">
            <a:avLst/>
          </a:prstGeom>
          <a:noFill/>
          <a:ln/>
        </p:spPr>
        <p:txBody>
          <a:bodyPr wrap="square" lIns="0" tIns="0" rIns="0" bIns="0" rtlCol="0" anchor="t"/>
          <a:lstStyle/>
          <a:p>
            <a:pPr marL="0" indent="0">
              <a:buNone/>
            </a:pPr>
            <a:r>
              <a:rPr lang="ja-JP" altLang="en-US" sz="2100" b="1" dirty="0">
                <a:solidFill>
                  <a:schemeClr val="tx2"/>
                </a:solidFill>
              </a:rPr>
              <a:t>機材をまとめて管理できる</a:t>
            </a:r>
            <a:endParaRPr lang="ja-JP" sz="2100" dirty="0"/>
          </a:p>
          <a:p>
            <a:pPr marL="0" indent="0">
              <a:spcBef>
                <a:spcPts val="800"/>
              </a:spcBef>
              <a:buNone/>
            </a:pPr>
            <a:r>
              <a:rPr lang="ja-JP" altLang="en-US" sz="1600" dirty="0">
                <a:solidFill>
                  <a:schemeClr val="tx1"/>
                </a:solidFill>
              </a:rPr>
              <a:t>機材の登録・状態・通信の切断</a:t>
            </a:r>
            <a:r>
              <a:rPr lang="ja-JP" altLang="en-US" sz="1600">
                <a:solidFill>
                  <a:schemeClr val="tx1"/>
                </a:solidFill>
              </a:rPr>
              <a:t>まで、</a:t>
            </a:r>
            <a:endParaRPr lang="en-US" altLang="ja-JP" sz="1600">
              <a:solidFill>
                <a:schemeClr val="tx1"/>
              </a:solidFill>
            </a:endParaRPr>
          </a:p>
          <a:p>
            <a:pPr marL="0" indent="0">
              <a:spcBef>
                <a:spcPts val="800"/>
              </a:spcBef>
              <a:buNone/>
            </a:pPr>
            <a:r>
              <a:rPr lang="ja-JP" altLang="en-US" sz="1600">
                <a:solidFill>
                  <a:schemeClr val="tx1"/>
                </a:solidFill>
              </a:rPr>
              <a:t>一つ</a:t>
            </a:r>
            <a:r>
              <a:rPr lang="ja-JP" altLang="en-US" sz="1600" dirty="0">
                <a:solidFill>
                  <a:schemeClr val="tx1"/>
                </a:solidFill>
              </a:rPr>
              <a:t>の画面で把握できる</a:t>
            </a:r>
            <a:endParaRPr lang="ja-JP" sz="2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4415" cy="320040"/>
          </a:xfrm>
          <a:prstGeom prst="rect">
            <a:avLst/>
          </a:prstGeom>
          <a:noFill/>
          <a:ln/>
        </p:spPr>
        <p:txBody>
          <a:bodyPr wrap="square" lIns="0" tIns="0" rIns="0" bIns="0" rtlCol="0" anchor="ctr"/>
          <a:lstStyle/>
          <a:p>
            <a:pPr marL="0" indent="0" algn="l">
              <a:buNone/>
            </a:pPr>
            <a:r>
              <a:rPr lang="ja-JP" altLang="en-US" sz="1400" b="1" dirty="0">
                <a:solidFill>
                  <a:schemeClr val="accent1"/>
                </a:solidFill>
              </a:rPr>
              <a:t>4. システム導入のメリット</a:t>
            </a:r>
            <a:endParaRPr lang="ja-JP" sz="1400" dirty="0"/>
          </a:p>
        </p:txBody>
      </p:sp>
      <p:sp>
        <p:nvSpPr>
          <p:cNvPr id="3" name="Text 0"/>
          <p:cNvSpPr>
            <a:spLocks noGrp="1"/>
          </p:cNvSpPr>
          <p:nvPr>
            <p:ph type="title" idx="101" hasCustomPrompt="1"/>
          </p:nvPr>
        </p:nvSpPr>
        <p:spPr>
          <a:xfrm>
            <a:off x="548640" y="594360"/>
            <a:ext cx="11094415" cy="731520"/>
          </a:xfrm>
          <a:prstGeom prst="rect">
            <a:avLst/>
          </a:prstGeom>
          <a:noFill/>
          <a:ln/>
        </p:spPr>
        <p:txBody>
          <a:bodyPr wrap="square" lIns="0" tIns="0" rIns="0" bIns="0" rtlCol="0" anchor="ctr"/>
          <a:lstStyle/>
          <a:p>
            <a:pPr marL="0" indent="0" algn="l">
              <a:buNone/>
            </a:pPr>
            <a:r>
              <a:rPr lang="ja-JP" altLang="en-US" sz="3200" b="1" dirty="0">
                <a:solidFill>
                  <a:schemeClr val="tx2"/>
                </a:solidFill>
              </a:rPr>
              <a:t>導入のメリット ③　工場全体</a:t>
            </a:r>
            <a:endParaRPr lang="ja-JP" sz="3200" dirty="0"/>
          </a:p>
        </p:txBody>
      </p:sp>
      <p:graphicFrame>
        <p:nvGraphicFramePr>
          <p:cNvPr id="9" name="比較表"/>
          <p:cNvGraphicFramePr>
            <a:graphicFrameLocks noGrp="1"/>
          </p:cNvGraphicFramePr>
          <p:nvPr>
            <p:extLst>
              <p:ext uri="{D42A27DB-BD31-4B8C-83A1-F6EECF244321}">
                <p14:modId xmlns:p14="http://schemas.microsoft.com/office/powerpoint/2010/main" val="2167279485"/>
              </p:ext>
            </p:extLst>
          </p:nvPr>
        </p:nvGraphicFramePr>
        <p:xfrm>
          <a:off x="548640" y="1554480"/>
          <a:ext cx="11094415" cy="4279392"/>
        </p:xfrm>
        <a:graphic>
          <a:graphicData uri="http://schemas.openxmlformats.org/drawingml/2006/table">
            <a:tbl>
              <a:tblPr/>
              <a:tblGrid>
                <a:gridCol w="21945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876495">
                  <a:extLst>
                    <a:ext uri="{9D8B030D-6E8A-4147-A177-3AD203B41FA5}">
                      <a16:colId xmlns:a16="http://schemas.microsoft.com/office/drawing/2014/main" val="20002"/>
                    </a:ext>
                  </a:extLst>
                </a:gridCol>
              </a:tblGrid>
              <a:tr h="713232">
                <a:tc>
                  <a:txBody>
                    <a:bodyPr/>
                    <a:lstStyle/>
                    <a:p>
                      <a:pPr marL="0" indent="0" algn="ctr">
                        <a:buNone/>
                      </a:pPr>
                      <a:endParaRPr lang="en-US" sz="18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marL="0" indent="0" algn="ctr">
                        <a:buNone/>
                      </a:pPr>
                      <a:r>
                        <a:rPr lang="en-US" sz="1800" b="1" dirty="0">
                          <a:solidFill>
                            <a:schemeClr val="bg1"/>
                          </a:solidFill>
                          <a:latin typeface="BIZ UDPGothic" pitchFamily="34" charset="0"/>
                          <a:ea typeface="BIZ UDPGothic" pitchFamily="34" charset="-122"/>
                          <a:cs typeface="BIZ UDPGothic" pitchFamily="34" charset="-120"/>
                        </a:rPr>
                        <a:t>これまで</a:t>
                      </a:r>
                      <a:endParaRPr lang="en-US" sz="18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accent3"/>
                    </a:solidFill>
                  </a:tcPr>
                </a:tc>
                <a:tc>
                  <a:txBody>
                    <a:bodyPr/>
                    <a:lstStyle/>
                    <a:p>
                      <a:pPr marL="0" indent="0" algn="ctr">
                        <a:buNone/>
                      </a:pPr>
                      <a:r>
                        <a:rPr lang="en-US" sz="1800" b="1" dirty="0">
                          <a:solidFill>
                            <a:schemeClr val="bg1"/>
                          </a:solidFill>
                          <a:latin typeface="BIZ UDPGothic" pitchFamily="34" charset="0"/>
                          <a:ea typeface="BIZ UDPGothic" pitchFamily="34" charset="-122"/>
                          <a:cs typeface="BIZ UDPGothic" pitchFamily="34" charset="-120"/>
                        </a:rPr>
                        <a:t>Gemmba 導入後</a:t>
                      </a:r>
                      <a:endParaRPr lang="en-US" sz="18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13232">
                <a:tc>
                  <a:txBody>
                    <a:bodyPr/>
                    <a:lstStyle/>
                    <a:p>
                      <a:pPr marL="0" indent="0">
                        <a:buNone/>
                      </a:pPr>
                      <a:r>
                        <a:rPr lang="en-US" sz="1700" b="1" dirty="0">
                          <a:solidFill>
                            <a:schemeClr val="tx2"/>
                          </a:solidFill>
                          <a:latin typeface="BIZ UDPGothic" pitchFamily="34" charset="0"/>
                          <a:ea typeface="BIZ UDPGothic" pitchFamily="34" charset="-122"/>
                          <a:cs typeface="BIZ UDPGothic" pitchFamily="34" charset="-120"/>
                        </a:rPr>
                        <a:t>機材の予約</a:t>
                      </a:r>
                      <a:endParaRPr lang="en-US" sz="17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2"/>
                    </a:solidFill>
                  </a:tcPr>
                </a:tc>
                <a:tc>
                  <a:txBody>
                    <a:bodyPr/>
                    <a:lstStyle/>
                    <a:p>
                      <a:pPr marL="0" indent="0">
                        <a:buNone/>
                      </a:pPr>
                      <a:r>
                        <a:rPr lang="en-US" sz="1600">
                          <a:solidFill>
                            <a:schemeClr val="tx1"/>
                          </a:solidFill>
                          <a:latin typeface="BIZ UDPGothic" pitchFamily="34" charset="0"/>
                          <a:ea typeface="BIZ UDPGothic" pitchFamily="34" charset="-122"/>
                          <a:cs typeface="BIZ UDPGothic" pitchFamily="34" charset="-120"/>
                        </a:rPr>
                        <a:t>予約だけして来ない</a:t>
                      </a:r>
                      <a:endParaRPr lang="en-US" sz="16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tcPr>
                </a:tc>
                <a:tc>
                  <a:txBody>
                    <a:bodyPr/>
                    <a:lstStyle/>
                    <a:p>
                      <a:pPr marL="0" indent="0">
                        <a:buNone/>
                      </a:pPr>
                      <a:r>
                        <a:rPr lang="en-US" sz="1600" b="1" dirty="0">
                          <a:solidFill>
                            <a:schemeClr val="tx2"/>
                          </a:solidFill>
                          <a:latin typeface="BIZ UDPGothic" pitchFamily="34" charset="0"/>
                          <a:ea typeface="BIZ UDPGothic" pitchFamily="34" charset="-122"/>
                          <a:cs typeface="BIZ UDPGothic" pitchFamily="34" charset="-120"/>
                        </a:rPr>
                        <a:t>遠隔予約がないので起きない</a:t>
                      </a:r>
                      <a:endParaRPr lang="en-US" sz="16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1"/>
                  </a:ext>
                </a:extLst>
              </a:tr>
              <a:tr h="713232">
                <a:tc>
                  <a:txBody>
                    <a:bodyPr/>
                    <a:lstStyle/>
                    <a:p>
                      <a:pPr marL="0" indent="0">
                        <a:buNone/>
                      </a:pPr>
                      <a:r>
                        <a:rPr lang="en-US" sz="1700" b="1" dirty="0">
                          <a:solidFill>
                            <a:schemeClr val="tx2"/>
                          </a:solidFill>
                          <a:latin typeface="BIZ UDPGothic" pitchFamily="34" charset="0"/>
                          <a:ea typeface="BIZ UDPGothic" pitchFamily="34" charset="-122"/>
                          <a:cs typeface="BIZ UDPGothic" pitchFamily="34" charset="-120"/>
                        </a:rPr>
                        <a:t>仕事の割り振り</a:t>
                      </a:r>
                      <a:endParaRPr lang="en-US" sz="17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BIZ UDPGothic" pitchFamily="34" charset="0"/>
                          <a:ea typeface="BIZ UDPGothic" pitchFamily="34" charset="-122"/>
                          <a:cs typeface="BIZ UDPGothic" pitchFamily="34" charset="-120"/>
                        </a:rPr>
                        <a:t>ベテランに集中・急ぎの仕事を忘れる</a:t>
                      </a:r>
                      <a:endParaRPr lang="en-US" sz="16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tcPr>
                </a:tc>
                <a:tc>
                  <a:txBody>
                    <a:bodyPr/>
                    <a:lstStyle/>
                    <a:p>
                      <a:pPr marL="0" indent="0">
                        <a:buNone/>
                      </a:pPr>
                      <a:r>
                        <a:rPr lang="en-US" sz="1600" b="1" dirty="0">
                          <a:solidFill>
                            <a:schemeClr val="tx2"/>
                          </a:solidFill>
                          <a:latin typeface="BIZ UDPGothic" pitchFamily="34" charset="0"/>
                          <a:ea typeface="BIZ UDPGothic" pitchFamily="34" charset="-122"/>
                          <a:cs typeface="BIZ UDPGothic" pitchFamily="34" charset="-120"/>
                        </a:rPr>
                        <a:t>負荷を見て分散。重要な仕事から提示</a:t>
                      </a:r>
                      <a:endParaRPr lang="en-US" sz="16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2"/>
                  </a:ext>
                </a:extLst>
              </a:tr>
              <a:tr h="713232">
                <a:tc>
                  <a:txBody>
                    <a:bodyPr/>
                    <a:lstStyle/>
                    <a:p>
                      <a:pPr marL="0" indent="0">
                        <a:buNone/>
                      </a:pPr>
                      <a:r>
                        <a:rPr lang="en-US" sz="1700" b="1" dirty="0">
                          <a:solidFill>
                            <a:schemeClr val="tx2"/>
                          </a:solidFill>
                          <a:latin typeface="BIZ UDPGothic" pitchFamily="34" charset="0"/>
                          <a:ea typeface="BIZ UDPGothic" pitchFamily="34" charset="-122"/>
                          <a:cs typeface="BIZ UDPGothic" pitchFamily="34" charset="-120"/>
                        </a:rPr>
                        <a:t>全体の作業時間</a:t>
                      </a:r>
                      <a:endParaRPr lang="en-US" sz="17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BIZ UDPGothic" pitchFamily="34" charset="0"/>
                          <a:ea typeface="BIZ UDPGothic" pitchFamily="34" charset="-122"/>
                          <a:cs typeface="BIZ UDPGothic" pitchFamily="34" charset="-120"/>
                        </a:rPr>
                        <a:t>一部の人が終わるまで全体が待つ</a:t>
                      </a:r>
                      <a:endParaRPr lang="en-US" sz="16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tcPr>
                </a:tc>
                <a:tc>
                  <a:txBody>
                    <a:bodyPr/>
                    <a:lstStyle/>
                    <a:p>
                      <a:pPr marL="0" indent="0">
                        <a:buNone/>
                      </a:pPr>
                      <a:r>
                        <a:rPr lang="en-US" sz="1600" b="1" dirty="0">
                          <a:solidFill>
                            <a:schemeClr val="tx2"/>
                          </a:solidFill>
                          <a:latin typeface="BIZ UDPGothic" pitchFamily="34" charset="0"/>
                          <a:ea typeface="BIZ UDPGothic" pitchFamily="34" charset="-122"/>
                          <a:cs typeface="BIZ UDPGothic" pitchFamily="34" charset="-120"/>
                        </a:rPr>
                        <a:t>シミュレーションで 27〜60% 短縮</a:t>
                      </a:r>
                      <a:endParaRPr lang="en-US" sz="16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3"/>
                  </a:ext>
                </a:extLst>
              </a:tr>
              <a:tr h="713232">
                <a:tc>
                  <a:txBody>
                    <a:bodyPr/>
                    <a:lstStyle/>
                    <a:p>
                      <a:pPr marL="0" indent="0">
                        <a:buNone/>
                      </a:pPr>
                      <a:r>
                        <a:rPr lang="en-US" sz="1700" b="1" dirty="0">
                          <a:solidFill>
                            <a:schemeClr val="tx2"/>
                          </a:solidFill>
                          <a:latin typeface="BIZ UDPGothic" pitchFamily="34" charset="0"/>
                          <a:ea typeface="BIZ UDPGothic" pitchFamily="34" charset="-122"/>
                          <a:cs typeface="BIZ UDPGothic" pitchFamily="34" charset="-120"/>
                        </a:rPr>
                        <a:t>技能の継承</a:t>
                      </a:r>
                      <a:endParaRPr lang="en-US" sz="17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BIZ UDPGothic" pitchFamily="34" charset="0"/>
                          <a:ea typeface="BIZ UDPGothic" pitchFamily="34" charset="-122"/>
                          <a:cs typeface="BIZ UDPGothic" pitchFamily="34" charset="-120"/>
                        </a:rPr>
                        <a:t>得意・不得意が勘と記憶頼み</a:t>
                      </a:r>
                      <a:endParaRPr lang="en-US" sz="16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tcPr>
                </a:tc>
                <a:tc>
                  <a:txBody>
                    <a:bodyPr/>
                    <a:lstStyle/>
                    <a:p>
                      <a:pPr marL="0" indent="0">
                        <a:buNone/>
                      </a:pPr>
                      <a:r>
                        <a:rPr lang="en-US" sz="1600" b="1" dirty="0">
                          <a:solidFill>
                            <a:schemeClr val="tx2"/>
                          </a:solidFill>
                          <a:latin typeface="BIZ UDPGothic" pitchFamily="34" charset="0"/>
                          <a:ea typeface="BIZ UDPGothic" pitchFamily="34" charset="-122"/>
                          <a:cs typeface="BIZ UDPGothic" pitchFamily="34" charset="-120"/>
                        </a:rPr>
                        <a:t>作業ログとして記録が残る</a:t>
                      </a:r>
                      <a:endParaRPr lang="en-US" sz="16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4"/>
                  </a:ext>
                </a:extLst>
              </a:tr>
              <a:tr h="713232">
                <a:tc>
                  <a:txBody>
                    <a:bodyPr/>
                    <a:lstStyle/>
                    <a:p>
                      <a:pPr marL="0" indent="0">
                        <a:buNone/>
                      </a:pPr>
                      <a:r>
                        <a:rPr lang="en-US" sz="1700" b="1" dirty="0">
                          <a:solidFill>
                            <a:schemeClr val="tx2"/>
                          </a:solidFill>
                          <a:latin typeface="BIZ UDPGothic" pitchFamily="34" charset="0"/>
                          <a:ea typeface="BIZ UDPGothic" pitchFamily="34" charset="-122"/>
                          <a:cs typeface="BIZ UDPGothic" pitchFamily="34" charset="-120"/>
                        </a:rPr>
                        <a:t>導入・運用</a:t>
                      </a:r>
                      <a:endParaRPr lang="en-US" sz="17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latin typeface="BIZ UDPGothic" pitchFamily="34" charset="0"/>
                          <a:ea typeface="BIZ UDPGothic" pitchFamily="34" charset="-122"/>
                          <a:cs typeface="BIZ UDPGothic" pitchFamily="34" charset="-120"/>
                        </a:rPr>
                        <a:t>専任の IT 担当者が必要になりがち</a:t>
                      </a:r>
                      <a:endParaRPr lang="en-US" sz="16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tcPr>
                </a:tc>
                <a:tc>
                  <a:txBody>
                    <a:bodyPr/>
                    <a:lstStyle/>
                    <a:p>
                      <a:pPr marL="0" indent="0">
                        <a:buNone/>
                      </a:pPr>
                      <a:r>
                        <a:rPr lang="en-US" sz="1600" b="1" dirty="0">
                          <a:solidFill>
                            <a:schemeClr val="tx2"/>
                          </a:solidFill>
                          <a:latin typeface="BIZ UDPGothic" pitchFamily="34" charset="0"/>
                          <a:ea typeface="BIZ UDPGothic" pitchFamily="34" charset="-122"/>
                          <a:cs typeface="BIZ UDPGothic" pitchFamily="34" charset="-120"/>
                        </a:rPr>
                        <a:t>タッチだけ。既存の機材に後付け</a:t>
                      </a:r>
                      <a:endParaRPr lang="en-US" sz="1600" dirty="0">
                        <a:latin typeface="BIZ UDPGothic" charset="0"/>
                        <a:ea typeface="BIZ UDPGothic" charset="0"/>
                        <a:cs typeface="BIZ UDPGothic" charset="0"/>
                      </a:endParaRPr>
                    </a:p>
                  </a:txBody>
                  <a:tcPr marL="137160" marR="137160"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4415" cy="320040"/>
          </a:xfrm>
          <a:prstGeom prst="rect">
            <a:avLst/>
          </a:prstGeom>
          <a:noFill/>
          <a:ln/>
        </p:spPr>
        <p:txBody>
          <a:bodyPr wrap="square" lIns="0" tIns="0" rIns="0" bIns="0" rtlCol="0" anchor="ctr"/>
          <a:lstStyle/>
          <a:p>
            <a:pPr marL="0" indent="0" algn="l">
              <a:buNone/>
            </a:pPr>
            <a:r>
              <a:rPr lang="ja-JP" altLang="en-US" sz="1400" b="1" dirty="0">
                <a:solidFill>
                  <a:schemeClr val="accent1"/>
                </a:solidFill>
              </a:rPr>
              <a:t>5. ユースケース</a:t>
            </a:r>
            <a:endParaRPr lang="ja-JP" sz="1400" dirty="0"/>
          </a:p>
        </p:txBody>
      </p:sp>
      <p:sp>
        <p:nvSpPr>
          <p:cNvPr id="3" name="Text 0"/>
          <p:cNvSpPr>
            <a:spLocks noGrp="1"/>
          </p:cNvSpPr>
          <p:nvPr>
            <p:ph type="title" idx="101" hasCustomPrompt="1"/>
          </p:nvPr>
        </p:nvSpPr>
        <p:spPr>
          <a:xfrm>
            <a:off x="548640" y="594360"/>
            <a:ext cx="11094415" cy="731520"/>
          </a:xfrm>
          <a:prstGeom prst="rect">
            <a:avLst/>
          </a:prstGeom>
          <a:noFill/>
          <a:ln/>
        </p:spPr>
        <p:txBody>
          <a:bodyPr wrap="square" lIns="0" tIns="0" rIns="0" bIns="0" rtlCol="0" anchor="ctr"/>
          <a:lstStyle/>
          <a:p>
            <a:pPr marL="0" indent="0" algn="l">
              <a:buNone/>
            </a:pPr>
            <a:r>
              <a:rPr lang="ja-JP" altLang="en-US" sz="3200" b="1" dirty="0">
                <a:solidFill>
                  <a:schemeClr val="tx2"/>
                </a:solidFill>
              </a:rPr>
              <a:t>ユースケース：ある日の現場の流れ</a:t>
            </a:r>
            <a:endParaRPr lang="ja-JP" sz="3200" dirty="0"/>
          </a:p>
        </p:txBody>
      </p:sp>
      <p:graphicFrame>
        <p:nvGraphicFramePr>
          <p:cNvPr id="10" name="ユースケース表"/>
          <p:cNvGraphicFramePr>
            <a:graphicFrameLocks noGrp="1"/>
          </p:cNvGraphicFramePr>
          <p:nvPr>
            <p:extLst>
              <p:ext uri="{D42A27DB-BD31-4B8C-83A1-F6EECF244321}">
                <p14:modId xmlns:p14="http://schemas.microsoft.com/office/powerpoint/2010/main" val="3981590745"/>
              </p:ext>
            </p:extLst>
          </p:nvPr>
        </p:nvGraphicFramePr>
        <p:xfrm>
          <a:off x="548640" y="1508760"/>
          <a:ext cx="11094415" cy="4032504"/>
        </p:xfrm>
        <a:graphic>
          <a:graphicData uri="http://schemas.openxmlformats.org/drawingml/2006/table">
            <a:tbl>
              <a:tblPr/>
              <a:tblGrid>
                <a:gridCol w="5486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5150815">
                  <a:extLst>
                    <a:ext uri="{9D8B030D-6E8A-4147-A177-3AD203B41FA5}">
                      <a16:colId xmlns:a16="http://schemas.microsoft.com/office/drawing/2014/main" val="20003"/>
                    </a:ext>
                  </a:extLst>
                </a:gridCol>
              </a:tblGrid>
              <a:tr h="411480">
                <a:tc>
                  <a:txBody>
                    <a:bodyPr/>
                    <a:lstStyle/>
                    <a:p>
                      <a:pPr marL="0" indent="0">
                        <a:buNone/>
                      </a:pPr>
                      <a:endParaRPr lang="en-US" sz="14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400" b="1" dirty="0">
                          <a:solidFill>
                            <a:schemeClr val="accent4"/>
                          </a:solidFill>
                          <a:latin typeface="BIZ UDPGothic" pitchFamily="34" charset="0"/>
                          <a:ea typeface="BIZ UDPGothic" pitchFamily="34" charset="-122"/>
                          <a:cs typeface="BIZ UDPGothic" pitchFamily="34" charset="-120"/>
                        </a:rPr>
                        <a:t>誰が</a:t>
                      </a:r>
                      <a:endParaRPr lang="en-US" sz="14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400" b="1" dirty="0">
                          <a:solidFill>
                            <a:schemeClr val="accent4"/>
                          </a:solidFill>
                          <a:latin typeface="BIZ UDPGothic" pitchFamily="34" charset="0"/>
                          <a:ea typeface="BIZ UDPGothic" pitchFamily="34" charset="-122"/>
                          <a:cs typeface="BIZ UDPGothic" pitchFamily="34" charset="-120"/>
                        </a:rPr>
                        <a:t>すること</a:t>
                      </a:r>
                      <a:endParaRPr lang="en-US" sz="14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400" b="1" dirty="0">
                          <a:solidFill>
                            <a:schemeClr val="accent4"/>
                          </a:solidFill>
                          <a:latin typeface="BIZ UDPGothic" pitchFamily="34" charset="0"/>
                          <a:ea typeface="BIZ UDPGothic" pitchFamily="34" charset="-122"/>
                          <a:cs typeface="BIZ UDPGothic" pitchFamily="34" charset="-120"/>
                        </a:rPr>
                        <a:t>Gemmba の動き</a:t>
                      </a:r>
                      <a:endParaRPr lang="en-US" sz="14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603504">
                <a:tc>
                  <a:txBody>
                    <a:bodyPr/>
                    <a:lstStyle/>
                    <a:p>
                      <a:pPr marL="0" indent="0" algn="ctr">
                        <a:buNone/>
                      </a:pPr>
                      <a:r>
                        <a:rPr lang="en-US" sz="1800" b="1" dirty="0">
                          <a:solidFill>
                            <a:schemeClr val="tx2"/>
                          </a:solidFill>
                          <a:latin typeface="BIZ UDPGothic" pitchFamily="34" charset="0"/>
                          <a:ea typeface="BIZ UDPGothic" pitchFamily="34" charset="-122"/>
                          <a:cs typeface="BIZ UDPGothic" pitchFamily="34" charset="-120"/>
                        </a:rPr>
                        <a:t>1</a:t>
                      </a:r>
                      <a:endParaRPr lang="en-US" sz="18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lgn="ctr">
                        <a:buNone/>
                      </a:pPr>
                      <a:r>
                        <a:rPr lang="en-US" sz="1500" b="1" dirty="0">
                          <a:solidFill>
                            <a:schemeClr val="bg1"/>
                          </a:solidFill>
                          <a:latin typeface="BIZ UDPGothic" pitchFamily="34" charset="0"/>
                          <a:ea typeface="BIZ UDPGothic" pitchFamily="34" charset="-122"/>
                          <a:cs typeface="BIZ UDPGothic" pitchFamily="34" charset="-120"/>
                        </a:rPr>
                        <a:t>管理者</a:t>
                      </a:r>
                      <a:endParaRPr lang="en-US" sz="15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600" b="1" dirty="0">
                          <a:solidFill>
                            <a:schemeClr val="tx1"/>
                          </a:solidFill>
                          <a:latin typeface="BIZ UDPGothic" pitchFamily="34" charset="0"/>
                          <a:ea typeface="BIZ UDPGothic" pitchFamily="34" charset="-122"/>
                          <a:cs typeface="BIZ UDPGothic" pitchFamily="34" charset="-120"/>
                        </a:rPr>
                        <a:t>朝、今日のタスクを管理画面で登録</a:t>
                      </a:r>
                      <a:endParaRPr lang="en-US" sz="16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500" dirty="0">
                          <a:solidFill>
                            <a:schemeClr val="tx1"/>
                          </a:solidFill>
                          <a:latin typeface="BIZ UDPGothic" pitchFamily="34" charset="0"/>
                          <a:ea typeface="BIZ UDPGothic" pitchFamily="34" charset="-122"/>
                          <a:cs typeface="BIZ UDPGothic" pitchFamily="34" charset="-120"/>
                        </a:rPr>
                        <a:t>重要度・難易度・期限・数量を保存</a:t>
                      </a:r>
                      <a:endParaRPr lang="en-US" sz="15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03504">
                <a:tc>
                  <a:txBody>
                    <a:bodyPr/>
                    <a:lstStyle/>
                    <a:p>
                      <a:pPr marL="0" indent="0" algn="ctr">
                        <a:buNone/>
                      </a:pPr>
                      <a:r>
                        <a:rPr lang="en-US" sz="1800" b="1" dirty="0">
                          <a:solidFill>
                            <a:schemeClr val="tx2"/>
                          </a:solidFill>
                          <a:latin typeface="BIZ UDPGothic" pitchFamily="34" charset="0"/>
                          <a:ea typeface="BIZ UDPGothic" pitchFamily="34" charset="-122"/>
                          <a:cs typeface="BIZ UDPGothic" pitchFamily="34" charset="-120"/>
                        </a:rPr>
                        <a:t>2</a:t>
                      </a:r>
                      <a:endParaRPr lang="en-US" sz="18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lgn="ctr">
                        <a:buNone/>
                      </a:pPr>
                      <a:r>
                        <a:rPr lang="en-US" sz="1500" b="1" dirty="0">
                          <a:solidFill>
                            <a:schemeClr val="bg1"/>
                          </a:solidFill>
                          <a:latin typeface="BIZ UDPGothic" pitchFamily="34" charset="0"/>
                          <a:ea typeface="BIZ UDPGothic" pitchFamily="34" charset="-122"/>
                          <a:cs typeface="BIZ UDPGothic" pitchFamily="34" charset="-120"/>
                        </a:rPr>
                        <a:t>作業者</a:t>
                      </a:r>
                      <a:endParaRPr lang="en-US" sz="15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600" b="1">
                          <a:solidFill>
                            <a:schemeClr val="tx1"/>
                          </a:solidFill>
                          <a:latin typeface="BIZ UDPGothic" pitchFamily="34" charset="0"/>
                          <a:ea typeface="BIZ UDPGothic" pitchFamily="34" charset="-122"/>
                          <a:cs typeface="BIZ UDPGothic" pitchFamily="34" charset="-120"/>
                        </a:rPr>
                        <a:t>空いている旋盤で</a:t>
                      </a:r>
                      <a:r>
                        <a:rPr lang="ja-JP" altLang="en-US" sz="1600" b="1">
                          <a:solidFill>
                            <a:schemeClr val="tx1"/>
                          </a:solidFill>
                          <a:latin typeface="BIZ UDPGothic" pitchFamily="34" charset="0"/>
                          <a:ea typeface="BIZ UDPGothic" pitchFamily="34" charset="-122"/>
                          <a:cs typeface="BIZ UDPGothic" pitchFamily="34" charset="-120"/>
                        </a:rPr>
                        <a:t>腕輪</a:t>
                      </a:r>
                      <a:r>
                        <a:rPr lang="en-US" sz="1600" b="1">
                          <a:solidFill>
                            <a:schemeClr val="tx1"/>
                          </a:solidFill>
                          <a:latin typeface="BIZ UDPGothic" pitchFamily="34" charset="0"/>
                          <a:ea typeface="BIZ UDPGothic" pitchFamily="34" charset="-122"/>
                          <a:cs typeface="BIZ UDPGothic" pitchFamily="34" charset="-120"/>
                        </a:rPr>
                        <a:t>をタッチ</a:t>
                      </a:r>
                      <a:endParaRPr lang="en-US" sz="16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500" dirty="0">
                          <a:solidFill>
                            <a:schemeClr val="tx1"/>
                          </a:solidFill>
                          <a:latin typeface="BIZ UDPGothic" pitchFamily="34" charset="0"/>
                          <a:ea typeface="BIZ UDPGothic" pitchFamily="34" charset="-122"/>
                          <a:cs typeface="BIZ UDPGothic" pitchFamily="34" charset="-120"/>
                        </a:rPr>
                        <a:t>割当 AI がこの人に向く仕事を選び、画面に表示</a:t>
                      </a:r>
                      <a:endParaRPr lang="en-US" sz="15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03504">
                <a:tc>
                  <a:txBody>
                    <a:bodyPr/>
                    <a:lstStyle/>
                    <a:p>
                      <a:pPr marL="0" indent="0" algn="ctr">
                        <a:buNone/>
                      </a:pPr>
                      <a:r>
                        <a:rPr lang="en-US" sz="1800" b="1" dirty="0">
                          <a:solidFill>
                            <a:schemeClr val="tx2"/>
                          </a:solidFill>
                          <a:latin typeface="BIZ UDPGothic" pitchFamily="34" charset="0"/>
                          <a:ea typeface="BIZ UDPGothic" pitchFamily="34" charset="-122"/>
                          <a:cs typeface="BIZ UDPGothic" pitchFamily="34" charset="-120"/>
                        </a:rPr>
                        <a:t>3</a:t>
                      </a:r>
                      <a:endParaRPr lang="en-US" sz="18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lgn="ctr">
                        <a:buNone/>
                      </a:pPr>
                      <a:r>
                        <a:rPr lang="en-US" sz="1500" b="1" dirty="0">
                          <a:solidFill>
                            <a:schemeClr val="bg1"/>
                          </a:solidFill>
                          <a:latin typeface="BIZ UDPGothic" pitchFamily="34" charset="0"/>
                          <a:ea typeface="BIZ UDPGothic" pitchFamily="34" charset="-122"/>
                          <a:cs typeface="BIZ UDPGothic" pitchFamily="34" charset="-120"/>
                        </a:rPr>
                        <a:t>作業者</a:t>
                      </a:r>
                      <a:endParaRPr lang="en-US" sz="15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tx1"/>
                          </a:solidFill>
                          <a:latin typeface="BIZ UDPGothic" pitchFamily="34" charset="0"/>
                          <a:ea typeface="BIZ UDPGothic" pitchFamily="34" charset="-122"/>
                          <a:cs typeface="BIZ UDPGothic" pitchFamily="34" charset="-120"/>
                        </a:rPr>
                        <a:t>ボタンで承認して作業を始める</a:t>
                      </a:r>
                      <a:endParaRPr lang="en-US" sz="16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500" dirty="0">
                          <a:solidFill>
                            <a:schemeClr val="tx1"/>
                          </a:solidFill>
                          <a:latin typeface="BIZ UDPGothic" pitchFamily="34" charset="0"/>
                          <a:ea typeface="BIZ UDPGothic" pitchFamily="34" charset="-122"/>
                          <a:cs typeface="BIZ UDPGothic" pitchFamily="34" charset="-120"/>
                        </a:rPr>
                        <a:t>旋盤をロック。管理画面に「使用中・担当者」を表示</a:t>
                      </a:r>
                      <a:endParaRPr lang="en-US" sz="15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03504">
                <a:tc>
                  <a:txBody>
                    <a:bodyPr/>
                    <a:lstStyle/>
                    <a:p>
                      <a:pPr marL="0" indent="0" algn="ctr">
                        <a:buNone/>
                      </a:pPr>
                      <a:r>
                        <a:rPr lang="en-US" sz="1800" b="1" dirty="0">
                          <a:solidFill>
                            <a:schemeClr val="tx2"/>
                          </a:solidFill>
                          <a:latin typeface="BIZ UDPGothic" pitchFamily="34" charset="0"/>
                          <a:ea typeface="BIZ UDPGothic" pitchFamily="34" charset="-122"/>
                          <a:cs typeface="BIZ UDPGothic" pitchFamily="34" charset="-120"/>
                        </a:rPr>
                        <a:t>4</a:t>
                      </a:r>
                      <a:endParaRPr lang="en-US" sz="18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lgn="ctr">
                        <a:buNone/>
                      </a:pPr>
                      <a:r>
                        <a:rPr lang="en-US" sz="1500" b="1" dirty="0">
                          <a:solidFill>
                            <a:schemeClr val="bg1"/>
                          </a:solidFill>
                          <a:latin typeface="BIZ UDPGothic" pitchFamily="34" charset="0"/>
                          <a:ea typeface="BIZ UDPGothic" pitchFamily="34" charset="-122"/>
                          <a:cs typeface="BIZ UDPGothic" pitchFamily="34" charset="-120"/>
                        </a:rPr>
                        <a:t>作業者</a:t>
                      </a:r>
                      <a:endParaRPr lang="en-US" sz="15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tx1"/>
                          </a:solidFill>
                          <a:latin typeface="BIZ UDPGothic" pitchFamily="34" charset="0"/>
                          <a:ea typeface="BIZ UDPGothic" pitchFamily="34" charset="-122"/>
                          <a:cs typeface="BIZ UDPGothic" pitchFamily="34" charset="-120"/>
                        </a:rPr>
                        <a:t>別の機材への移動を提案される</a:t>
                      </a:r>
                      <a:endParaRPr lang="en-US" sz="16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500" dirty="0">
                          <a:solidFill>
                            <a:schemeClr val="tx1"/>
                          </a:solidFill>
                          <a:latin typeface="BIZ UDPGothic" pitchFamily="34" charset="0"/>
                          <a:ea typeface="BIZ UDPGothic" pitchFamily="34" charset="-122"/>
                          <a:cs typeface="BIZ UDPGothic" pitchFamily="34" charset="-120"/>
                        </a:rPr>
                        <a:t>本人宛のより重要な仕事が他の機材にあれば案内</a:t>
                      </a:r>
                      <a:endParaRPr lang="en-US" sz="15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03504">
                <a:tc>
                  <a:txBody>
                    <a:bodyPr/>
                    <a:lstStyle/>
                    <a:p>
                      <a:pPr marL="0" indent="0" algn="ctr">
                        <a:buNone/>
                      </a:pPr>
                      <a:r>
                        <a:rPr lang="en-US" sz="1800" b="1" dirty="0">
                          <a:solidFill>
                            <a:schemeClr val="tx2"/>
                          </a:solidFill>
                          <a:latin typeface="BIZ UDPGothic" pitchFamily="34" charset="0"/>
                          <a:ea typeface="BIZ UDPGothic" pitchFamily="34" charset="-122"/>
                          <a:cs typeface="BIZ UDPGothic" pitchFamily="34" charset="-120"/>
                        </a:rPr>
                        <a:t>5</a:t>
                      </a:r>
                      <a:endParaRPr lang="en-US" sz="18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lgn="ctr">
                        <a:buNone/>
                      </a:pPr>
                      <a:r>
                        <a:rPr lang="en-US" sz="1500" b="1" dirty="0">
                          <a:solidFill>
                            <a:schemeClr val="bg1"/>
                          </a:solidFill>
                          <a:latin typeface="BIZ UDPGothic" pitchFamily="34" charset="0"/>
                          <a:ea typeface="BIZ UDPGothic" pitchFamily="34" charset="-122"/>
                          <a:cs typeface="BIZ UDPGothic" pitchFamily="34" charset="-120"/>
                        </a:rPr>
                        <a:t>作業者</a:t>
                      </a:r>
                      <a:endParaRPr lang="en-US" sz="15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tx1"/>
                          </a:solidFill>
                          <a:latin typeface="BIZ UDPGothic" pitchFamily="34" charset="0"/>
                          <a:ea typeface="BIZ UDPGothic" pitchFamily="34" charset="-122"/>
                          <a:cs typeface="BIZ UDPGothic" pitchFamily="34" charset="-120"/>
                        </a:rPr>
                        <a:t>終わったら再タッチし、難しさを答える</a:t>
                      </a:r>
                      <a:endParaRPr lang="en-US" sz="16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500" dirty="0">
                          <a:solidFill>
                            <a:schemeClr val="tx1"/>
                          </a:solidFill>
                          <a:latin typeface="BIZ UDPGothic" pitchFamily="34" charset="0"/>
                          <a:ea typeface="BIZ UDPGothic" pitchFamily="34" charset="-122"/>
                          <a:cs typeface="BIZ UDPGothic" pitchFamily="34" charset="-120"/>
                        </a:rPr>
                        <a:t>所要時間を記録し、AI が得意・不得意を学習</a:t>
                      </a:r>
                      <a:endParaRPr lang="en-US" sz="15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03504">
                <a:tc>
                  <a:txBody>
                    <a:bodyPr/>
                    <a:lstStyle/>
                    <a:p>
                      <a:pPr marL="0" indent="0" algn="ctr">
                        <a:buNone/>
                      </a:pPr>
                      <a:r>
                        <a:rPr lang="en-US" sz="1800" b="1" dirty="0">
                          <a:solidFill>
                            <a:schemeClr val="tx2"/>
                          </a:solidFill>
                          <a:latin typeface="BIZ UDPGothic" pitchFamily="34" charset="0"/>
                          <a:ea typeface="BIZ UDPGothic" pitchFamily="34" charset="-122"/>
                          <a:cs typeface="BIZ UDPGothic" pitchFamily="34" charset="-120"/>
                        </a:rPr>
                        <a:t>6</a:t>
                      </a:r>
                      <a:endParaRPr lang="en-US" sz="18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lgn="ctr">
                        <a:buNone/>
                      </a:pPr>
                      <a:r>
                        <a:rPr lang="en-US" sz="1500" b="1" dirty="0">
                          <a:solidFill>
                            <a:schemeClr val="bg1"/>
                          </a:solidFill>
                          <a:latin typeface="BIZ UDPGothic" pitchFamily="34" charset="0"/>
                          <a:ea typeface="BIZ UDPGothic" pitchFamily="34" charset="-122"/>
                          <a:cs typeface="BIZ UDPGothic" pitchFamily="34" charset="-120"/>
                        </a:rPr>
                        <a:t>管理者</a:t>
                      </a:r>
                      <a:endParaRPr lang="en-US" sz="15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600" b="1" dirty="0">
                          <a:solidFill>
                            <a:schemeClr val="tx1"/>
                          </a:solidFill>
                          <a:latin typeface="BIZ UDPGothic" pitchFamily="34" charset="0"/>
                          <a:ea typeface="BIZ UDPGothic" pitchFamily="34" charset="-122"/>
                          <a:cs typeface="BIZ UDPGothic" pitchFamily="34" charset="-120"/>
                        </a:rPr>
                        <a:t>画面で進捗と実績を確認</a:t>
                      </a:r>
                      <a:endParaRPr lang="en-US" sz="16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indent="0">
                        <a:buNone/>
                      </a:pPr>
                      <a:r>
                        <a:rPr lang="en-US" sz="1500" dirty="0">
                          <a:solidFill>
                            <a:schemeClr val="tx1"/>
                          </a:solidFill>
                          <a:latin typeface="BIZ UDPGothic" pitchFamily="34" charset="0"/>
                          <a:ea typeface="BIZ UDPGothic" pitchFamily="34" charset="-122"/>
                          <a:cs typeface="BIZ UDPGothic" pitchFamily="34" charset="-120"/>
                        </a:rPr>
                        <a:t>偏りや遅れがあれば「AI 割当」で割り振り直し</a:t>
                      </a:r>
                      <a:endParaRPr lang="en-US" sz="1500" dirty="0">
                        <a:latin typeface="BIZ UDPGothic" charset="0"/>
                        <a:ea typeface="BIZ UDPGothic" charset="0"/>
                        <a:cs typeface="BIZ UDPGothic" charset="0"/>
                      </a:endParaRPr>
                    </a:p>
                  </a:txBody>
                  <a:tcPr marL="137160" marR="137160" marT="0" marB="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5" name="ユースケース_まとめ"/>
          <p:cNvSpPr txBox="1"/>
          <p:nvPr/>
        </p:nvSpPr>
        <p:spPr>
          <a:xfrm>
            <a:off x="548640" y="5760720"/>
            <a:ext cx="11094415" cy="411480"/>
          </a:xfrm>
          <a:prstGeom prst="rect">
            <a:avLst/>
          </a:prstGeom>
          <a:noFill/>
          <a:ln/>
        </p:spPr>
        <p:txBody>
          <a:bodyPr wrap="square" lIns="0" tIns="0" rIns="0" bIns="0" rtlCol="0" anchor="ctr"/>
          <a:lstStyle/>
          <a:p>
            <a:pPr marL="0" indent="0">
              <a:buNone/>
            </a:pPr>
            <a:r>
              <a:rPr lang="ja-JP" altLang="en-US" sz="1800" b="1" dirty="0">
                <a:solidFill>
                  <a:schemeClr val="accent1"/>
                </a:solidFill>
              </a:rPr>
              <a:t>作業者は機材の前で「タッチ」と「ボタン」だけ。報告・確認・次の仕事探しのために歩き回らなくてよい</a:t>
            </a:r>
            <a:endParaRPr lang="ja-JP"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4415" cy="320040"/>
          </a:xfrm>
          <a:prstGeom prst="rect">
            <a:avLst/>
          </a:prstGeom>
          <a:noFill/>
          <a:ln/>
        </p:spPr>
        <p:txBody>
          <a:bodyPr wrap="square" lIns="0" tIns="0" rIns="0" bIns="0" rtlCol="0" anchor="ctr"/>
          <a:lstStyle/>
          <a:p>
            <a:pPr marL="0" indent="0" algn="l">
              <a:buNone/>
            </a:pPr>
            <a:r>
              <a:rPr lang="ja-JP" altLang="en-US" sz="1400" b="1" dirty="0">
                <a:solidFill>
                  <a:schemeClr val="accent1"/>
                </a:solidFill>
              </a:rPr>
              <a:t>6. AI の妥当性</a:t>
            </a:r>
            <a:endParaRPr lang="ja-JP" sz="1400" dirty="0"/>
          </a:p>
        </p:txBody>
      </p:sp>
      <p:sp>
        <p:nvSpPr>
          <p:cNvPr id="3" name="Text 0"/>
          <p:cNvSpPr>
            <a:spLocks noGrp="1"/>
          </p:cNvSpPr>
          <p:nvPr>
            <p:ph type="title" idx="101" hasCustomPrompt="1"/>
          </p:nvPr>
        </p:nvSpPr>
        <p:spPr>
          <a:xfrm>
            <a:off x="548640" y="594360"/>
            <a:ext cx="11094415" cy="731520"/>
          </a:xfrm>
          <a:prstGeom prst="rect">
            <a:avLst/>
          </a:prstGeom>
          <a:noFill/>
          <a:ln/>
        </p:spPr>
        <p:txBody>
          <a:bodyPr wrap="square" lIns="0" tIns="0" rIns="0" bIns="0" rtlCol="0" anchor="ctr"/>
          <a:lstStyle/>
          <a:p>
            <a:pPr marL="0" indent="0" algn="l">
              <a:buNone/>
            </a:pPr>
            <a:r>
              <a:rPr lang="ja-JP" altLang="en-US" sz="3200" b="1" dirty="0">
                <a:solidFill>
                  <a:schemeClr val="tx2"/>
                </a:solidFill>
              </a:rPr>
              <a:t>AI の仕組み：実績から学び、割当の理由を示す</a:t>
            </a:r>
            <a:endParaRPr lang="ja-JP" sz="3200" dirty="0"/>
          </a:p>
        </p:txBody>
      </p:sp>
      <p:sp>
        <p:nvSpPr>
          <p:cNvPr id="4" name="AI特徴1"/>
          <p:cNvSpPr/>
          <p:nvPr/>
        </p:nvSpPr>
        <p:spPr>
          <a:xfrm>
            <a:off x="548640" y="1554480"/>
            <a:ext cx="4846320" cy="1280160"/>
          </a:xfrm>
          <a:prstGeom prst="roundRect">
            <a:avLst>
              <a:gd name="adj" fmla="val 5714"/>
            </a:avLst>
          </a:prstGeom>
          <a:solidFill>
            <a:schemeClr val="bg2"/>
          </a:solidFill>
          <a:ln w="12700">
            <a:solidFill>
              <a:schemeClr val="bg2"/>
            </a:solidFill>
            <a:prstDash val="solid"/>
          </a:ln>
        </p:spPr>
        <p:txBody>
          <a:bodyPr/>
          <a:lstStyle/>
          <a:p>
            <a:endParaRPr lang="ja-JP" altLang="en-US"/>
          </a:p>
        </p:txBody>
      </p:sp>
      <p:sp>
        <p:nvSpPr>
          <p:cNvPr id="5" name="AI特徴1_文字"/>
          <p:cNvSpPr txBox="1"/>
          <p:nvPr/>
        </p:nvSpPr>
        <p:spPr>
          <a:xfrm>
            <a:off x="777240" y="1737360"/>
            <a:ext cx="4389120" cy="914400"/>
          </a:xfrm>
          <a:prstGeom prst="rect">
            <a:avLst/>
          </a:prstGeom>
          <a:noFill/>
          <a:ln/>
        </p:spPr>
        <p:txBody>
          <a:bodyPr wrap="square" lIns="0" tIns="0" rIns="0" bIns="0" rtlCol="0" anchor="t"/>
          <a:lstStyle/>
          <a:p>
            <a:pPr marL="0" indent="0">
              <a:buNone/>
            </a:pPr>
            <a:r>
              <a:rPr lang="ja-JP" altLang="en-US" sz="1800" b="1" dirty="0">
                <a:solidFill>
                  <a:schemeClr val="tx2"/>
                </a:solidFill>
              </a:rPr>
              <a:t>隠れた得意分野を見つける</a:t>
            </a:r>
            <a:endParaRPr lang="ja-JP" sz="1800" dirty="0"/>
          </a:p>
          <a:p>
            <a:pPr marL="0" indent="0">
              <a:spcBef>
                <a:spcPts val="800"/>
              </a:spcBef>
              <a:buNone/>
            </a:pPr>
            <a:r>
              <a:rPr lang="ja-JP" altLang="en-US" sz="1500" dirty="0">
                <a:solidFill>
                  <a:schemeClr val="tx1"/>
                </a:solidFill>
              </a:rPr>
              <a:t>経験年数だけでなく、実際の作業時間から一人ひとりの向き・不向きを学ぶ</a:t>
            </a:r>
            <a:endParaRPr lang="ja-JP" sz="1800" dirty="0"/>
          </a:p>
        </p:txBody>
      </p:sp>
      <p:sp>
        <p:nvSpPr>
          <p:cNvPr id="6" name="AI特徴2"/>
          <p:cNvSpPr/>
          <p:nvPr/>
        </p:nvSpPr>
        <p:spPr>
          <a:xfrm>
            <a:off x="548640" y="3017520"/>
            <a:ext cx="4846320" cy="1280160"/>
          </a:xfrm>
          <a:prstGeom prst="roundRect">
            <a:avLst>
              <a:gd name="adj" fmla="val 5714"/>
            </a:avLst>
          </a:prstGeom>
          <a:solidFill>
            <a:schemeClr val="bg2"/>
          </a:solidFill>
          <a:ln w="12700">
            <a:solidFill>
              <a:schemeClr val="bg2"/>
            </a:solidFill>
            <a:prstDash val="solid"/>
          </a:ln>
        </p:spPr>
        <p:txBody>
          <a:bodyPr/>
          <a:lstStyle/>
          <a:p>
            <a:endParaRPr lang="ja-JP" altLang="en-US"/>
          </a:p>
        </p:txBody>
      </p:sp>
      <p:sp>
        <p:nvSpPr>
          <p:cNvPr id="7" name="AI特徴2_文字"/>
          <p:cNvSpPr txBox="1"/>
          <p:nvPr/>
        </p:nvSpPr>
        <p:spPr>
          <a:xfrm>
            <a:off x="777240" y="3200400"/>
            <a:ext cx="4389120" cy="914400"/>
          </a:xfrm>
          <a:prstGeom prst="rect">
            <a:avLst/>
          </a:prstGeom>
          <a:noFill/>
          <a:ln/>
        </p:spPr>
        <p:txBody>
          <a:bodyPr wrap="square" lIns="0" tIns="0" rIns="0" bIns="0" rtlCol="0" anchor="t"/>
          <a:lstStyle/>
          <a:p>
            <a:pPr marL="0" indent="0">
              <a:buNone/>
            </a:pPr>
            <a:r>
              <a:rPr lang="ja-JP" altLang="en-US" sz="1800" b="1" dirty="0">
                <a:solidFill>
                  <a:schemeClr val="tx2"/>
                </a:solidFill>
              </a:rPr>
              <a:t>新人にも機会を回す</a:t>
            </a:r>
            <a:endParaRPr lang="ja-JP" sz="1800" dirty="0"/>
          </a:p>
          <a:p>
            <a:pPr marL="0" indent="0">
              <a:spcBef>
                <a:spcPts val="800"/>
              </a:spcBef>
              <a:buNone/>
            </a:pPr>
            <a:r>
              <a:rPr lang="ja-JP" altLang="en-US" sz="1500" dirty="0">
                <a:solidFill>
                  <a:schemeClr val="tx1"/>
                </a:solidFill>
              </a:rPr>
              <a:t>実績の少ない人にも試しに任せ、得意かどうかを確かめる</a:t>
            </a:r>
            <a:endParaRPr lang="ja-JP" sz="1800" dirty="0"/>
          </a:p>
        </p:txBody>
      </p:sp>
      <p:sp>
        <p:nvSpPr>
          <p:cNvPr id="8" name="AI特徴3"/>
          <p:cNvSpPr/>
          <p:nvPr/>
        </p:nvSpPr>
        <p:spPr>
          <a:xfrm>
            <a:off x="548640" y="4480560"/>
            <a:ext cx="4846320" cy="1280160"/>
          </a:xfrm>
          <a:prstGeom prst="roundRect">
            <a:avLst>
              <a:gd name="adj" fmla="val 5714"/>
            </a:avLst>
          </a:prstGeom>
          <a:solidFill>
            <a:schemeClr val="bg2"/>
          </a:solidFill>
          <a:ln w="12700">
            <a:solidFill>
              <a:schemeClr val="bg2"/>
            </a:solidFill>
            <a:prstDash val="solid"/>
          </a:ln>
        </p:spPr>
        <p:txBody>
          <a:bodyPr/>
          <a:lstStyle/>
          <a:p>
            <a:endParaRPr lang="ja-JP" altLang="en-US"/>
          </a:p>
        </p:txBody>
      </p:sp>
      <p:sp>
        <p:nvSpPr>
          <p:cNvPr id="9" name="AI特徴3_文字"/>
          <p:cNvSpPr txBox="1"/>
          <p:nvPr/>
        </p:nvSpPr>
        <p:spPr>
          <a:xfrm>
            <a:off x="777240" y="4663440"/>
            <a:ext cx="4389120" cy="914400"/>
          </a:xfrm>
          <a:prstGeom prst="rect">
            <a:avLst/>
          </a:prstGeom>
          <a:noFill/>
          <a:ln/>
        </p:spPr>
        <p:txBody>
          <a:bodyPr wrap="square" lIns="0" tIns="0" rIns="0" bIns="0" rtlCol="0" anchor="t"/>
          <a:lstStyle/>
          <a:p>
            <a:pPr marL="0" indent="0">
              <a:buNone/>
            </a:pPr>
            <a:r>
              <a:rPr lang="ja-JP" altLang="en-US" sz="1800" b="1" dirty="0">
                <a:solidFill>
                  <a:schemeClr val="tx2"/>
                </a:solidFill>
              </a:rPr>
              <a:t>一人に仕事を集中させない</a:t>
            </a:r>
            <a:endParaRPr lang="ja-JP" sz="1800" dirty="0"/>
          </a:p>
          <a:p>
            <a:pPr marL="0" indent="0">
              <a:spcBef>
                <a:spcPts val="800"/>
              </a:spcBef>
              <a:buNone/>
            </a:pPr>
            <a:r>
              <a:rPr lang="ja-JP" altLang="en-US" sz="1500" dirty="0">
                <a:solidFill>
                  <a:schemeClr val="tx1"/>
                </a:solidFill>
              </a:rPr>
              <a:t>手持ちの仕事が多い人は点数を</a:t>
            </a:r>
            <a:r>
              <a:rPr lang="ja-JP" altLang="en-US" sz="1500">
                <a:solidFill>
                  <a:schemeClr val="tx1"/>
                </a:solidFill>
              </a:rPr>
              <a:t>下げ、</a:t>
            </a:r>
            <a:endParaRPr lang="en-US" altLang="ja-JP" sz="1500">
              <a:solidFill>
                <a:schemeClr val="tx1"/>
              </a:solidFill>
            </a:endParaRPr>
          </a:p>
          <a:p>
            <a:pPr marL="0" indent="0">
              <a:spcBef>
                <a:spcPts val="800"/>
              </a:spcBef>
              <a:buNone/>
            </a:pPr>
            <a:r>
              <a:rPr lang="ja-JP" altLang="en-US" sz="1500">
                <a:solidFill>
                  <a:schemeClr val="tx1"/>
                </a:solidFill>
              </a:rPr>
              <a:t>次</a:t>
            </a:r>
            <a:r>
              <a:rPr lang="ja-JP" altLang="en-US" sz="1500" dirty="0">
                <a:solidFill>
                  <a:schemeClr val="tx1"/>
                </a:solidFill>
              </a:rPr>
              <a:t>に向く人へ回す</a:t>
            </a:r>
            <a:endParaRPr lang="ja-JP" sz="1800" dirty="0"/>
          </a:p>
        </p:txBody>
      </p:sp>
      <p:sp>
        <p:nvSpPr>
          <p:cNvPr id="10" name="根拠_見出し"/>
          <p:cNvSpPr txBox="1"/>
          <p:nvPr/>
        </p:nvSpPr>
        <p:spPr>
          <a:xfrm>
            <a:off x="5852160" y="1554480"/>
            <a:ext cx="5790895" cy="365760"/>
          </a:xfrm>
          <a:prstGeom prst="rect">
            <a:avLst/>
          </a:prstGeom>
          <a:noFill/>
          <a:ln/>
        </p:spPr>
        <p:txBody>
          <a:bodyPr wrap="square" lIns="0" tIns="0" rIns="0" bIns="0" rtlCol="0" anchor="ctr"/>
          <a:lstStyle/>
          <a:p>
            <a:pPr marL="0" indent="0">
              <a:buNone/>
            </a:pPr>
            <a:r>
              <a:rPr lang="ja-JP" altLang="en-US" sz="1800" b="1" dirty="0">
                <a:solidFill>
                  <a:schemeClr val="tx2"/>
                </a:solidFill>
              </a:rPr>
              <a:t>割当の根拠の表示例：溶接・難易度 3 のタスク</a:t>
            </a:r>
            <a:endParaRPr lang="ja-JP" sz="1800" dirty="0"/>
          </a:p>
        </p:txBody>
      </p:sp>
      <p:graphicFrame>
        <p:nvGraphicFramePr>
          <p:cNvPr id="11" name="根拠_表"/>
          <p:cNvGraphicFramePr>
            <a:graphicFrameLocks noGrp="1"/>
          </p:cNvGraphicFramePr>
          <p:nvPr>
            <p:extLst>
              <p:ext uri="{D42A27DB-BD31-4B8C-83A1-F6EECF244321}">
                <p14:modId xmlns:p14="http://schemas.microsoft.com/office/powerpoint/2010/main" val="1579011935"/>
              </p:ext>
            </p:extLst>
          </p:nvPr>
        </p:nvGraphicFramePr>
        <p:xfrm>
          <a:off x="5852160" y="2011680"/>
          <a:ext cx="5790895" cy="2304288"/>
        </p:xfrm>
        <a:graphic>
          <a:graphicData uri="http://schemas.openxmlformats.org/drawingml/2006/table">
            <a:tbl>
              <a:tblPr/>
              <a:tblGrid>
                <a:gridCol w="1950415">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84048">
                <a:tc>
                  <a:txBody>
                    <a:bodyPr/>
                    <a:lstStyle/>
                    <a:p>
                      <a:pPr marL="0" indent="0" algn="ctr">
                        <a:buNone/>
                      </a:pPr>
                      <a:r>
                        <a:rPr lang="en-US" sz="1400" b="1" dirty="0">
                          <a:solidFill>
                            <a:schemeClr val="bg1"/>
                          </a:solidFill>
                          <a:latin typeface="BIZ UDPGothic" pitchFamily="34" charset="0"/>
                          <a:ea typeface="BIZ UDPGothic" pitchFamily="34" charset="-122"/>
                          <a:cs typeface="BIZ UDPGothic" pitchFamily="34" charset="-120"/>
                        </a:rPr>
                        <a:t>作業者</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BIZ UDPGothic" pitchFamily="34" charset="0"/>
                          <a:ea typeface="BIZ UDPGothic" pitchFamily="34" charset="-122"/>
                          <a:cs typeface="BIZ UDPGothic" pitchFamily="34" charset="-120"/>
                        </a:rPr>
                        <a:t>期待値</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BIZ UDPGothic" pitchFamily="34" charset="0"/>
                          <a:ea typeface="BIZ UDPGothic" pitchFamily="34" charset="-122"/>
                          <a:cs typeface="BIZ UDPGothic" pitchFamily="34" charset="-120"/>
                        </a:rPr>
                        <a:t>手持ち [分]</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BIZ UDPGothic" pitchFamily="34" charset="0"/>
                          <a:ea typeface="BIZ UDPGothic" pitchFamily="34" charset="-122"/>
                          <a:cs typeface="BIZ UDPGothic" pitchFamily="34" charset="-120"/>
                        </a:rPr>
                        <a:t>点数</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lgn="l">
                        <a:buNone/>
                      </a:pPr>
                      <a:r>
                        <a:rPr lang="en-US" sz="1400" b="1" dirty="0">
                          <a:solidFill>
                            <a:schemeClr val="accent1"/>
                          </a:solidFill>
                          <a:latin typeface="BIZ UDPGothic" pitchFamily="34" charset="0"/>
                          <a:ea typeface="BIZ UDPGothic" pitchFamily="34" charset="-122"/>
                          <a:cs typeface="BIZ UDPGothic" pitchFamily="34" charset="-120"/>
                        </a:rPr>
                        <a:t>勤続 8 年</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accent5"/>
                    </a:solidFill>
                  </a:tcPr>
                </a:tc>
                <a:tc>
                  <a:txBody>
                    <a:bodyPr/>
                    <a:lstStyle/>
                    <a:p>
                      <a:pPr marL="0" indent="0" algn="r">
                        <a:buNone/>
                      </a:pPr>
                      <a:r>
                        <a:rPr lang="en-US" sz="1400" b="1" dirty="0">
                          <a:solidFill>
                            <a:schemeClr val="accent1"/>
                          </a:solidFill>
                          <a:latin typeface="BIZ UDPGothic" pitchFamily="34" charset="0"/>
                          <a:ea typeface="BIZ UDPGothic" pitchFamily="34" charset="-122"/>
                          <a:cs typeface="BIZ UDPGothic" pitchFamily="34" charset="-120"/>
                        </a:rPr>
                        <a:t>1.58</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accent5"/>
                    </a:solidFill>
                  </a:tcPr>
                </a:tc>
                <a:tc>
                  <a:txBody>
                    <a:bodyPr/>
                    <a:lstStyle/>
                    <a:p>
                      <a:pPr marL="0" indent="0" algn="r">
                        <a:buNone/>
                      </a:pPr>
                      <a:r>
                        <a:rPr lang="en-US" sz="1400" b="1" dirty="0">
                          <a:solidFill>
                            <a:schemeClr val="accent1"/>
                          </a:solidFill>
                          <a:latin typeface="BIZ UDPGothic" pitchFamily="34" charset="0"/>
                          <a:ea typeface="BIZ UDPGothic" pitchFamily="34" charset="-122"/>
                          <a:cs typeface="BIZ UDPGothic" pitchFamily="34" charset="-120"/>
                        </a:rPr>
                        <a:t>0</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accent5"/>
                    </a:solidFill>
                  </a:tcPr>
                </a:tc>
                <a:tc>
                  <a:txBody>
                    <a:bodyPr/>
                    <a:lstStyle/>
                    <a:p>
                      <a:pPr marL="0" indent="0" algn="r">
                        <a:buNone/>
                      </a:pPr>
                      <a:r>
                        <a:rPr lang="en-US" sz="1400" b="1" dirty="0">
                          <a:solidFill>
                            <a:schemeClr val="accent1"/>
                          </a:solidFill>
                          <a:latin typeface="BIZ UDPGothic" pitchFamily="34" charset="0"/>
                          <a:ea typeface="BIZ UDPGothic" pitchFamily="34" charset="-122"/>
                          <a:cs typeface="BIZ UDPGothic" pitchFamily="34" charset="-120"/>
                        </a:rPr>
                        <a:t>1.61</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accent5"/>
                    </a:solidFill>
                  </a:tcPr>
                </a:tc>
                <a:extLst>
                  <a:ext uri="{0D108BD9-81ED-4DB2-BD59-A6C34878D82A}">
                    <a16:rowId xmlns:a16="http://schemas.microsoft.com/office/drawing/2014/main" val="10001"/>
                  </a:ext>
                </a:extLst>
              </a:tr>
              <a:tr h="384048">
                <a:tc>
                  <a:txBody>
                    <a:bodyPr/>
                    <a:lstStyle/>
                    <a:p>
                      <a:pPr marL="0" indent="0" algn="l">
                        <a:buNone/>
                      </a:pPr>
                      <a:r>
                        <a:rPr lang="en-US" sz="1400" dirty="0">
                          <a:solidFill>
                            <a:schemeClr val="tx1"/>
                          </a:solidFill>
                          <a:latin typeface="BIZ UDPGothic" pitchFamily="34" charset="0"/>
                          <a:ea typeface="BIZ UDPGothic" pitchFamily="34" charset="-122"/>
                          <a:cs typeface="BIZ UDPGothic" pitchFamily="34" charset="-120"/>
                        </a:rPr>
                        <a:t>勤続 25 年</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BIZ UDPGothic" pitchFamily="34" charset="0"/>
                          <a:ea typeface="BIZ UDPGothic" pitchFamily="34" charset="-122"/>
                          <a:cs typeface="BIZ UDPGothic" pitchFamily="34" charset="-120"/>
                        </a:rPr>
                        <a:t>0.78</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BIZ UDPGothic" pitchFamily="34" charset="0"/>
                          <a:ea typeface="BIZ UDPGothic" pitchFamily="34" charset="-122"/>
                          <a:cs typeface="BIZ UDPGothic" pitchFamily="34" charset="-120"/>
                        </a:rPr>
                        <a:t>0</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BIZ UDPGothic" pitchFamily="34" charset="0"/>
                          <a:ea typeface="BIZ UDPGothic" pitchFamily="34" charset="-122"/>
                          <a:cs typeface="BIZ UDPGothic" pitchFamily="34" charset="-120"/>
                        </a:rPr>
                        <a:t>1.14</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048">
                <a:tc>
                  <a:txBody>
                    <a:bodyPr/>
                    <a:lstStyle/>
                    <a:p>
                      <a:pPr marL="0" indent="0" algn="l">
                        <a:buNone/>
                      </a:pPr>
                      <a:r>
                        <a:rPr lang="en-US" sz="1400" dirty="0">
                          <a:solidFill>
                            <a:schemeClr val="tx1"/>
                          </a:solidFill>
                          <a:latin typeface="BIZ UDPGothic" pitchFamily="34" charset="0"/>
                          <a:ea typeface="BIZ UDPGothic" pitchFamily="34" charset="-122"/>
                          <a:cs typeface="BIZ UDPGothic" pitchFamily="34" charset="-120"/>
                        </a:rPr>
                        <a:t>勤続 30 年</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BIZ UDPGothic" pitchFamily="34" charset="0"/>
                          <a:ea typeface="BIZ UDPGothic" pitchFamily="34" charset="-122"/>
                          <a:cs typeface="BIZ UDPGothic" pitchFamily="34" charset="-120"/>
                        </a:rPr>
                        <a:t>2.31</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BIZ UDPGothic" pitchFamily="34" charset="0"/>
                          <a:ea typeface="BIZ UDPGothic" pitchFamily="34" charset="-122"/>
                          <a:cs typeface="BIZ UDPGothic" pitchFamily="34" charset="-120"/>
                        </a:rPr>
                        <a:t>22.9</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BIZ UDPGothic" pitchFamily="34" charset="0"/>
                          <a:ea typeface="BIZ UDPGothic" pitchFamily="34" charset="-122"/>
                          <a:cs typeface="BIZ UDPGothic" pitchFamily="34" charset="-120"/>
                        </a:rPr>
                        <a:t>0.97</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048">
                <a:tc>
                  <a:txBody>
                    <a:bodyPr/>
                    <a:lstStyle/>
                    <a:p>
                      <a:pPr marL="0" indent="0" algn="l">
                        <a:buNone/>
                      </a:pPr>
                      <a:r>
                        <a:rPr lang="en-US" sz="1400" dirty="0">
                          <a:solidFill>
                            <a:schemeClr val="tx1"/>
                          </a:solidFill>
                          <a:latin typeface="BIZ UDPGothic" pitchFamily="34" charset="0"/>
                          <a:ea typeface="BIZ UDPGothic" pitchFamily="34" charset="-122"/>
                          <a:cs typeface="BIZ UDPGothic" pitchFamily="34" charset="-120"/>
                        </a:rPr>
                        <a:t>勤続 3 年</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BIZ UDPGothic" pitchFamily="34" charset="0"/>
                          <a:ea typeface="BIZ UDPGothic" pitchFamily="34" charset="-122"/>
                          <a:cs typeface="BIZ UDPGothic" pitchFamily="34" charset="-120"/>
                        </a:rPr>
                        <a:t>0.64</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BIZ UDPGothic" pitchFamily="34" charset="0"/>
                          <a:ea typeface="BIZ UDPGothic" pitchFamily="34" charset="-122"/>
                          <a:cs typeface="BIZ UDPGothic" pitchFamily="34" charset="-120"/>
                        </a:rPr>
                        <a:t>0</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BIZ UDPGothic" pitchFamily="34" charset="0"/>
                          <a:ea typeface="BIZ UDPGothic" pitchFamily="34" charset="-122"/>
                          <a:cs typeface="BIZ UDPGothic" pitchFamily="34" charset="-120"/>
                        </a:rPr>
                        <a:t>0.47</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84048">
                <a:tc>
                  <a:txBody>
                    <a:bodyPr/>
                    <a:lstStyle/>
                    <a:p>
                      <a:pPr marL="0" indent="0" algn="l">
                        <a:buNone/>
                      </a:pPr>
                      <a:r>
                        <a:rPr lang="en-US" sz="1400" dirty="0">
                          <a:solidFill>
                            <a:schemeClr val="tx1"/>
                          </a:solidFill>
                          <a:latin typeface="BIZ UDPGothic" pitchFamily="34" charset="0"/>
                          <a:ea typeface="BIZ UDPGothic" pitchFamily="34" charset="-122"/>
                          <a:cs typeface="BIZ UDPGothic" pitchFamily="34" charset="-120"/>
                        </a:rPr>
                        <a:t>勤続 1 年</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BIZ UDPGothic" pitchFamily="34" charset="0"/>
                          <a:ea typeface="BIZ UDPGothic" pitchFamily="34" charset="-122"/>
                          <a:cs typeface="BIZ UDPGothic" pitchFamily="34" charset="-120"/>
                        </a:rPr>
                        <a:t>0.19</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BIZ UDPGothic" pitchFamily="34" charset="0"/>
                          <a:ea typeface="BIZ UDPGothic" pitchFamily="34" charset="-122"/>
                          <a:cs typeface="BIZ UDPGothic" pitchFamily="34" charset="-120"/>
                        </a:rPr>
                        <a:t>0</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BIZ UDPGothic" pitchFamily="34" charset="0"/>
                          <a:ea typeface="BIZ UDPGothic" pitchFamily="34" charset="-122"/>
                          <a:cs typeface="BIZ UDPGothic" pitchFamily="34" charset="-120"/>
                        </a:rPr>
                        <a:t>0.18</a:t>
                      </a:r>
                      <a:endParaRPr lang="en-US" sz="1400" dirty="0">
                        <a:latin typeface="BIZ UDPGothic" charset="0"/>
                        <a:ea typeface="BIZ UDPGothic" charset="0"/>
                        <a:cs typeface="BIZ UDPGothic" charset="0"/>
                      </a:endParaRPr>
                    </a:p>
                  </a:txBody>
                  <a:tcPr marL="109728" marR="109728" marT="0" marB="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12" name="根拠_説明"/>
          <p:cNvSpPr txBox="1"/>
          <p:nvPr/>
        </p:nvSpPr>
        <p:spPr>
          <a:xfrm>
            <a:off x="5852160" y="4480560"/>
            <a:ext cx="5790895" cy="1280160"/>
          </a:xfrm>
          <a:prstGeom prst="rect">
            <a:avLst/>
          </a:prstGeom>
          <a:noFill/>
          <a:ln/>
        </p:spPr>
        <p:txBody>
          <a:bodyPr wrap="square" lIns="0" tIns="0" rIns="0" bIns="0" rtlCol="0" anchor="t"/>
          <a:lstStyle/>
          <a:p>
            <a:pPr marL="203200" indent="-203200">
              <a:buSzPct val="100000"/>
              <a:buChar char="•"/>
            </a:pPr>
            <a:r>
              <a:rPr lang="ja-JP" altLang="en-US" sz="1500" dirty="0">
                <a:solidFill>
                  <a:schemeClr val="tx1"/>
                </a:solidFill>
              </a:rPr>
              <a:t>期待値が最も高いのは勤続 30 年の</a:t>
            </a:r>
            <a:r>
              <a:rPr lang="ja-JP" altLang="en-US" sz="1500">
                <a:solidFill>
                  <a:schemeClr val="tx1"/>
                </a:solidFill>
              </a:rPr>
              <a:t>人。</a:t>
            </a:r>
            <a:endParaRPr lang="en-US" altLang="ja-JP" sz="1500">
              <a:solidFill>
                <a:schemeClr val="tx1"/>
              </a:solidFill>
            </a:endParaRPr>
          </a:p>
          <a:p>
            <a:pPr>
              <a:buSzPct val="100000"/>
            </a:pPr>
            <a:r>
              <a:rPr lang="ja-JP" altLang="en-US" sz="1500">
                <a:solidFill>
                  <a:schemeClr val="tx1"/>
                </a:solidFill>
              </a:rPr>
              <a:t>ただし</a:t>
            </a:r>
            <a:r>
              <a:rPr lang="ja-JP" altLang="en-US" sz="1500" dirty="0">
                <a:solidFill>
                  <a:schemeClr val="tx1"/>
                </a:solidFill>
              </a:rPr>
              <a:t>手持ちが 23 分あるため点数は 0.97</a:t>
            </a:r>
            <a:endParaRPr lang="ja-JP" sz="1500" dirty="0"/>
          </a:p>
          <a:p>
            <a:pPr marL="203200" indent="-203200">
              <a:spcBef>
                <a:spcPts val="600"/>
              </a:spcBef>
              <a:buSzPct val="100000"/>
              <a:buChar char="•"/>
            </a:pPr>
            <a:r>
              <a:rPr lang="ja-JP" altLang="en-US" sz="1500" dirty="0">
                <a:solidFill>
                  <a:schemeClr val="tx1"/>
                </a:solidFill>
              </a:rPr>
              <a:t>手持ちがなく、溶接が 2 番目に得意な勤続 8 年の人に任せる</a:t>
            </a:r>
            <a:endParaRPr lang="ja-JP" sz="1500" dirty="0"/>
          </a:p>
          <a:p>
            <a:pPr marL="0" indent="0">
              <a:spcBef>
                <a:spcPts val="600"/>
              </a:spcBef>
              <a:buNone/>
            </a:pPr>
            <a:r>
              <a:rPr lang="ja-JP" altLang="en-US" sz="1500" b="1" dirty="0">
                <a:solidFill>
                  <a:schemeClr val="accent1"/>
                </a:solidFill>
              </a:rPr>
              <a:t>→ 「なぜこの人か」を管理者が確認できる</a:t>
            </a:r>
            <a:endParaRPr lang="ja-JP" sz="1500" dirty="0"/>
          </a:p>
        </p:txBody>
      </p:sp>
      <p:sp>
        <p:nvSpPr>
          <p:cNvPr id="13" name="AI_手法"/>
          <p:cNvSpPr txBox="1"/>
          <p:nvPr/>
        </p:nvSpPr>
        <p:spPr>
          <a:xfrm>
            <a:off x="548640" y="5943600"/>
            <a:ext cx="11094415" cy="320040"/>
          </a:xfrm>
          <a:prstGeom prst="rect">
            <a:avLst/>
          </a:prstGeom>
          <a:noFill/>
          <a:ln/>
        </p:spPr>
        <p:txBody>
          <a:bodyPr wrap="square" lIns="0" tIns="0" rIns="0" bIns="0" rtlCol="0" anchor="ctr"/>
          <a:lstStyle/>
          <a:p>
            <a:pPr marL="0" indent="0">
              <a:buNone/>
            </a:pPr>
            <a:r>
              <a:rPr lang="ja-JP" altLang="en-US" sz="1200" dirty="0">
                <a:solidFill>
                  <a:schemeClr val="accent4"/>
                </a:solidFill>
              </a:rPr>
              <a:t>手法：文脈付きバンディット（ベイズ線形回帰＋Thompson Sampling）。表は評価シミュレーションで実際に出た根拠（抜粋）</a:t>
            </a:r>
            <a:endParaRPr lang="ja-JP"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4415" cy="320040"/>
          </a:xfrm>
          <a:prstGeom prst="rect">
            <a:avLst/>
          </a:prstGeom>
          <a:noFill/>
          <a:ln/>
        </p:spPr>
        <p:txBody>
          <a:bodyPr wrap="square" lIns="0" tIns="0" rIns="0" bIns="0" rtlCol="0" anchor="ctr"/>
          <a:lstStyle/>
          <a:p>
            <a:pPr marL="0" indent="0" algn="l">
              <a:buNone/>
            </a:pPr>
            <a:r>
              <a:rPr lang="ja-JP" altLang="en-US" sz="1400" b="1" dirty="0">
                <a:solidFill>
                  <a:schemeClr val="accent1"/>
                </a:solidFill>
              </a:rPr>
              <a:t>6. AI の妥当性</a:t>
            </a:r>
            <a:endParaRPr lang="ja-JP" sz="1400" dirty="0"/>
          </a:p>
        </p:txBody>
      </p:sp>
      <p:sp>
        <p:nvSpPr>
          <p:cNvPr id="3" name="Text 0"/>
          <p:cNvSpPr>
            <a:spLocks noGrp="1"/>
          </p:cNvSpPr>
          <p:nvPr>
            <p:ph type="title" idx="101" hasCustomPrompt="1"/>
          </p:nvPr>
        </p:nvSpPr>
        <p:spPr>
          <a:xfrm>
            <a:off x="548640" y="594360"/>
            <a:ext cx="11094415" cy="731520"/>
          </a:xfrm>
          <a:prstGeom prst="rect">
            <a:avLst/>
          </a:prstGeom>
          <a:noFill/>
          <a:ln/>
        </p:spPr>
        <p:txBody>
          <a:bodyPr wrap="square" lIns="0" tIns="0" rIns="0" bIns="0" rtlCol="0" anchor="ctr"/>
          <a:lstStyle/>
          <a:p>
            <a:pPr marL="0" indent="0" algn="l">
              <a:buNone/>
            </a:pPr>
            <a:r>
              <a:rPr lang="ja-JP" altLang="en-US" sz="3200" b="1" dirty="0">
                <a:solidFill>
                  <a:schemeClr val="tx2"/>
                </a:solidFill>
              </a:rPr>
              <a:t>評価：シミュレーションで他の割当方法と比較</a:t>
            </a:r>
            <a:endParaRPr lang="ja-JP" sz="3200" dirty="0"/>
          </a:p>
        </p:txBody>
      </p:sp>
      <p:graphicFrame>
        <p:nvGraphicFramePr>
          <p:cNvPr id="4" name="評価_グラフ"/>
          <p:cNvGraphicFramePr/>
          <p:nvPr/>
        </p:nvGraphicFramePr>
        <p:xfrm>
          <a:off x="548640" y="1463040"/>
          <a:ext cx="69494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評価_条件"/>
          <p:cNvSpPr txBox="1"/>
          <p:nvPr/>
        </p:nvSpPr>
        <p:spPr>
          <a:xfrm>
            <a:off x="548640" y="5669280"/>
            <a:ext cx="6949440" cy="457200"/>
          </a:xfrm>
          <a:prstGeom prst="rect">
            <a:avLst/>
          </a:prstGeom>
          <a:noFill/>
          <a:ln/>
        </p:spPr>
        <p:txBody>
          <a:bodyPr wrap="square" lIns="0" tIns="0" rIns="0" bIns="0" rtlCol="0" anchor="ctr"/>
          <a:lstStyle/>
          <a:p>
            <a:pPr marL="0" indent="0">
              <a:buNone/>
            </a:pPr>
            <a:r>
              <a:rPr lang="ja-JP" altLang="en-US" sz="1200" dirty="0">
                <a:solidFill>
                  <a:schemeClr val="accent4"/>
                </a:solidFill>
              </a:rPr>
              <a:t>作業者 6 名・仕事 6 件 × 150 ラウンド × 20 試行の平均。学習後（51 ラウンド目以降）で測定</a:t>
            </a:r>
            <a:endParaRPr lang="ja-JP" sz="1200" dirty="0"/>
          </a:p>
        </p:txBody>
      </p:sp>
      <p:sp>
        <p:nvSpPr>
          <p:cNvPr id="6" name="評価_数字1"/>
          <p:cNvSpPr txBox="1"/>
          <p:nvPr/>
        </p:nvSpPr>
        <p:spPr>
          <a:xfrm>
            <a:off x="7863840" y="1463040"/>
            <a:ext cx="3779215" cy="1280160"/>
          </a:xfrm>
          <a:prstGeom prst="rect">
            <a:avLst/>
          </a:prstGeom>
          <a:noFill/>
          <a:ln/>
        </p:spPr>
        <p:txBody>
          <a:bodyPr wrap="square" lIns="0" tIns="0" rIns="0" bIns="0" rtlCol="0" anchor="t"/>
          <a:lstStyle/>
          <a:p>
            <a:pPr marL="0" indent="0">
              <a:buNone/>
            </a:pPr>
            <a:r>
              <a:rPr lang="ja-JP" altLang="en-US" sz="4400" b="1" dirty="0">
                <a:solidFill>
                  <a:schemeClr val="accent1"/>
                </a:solidFill>
              </a:rPr>
              <a:t>−60%</a:t>
            </a:r>
            <a:endParaRPr lang="ja-JP" sz="4400" dirty="0"/>
          </a:p>
          <a:p>
            <a:pPr marL="0" indent="0">
              <a:buNone/>
            </a:pPr>
            <a:r>
              <a:rPr lang="ja-JP" altLang="en-US" sz="1500" dirty="0">
                <a:solidFill>
                  <a:schemeClr val="accent4"/>
                </a:solidFill>
              </a:rPr>
              <a:t>経験年数で選ぶ割当と比べた完了時間</a:t>
            </a:r>
            <a:endParaRPr lang="ja-JP" sz="4400" dirty="0"/>
          </a:p>
        </p:txBody>
      </p:sp>
      <p:sp>
        <p:nvSpPr>
          <p:cNvPr id="7" name="評価_数字2"/>
          <p:cNvSpPr txBox="1"/>
          <p:nvPr/>
        </p:nvSpPr>
        <p:spPr>
          <a:xfrm>
            <a:off x="7863840" y="2926080"/>
            <a:ext cx="3779215" cy="1280160"/>
          </a:xfrm>
          <a:prstGeom prst="rect">
            <a:avLst/>
          </a:prstGeom>
          <a:noFill/>
          <a:ln/>
        </p:spPr>
        <p:txBody>
          <a:bodyPr wrap="square" lIns="0" tIns="0" rIns="0" bIns="0" rtlCol="0" anchor="t"/>
          <a:lstStyle/>
          <a:p>
            <a:pPr marL="0" indent="0">
              <a:buNone/>
            </a:pPr>
            <a:r>
              <a:rPr lang="ja-JP" altLang="en-US" sz="4400" b="1" dirty="0">
                <a:solidFill>
                  <a:schemeClr val="accent1"/>
                </a:solidFill>
              </a:rPr>
              <a:t>−27%</a:t>
            </a:r>
            <a:endParaRPr lang="ja-JP" sz="4400" dirty="0"/>
          </a:p>
          <a:p>
            <a:pPr marL="0" indent="0">
              <a:buNone/>
            </a:pPr>
            <a:r>
              <a:rPr lang="ja-JP" altLang="en-US" sz="1500" dirty="0">
                <a:solidFill>
                  <a:schemeClr val="accent4"/>
                </a:solidFill>
              </a:rPr>
              <a:t>順番に回す割当と比べた完了時間</a:t>
            </a:r>
            <a:endParaRPr lang="ja-JP" sz="4400" dirty="0"/>
          </a:p>
        </p:txBody>
      </p:sp>
      <p:sp>
        <p:nvSpPr>
          <p:cNvPr id="8" name="評価_数字3"/>
          <p:cNvSpPr txBox="1"/>
          <p:nvPr/>
        </p:nvSpPr>
        <p:spPr>
          <a:xfrm>
            <a:off x="7863840" y="4389120"/>
            <a:ext cx="3779215" cy="1280160"/>
          </a:xfrm>
          <a:prstGeom prst="rect">
            <a:avLst/>
          </a:prstGeom>
          <a:noFill/>
          <a:ln/>
        </p:spPr>
        <p:txBody>
          <a:bodyPr wrap="square" lIns="0" tIns="0" rIns="0" bIns="0" rtlCol="0" anchor="t"/>
          <a:lstStyle/>
          <a:p>
            <a:pPr marL="0" indent="0">
              <a:buNone/>
            </a:pPr>
            <a:r>
              <a:rPr lang="ja-JP" altLang="en-US" sz="4400" b="1" dirty="0">
                <a:solidFill>
                  <a:schemeClr val="tx2"/>
                </a:solidFill>
              </a:rPr>
              <a:t>8%</a:t>
            </a:r>
            <a:endParaRPr lang="ja-JP" sz="4400" dirty="0"/>
          </a:p>
          <a:p>
            <a:pPr marL="0" indent="0">
              <a:buNone/>
            </a:pPr>
            <a:r>
              <a:rPr lang="ja-JP" altLang="en-US" sz="1500" dirty="0">
                <a:solidFill>
                  <a:schemeClr val="accent4"/>
                </a:solidFill>
              </a:rPr>
              <a:t>理想（真の適性を知る割当）との差</a:t>
            </a:r>
            <a:endParaRPr lang="ja-JP" sz="4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11094415" cy="320040"/>
          </a:xfrm>
          <a:prstGeom prst="rect">
            <a:avLst/>
          </a:prstGeom>
          <a:noFill/>
          <a:ln/>
        </p:spPr>
        <p:txBody>
          <a:bodyPr wrap="square" lIns="0" tIns="0" rIns="0" bIns="0" rtlCol="0" anchor="ctr"/>
          <a:lstStyle/>
          <a:p>
            <a:pPr marL="0" indent="0" algn="l">
              <a:buNone/>
            </a:pPr>
            <a:r>
              <a:rPr lang="ja-JP" altLang="en-US" sz="1400" b="1" dirty="0">
                <a:solidFill>
                  <a:schemeClr val="accent1"/>
                </a:solidFill>
              </a:rPr>
              <a:t>7. まとめと今後の展望</a:t>
            </a:r>
            <a:endParaRPr lang="ja-JP" sz="1400" dirty="0"/>
          </a:p>
        </p:txBody>
      </p:sp>
      <p:sp>
        <p:nvSpPr>
          <p:cNvPr id="3" name="Text 0"/>
          <p:cNvSpPr>
            <a:spLocks noGrp="1"/>
          </p:cNvSpPr>
          <p:nvPr>
            <p:ph type="title" idx="101" hasCustomPrompt="1"/>
          </p:nvPr>
        </p:nvSpPr>
        <p:spPr>
          <a:xfrm>
            <a:off x="548640" y="594360"/>
            <a:ext cx="11094415" cy="731520"/>
          </a:xfrm>
          <a:prstGeom prst="rect">
            <a:avLst/>
          </a:prstGeom>
          <a:noFill/>
          <a:ln/>
        </p:spPr>
        <p:txBody>
          <a:bodyPr wrap="square" lIns="0" tIns="0" rIns="0" bIns="0" rtlCol="0" anchor="ctr"/>
          <a:lstStyle/>
          <a:p>
            <a:pPr marL="0" indent="0" algn="l">
              <a:buNone/>
            </a:pPr>
            <a:r>
              <a:rPr lang="ja-JP" altLang="en-US" sz="3200" b="1" dirty="0">
                <a:solidFill>
                  <a:schemeClr val="tx2"/>
                </a:solidFill>
              </a:rPr>
              <a:t>まとめと今後の展望</a:t>
            </a:r>
            <a:endParaRPr lang="ja-JP" sz="3200" dirty="0"/>
          </a:p>
        </p:txBody>
      </p:sp>
      <p:sp>
        <p:nvSpPr>
          <p:cNvPr id="4" name="まとめ_要点"/>
          <p:cNvSpPr/>
          <p:nvPr/>
        </p:nvSpPr>
        <p:spPr>
          <a:xfrm>
            <a:off x="548640" y="1554480"/>
            <a:ext cx="11094415" cy="1463040"/>
          </a:xfrm>
          <a:prstGeom prst="roundRect">
            <a:avLst>
              <a:gd name="adj" fmla="val 5000"/>
            </a:avLst>
          </a:prstGeom>
          <a:solidFill>
            <a:schemeClr val="accent5"/>
          </a:solidFill>
          <a:ln w="19050">
            <a:solidFill>
              <a:schemeClr val="accent1"/>
            </a:solidFill>
            <a:prstDash val="solid"/>
          </a:ln>
        </p:spPr>
        <p:txBody>
          <a:bodyPr/>
          <a:lstStyle/>
          <a:p>
            <a:endParaRPr lang="ja-JP" altLang="en-US"/>
          </a:p>
        </p:txBody>
      </p:sp>
      <p:sp>
        <p:nvSpPr>
          <p:cNvPr id="5" name="まとめ_要点_文字"/>
          <p:cNvSpPr txBox="1"/>
          <p:nvPr/>
        </p:nvSpPr>
        <p:spPr>
          <a:xfrm>
            <a:off x="868680" y="1554480"/>
            <a:ext cx="10454335" cy="1463040"/>
          </a:xfrm>
          <a:prstGeom prst="rect">
            <a:avLst/>
          </a:prstGeom>
          <a:noFill/>
          <a:ln/>
        </p:spPr>
        <p:txBody>
          <a:bodyPr wrap="square" lIns="0" tIns="0" rIns="0" bIns="0" rtlCol="0" anchor="ctr"/>
          <a:lstStyle/>
          <a:p>
            <a:pPr marL="0" indent="0">
              <a:buNone/>
            </a:pPr>
            <a:r>
              <a:rPr lang="ja-JP" altLang="en-US" sz="2400" b="1">
                <a:solidFill>
                  <a:schemeClr val="tx2"/>
                </a:solidFill>
              </a:rPr>
              <a:t>腕輪を</a:t>
            </a:r>
            <a:r>
              <a:rPr lang="ja-JP" altLang="en-US" sz="2400" b="1" dirty="0">
                <a:solidFill>
                  <a:schemeClr val="tx2"/>
                </a:solidFill>
              </a:rPr>
              <a:t>タッチするだけで、人と仕事を AI が結び付ける</a:t>
            </a:r>
            <a:endParaRPr lang="ja-JP" sz="2400" dirty="0"/>
          </a:p>
          <a:p>
            <a:pPr marL="0" indent="0">
              <a:spcBef>
                <a:spcPts val="800"/>
              </a:spcBef>
              <a:buNone/>
            </a:pPr>
            <a:r>
              <a:rPr lang="ja-JP" altLang="en-US" sz="1800" dirty="0">
                <a:solidFill>
                  <a:schemeClr val="tx1"/>
                </a:solidFill>
              </a:rPr>
              <a:t>作業者は報告・確認・探す手間から解放され、管理者は状況と適性をデータで把握できる</a:t>
            </a:r>
            <a:endParaRPr lang="ja-JP" sz="2400" dirty="0"/>
          </a:p>
        </p:txBody>
      </p:sp>
      <p:sp>
        <p:nvSpPr>
          <p:cNvPr id="6" name="まとめ_課題"/>
          <p:cNvSpPr/>
          <p:nvPr/>
        </p:nvSpPr>
        <p:spPr>
          <a:xfrm>
            <a:off x="548640" y="3337560"/>
            <a:ext cx="5387188" cy="2011680"/>
          </a:xfrm>
          <a:prstGeom prst="roundRect">
            <a:avLst>
              <a:gd name="adj" fmla="val 3636"/>
            </a:avLst>
          </a:prstGeom>
          <a:solidFill>
            <a:schemeClr val="bg2"/>
          </a:solidFill>
          <a:ln w="12700">
            <a:solidFill>
              <a:schemeClr val="bg2"/>
            </a:solidFill>
            <a:prstDash val="solid"/>
          </a:ln>
        </p:spPr>
        <p:txBody>
          <a:bodyPr/>
          <a:lstStyle/>
          <a:p>
            <a:endParaRPr lang="ja-JP" altLang="en-US"/>
          </a:p>
        </p:txBody>
      </p:sp>
      <p:sp>
        <p:nvSpPr>
          <p:cNvPr id="7" name="まとめ_課題_文字"/>
          <p:cNvSpPr txBox="1"/>
          <p:nvPr/>
        </p:nvSpPr>
        <p:spPr>
          <a:xfrm>
            <a:off x="777240" y="3520440"/>
            <a:ext cx="4929988" cy="1645920"/>
          </a:xfrm>
          <a:prstGeom prst="rect">
            <a:avLst/>
          </a:prstGeom>
          <a:noFill/>
          <a:ln/>
        </p:spPr>
        <p:txBody>
          <a:bodyPr wrap="square" lIns="0" tIns="0" rIns="0" bIns="0" rtlCol="0" anchor="t"/>
          <a:lstStyle/>
          <a:p>
            <a:pPr marL="0" indent="0">
              <a:buNone/>
            </a:pPr>
            <a:r>
              <a:rPr lang="ja-JP" altLang="en-US" sz="2000" b="1" dirty="0">
                <a:solidFill>
                  <a:schemeClr val="tx2"/>
                </a:solidFill>
              </a:rPr>
              <a:t>現時点の課題</a:t>
            </a:r>
            <a:endParaRPr lang="ja-JP" sz="2000" dirty="0"/>
          </a:p>
          <a:p>
            <a:pPr marL="203200" indent="-203200">
              <a:spcBef>
                <a:spcPts val="800"/>
              </a:spcBef>
              <a:buSzPct val="100000"/>
              <a:buChar char="•"/>
            </a:pPr>
            <a:r>
              <a:rPr lang="ja-JP" altLang="en-US" sz="1600" dirty="0">
                <a:solidFill>
                  <a:schemeClr val="tx1"/>
                </a:solidFill>
              </a:rPr>
              <a:t>評価はシミュレーションのみ。実際の現場では未検証</a:t>
            </a:r>
            <a:endParaRPr lang="ja-JP" sz="2000" dirty="0"/>
          </a:p>
          <a:p>
            <a:pPr marL="203200" indent="-203200">
              <a:spcBef>
                <a:spcPts val="400"/>
              </a:spcBef>
              <a:buSzPct val="100000"/>
              <a:buChar char="•"/>
            </a:pPr>
            <a:r>
              <a:rPr lang="ja-JP" altLang="en-US" sz="1600" dirty="0">
                <a:solidFill>
                  <a:schemeClr val="tx1"/>
                </a:solidFill>
              </a:rPr>
              <a:t>作業者の上達（能力の変化）をまだ考慮していない</a:t>
            </a:r>
            <a:endParaRPr lang="ja-JP" sz="2000" dirty="0"/>
          </a:p>
          <a:p>
            <a:pPr marL="203200" indent="-203200">
              <a:spcBef>
                <a:spcPts val="400"/>
              </a:spcBef>
              <a:buSzPct val="100000"/>
              <a:buChar char="•"/>
            </a:pPr>
            <a:r>
              <a:rPr lang="ja-JP" altLang="en-US" sz="1600" dirty="0">
                <a:solidFill>
                  <a:schemeClr val="tx1"/>
                </a:solidFill>
              </a:rPr>
              <a:t>ログが増えると計算が重くなる</a:t>
            </a:r>
            <a:endParaRPr lang="ja-JP" sz="2000" dirty="0"/>
          </a:p>
        </p:txBody>
      </p:sp>
      <p:sp>
        <p:nvSpPr>
          <p:cNvPr id="8" name="まとめ_展望"/>
          <p:cNvSpPr/>
          <p:nvPr/>
        </p:nvSpPr>
        <p:spPr>
          <a:xfrm>
            <a:off x="6255868" y="3337560"/>
            <a:ext cx="5387188" cy="2011680"/>
          </a:xfrm>
          <a:prstGeom prst="roundRect">
            <a:avLst>
              <a:gd name="adj" fmla="val 3636"/>
            </a:avLst>
          </a:prstGeom>
          <a:solidFill>
            <a:schemeClr val="bg2"/>
          </a:solidFill>
          <a:ln w="12700">
            <a:solidFill>
              <a:schemeClr val="bg2"/>
            </a:solidFill>
            <a:prstDash val="solid"/>
          </a:ln>
        </p:spPr>
        <p:txBody>
          <a:bodyPr/>
          <a:lstStyle/>
          <a:p>
            <a:endParaRPr lang="ja-JP" altLang="en-US"/>
          </a:p>
        </p:txBody>
      </p:sp>
      <p:sp>
        <p:nvSpPr>
          <p:cNvPr id="9" name="まとめ_展望_文字"/>
          <p:cNvSpPr txBox="1"/>
          <p:nvPr/>
        </p:nvSpPr>
        <p:spPr>
          <a:xfrm>
            <a:off x="6484468" y="3520440"/>
            <a:ext cx="4929988" cy="1645920"/>
          </a:xfrm>
          <a:prstGeom prst="rect">
            <a:avLst/>
          </a:prstGeom>
          <a:noFill/>
          <a:ln/>
        </p:spPr>
        <p:txBody>
          <a:bodyPr wrap="square" lIns="0" tIns="0" rIns="0" bIns="0" rtlCol="0" anchor="t"/>
          <a:lstStyle/>
          <a:p>
            <a:pPr marL="0" indent="0">
              <a:buNone/>
            </a:pPr>
            <a:r>
              <a:rPr lang="ja-JP" altLang="en-US" sz="2000" b="1" dirty="0">
                <a:solidFill>
                  <a:schemeClr val="tx2"/>
                </a:solidFill>
              </a:rPr>
              <a:t>今後の展望</a:t>
            </a:r>
            <a:endParaRPr lang="ja-JP" sz="2000" dirty="0"/>
          </a:p>
          <a:p>
            <a:pPr marL="203200" indent="-203200">
              <a:spcBef>
                <a:spcPts val="800"/>
              </a:spcBef>
              <a:buSzPct val="100000"/>
              <a:buChar char="•"/>
            </a:pPr>
            <a:r>
              <a:rPr lang="ja-JP" altLang="en-US" sz="1600" dirty="0">
                <a:solidFill>
                  <a:schemeClr val="tx1"/>
                </a:solidFill>
              </a:rPr>
              <a:t>実際の工場で作業ログを集めて評価する</a:t>
            </a:r>
            <a:endParaRPr lang="ja-JP" sz="2000" dirty="0"/>
          </a:p>
          <a:p>
            <a:pPr marL="203200" indent="-203200">
              <a:spcBef>
                <a:spcPts val="400"/>
              </a:spcBef>
              <a:buSzPct val="100000"/>
              <a:buChar char="•"/>
            </a:pPr>
            <a:r>
              <a:rPr lang="ja-JP" altLang="en-US" sz="1600" dirty="0">
                <a:solidFill>
                  <a:schemeClr val="tx1"/>
                </a:solidFill>
              </a:rPr>
              <a:t>古いログの重みを下げ、上達を</a:t>
            </a:r>
            <a:r>
              <a:rPr lang="ja-JP" altLang="en-US" sz="1600">
                <a:solidFill>
                  <a:schemeClr val="tx1"/>
                </a:solidFill>
              </a:rPr>
              <a:t>反映する</a:t>
            </a:r>
            <a:endParaRPr lang="en-US" altLang="ja-JP" sz="1600" dirty="0">
              <a:solidFill>
                <a:schemeClr val="tx1"/>
              </a:solidFill>
            </a:endParaRPr>
          </a:p>
          <a:p>
            <a:pPr marL="203200" indent="-203200">
              <a:spcBef>
                <a:spcPts val="400"/>
              </a:spcBef>
              <a:buSzPct val="100000"/>
              <a:buChar char="•"/>
            </a:pPr>
            <a:r>
              <a:rPr lang="ja-JP" altLang="en-US" sz="1600"/>
              <a:t>他の割当アルゴリズム</a:t>
            </a:r>
            <a:r>
              <a:rPr lang="en-US" altLang="ja-JP" sz="1600" dirty="0"/>
              <a:t>(</a:t>
            </a:r>
            <a:r>
              <a:rPr lang="en-US" altLang="ja-JP" sz="1600" dirty="0" err="1"/>
              <a:t>elo</a:t>
            </a:r>
            <a:r>
              <a:rPr lang="en-US" altLang="ja-JP" sz="1600"/>
              <a:t> rating,LinUCB</a:t>
            </a:r>
            <a:r>
              <a:rPr lang="ja-JP" altLang="en-US" sz="1600"/>
              <a:t>等</a:t>
            </a:r>
            <a:r>
              <a:rPr lang="en-US" altLang="ja-JP" sz="1600"/>
              <a:t>)</a:t>
            </a:r>
            <a:r>
              <a:rPr lang="ja-JP" altLang="en-US" sz="1600"/>
              <a:t>との比較、検討</a:t>
            </a:r>
            <a:endParaRPr lang="ja-JP"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D2A259D-86F1-71F9-0CDB-482BC8DFF059}"/>
              </a:ext>
            </a:extLst>
          </p:cNvPr>
          <p:cNvSpPr>
            <a:spLocks noGrp="1"/>
          </p:cNvSpPr>
          <p:nvPr>
            <p:ph type="body" idx="100"/>
          </p:nvPr>
        </p:nvSpPr>
        <p:spPr>
          <a:xfrm>
            <a:off x="548640" y="274320"/>
            <a:ext cx="11094415" cy="320040"/>
          </a:xfrm>
        </p:spPr>
        <p:txBody>
          <a:bodyPr lIns="0" tIns="0" rIns="0" bIns="0"/>
          <a:lstStyle/>
          <a:p>
            <a:r>
              <a:rPr kumimoji="1" lang="ja-JP" altLang="en-US"/>
              <a:t>付録</a:t>
            </a:r>
          </a:p>
        </p:txBody>
      </p:sp>
      <p:sp>
        <p:nvSpPr>
          <p:cNvPr id="3" name="タイトル 2">
            <a:extLst>
              <a:ext uri="{FF2B5EF4-FFF2-40B4-BE49-F238E27FC236}">
                <a16:creationId xmlns:a16="http://schemas.microsoft.com/office/drawing/2014/main" id="{823BE62B-63CE-ECB0-E3CF-CDCE7BAE6DB6}"/>
              </a:ext>
            </a:extLst>
          </p:cNvPr>
          <p:cNvSpPr>
            <a:spLocks noGrp="1"/>
          </p:cNvSpPr>
          <p:nvPr>
            <p:ph type="title" idx="101"/>
          </p:nvPr>
        </p:nvSpPr>
        <p:spPr>
          <a:xfrm>
            <a:off x="548640" y="594360"/>
            <a:ext cx="11094415" cy="731520"/>
          </a:xfrm>
        </p:spPr>
        <p:txBody>
          <a:bodyPr lIns="0" tIns="0" rIns="0" bIns="0"/>
          <a:lstStyle/>
          <a:p>
            <a:r>
              <a:rPr kumimoji="1" lang="ja-JP" altLang="en-US"/>
              <a:t>想定される質問と回答例</a:t>
            </a:r>
          </a:p>
        </p:txBody>
      </p:sp>
      <p:graphicFrame>
        <p:nvGraphicFramePr>
          <p:cNvPr id="4" name="想定質問表">
            <a:extLst>
              <a:ext uri="{FF2B5EF4-FFF2-40B4-BE49-F238E27FC236}">
                <a16:creationId xmlns:a16="http://schemas.microsoft.com/office/drawing/2014/main" id="{66ECB0C1-0C55-86CA-3D29-D437AEB7B29D}"/>
              </a:ext>
            </a:extLst>
          </p:cNvPr>
          <p:cNvGraphicFramePr>
            <a:graphicFrameLocks noGrp="1"/>
          </p:cNvGraphicFramePr>
          <p:nvPr>
            <p:extLst>
              <p:ext uri="{D42A27DB-BD31-4B8C-83A1-F6EECF244321}">
                <p14:modId xmlns:p14="http://schemas.microsoft.com/office/powerpoint/2010/main" val="291000724"/>
              </p:ext>
            </p:extLst>
          </p:nvPr>
        </p:nvGraphicFramePr>
        <p:xfrm>
          <a:off x="548640" y="1417320"/>
          <a:ext cx="11094415" cy="4673600"/>
        </p:xfrm>
        <a:graphic>
          <a:graphicData uri="http://schemas.openxmlformats.org/drawingml/2006/table">
            <a:tbl>
              <a:tblPr firstRow="1" bandRow="1">
                <a:tableStyleId>{5940675A-B579-460E-94D1-54222C63F5DA}</a:tableStyleId>
              </a:tblPr>
              <a:tblGrid>
                <a:gridCol w="3657600">
                  <a:extLst>
                    <a:ext uri="{9D8B030D-6E8A-4147-A177-3AD203B41FA5}">
                      <a16:colId xmlns:a16="http://schemas.microsoft.com/office/drawing/2014/main" val="1489318712"/>
                    </a:ext>
                  </a:extLst>
                </a:gridCol>
                <a:gridCol w="7436815">
                  <a:extLst>
                    <a:ext uri="{9D8B030D-6E8A-4147-A177-3AD203B41FA5}">
                      <a16:colId xmlns:a16="http://schemas.microsoft.com/office/drawing/2014/main" val="1119423063"/>
                    </a:ext>
                  </a:extLst>
                </a:gridCol>
              </a:tblGrid>
              <a:tr h="365760">
                <a:tc>
                  <a:txBody>
                    <a:bodyPr/>
                    <a:lstStyle/>
                    <a:p>
                      <a:pPr algn="l"/>
                      <a:r>
                        <a:rPr kumimoji="1" lang="ja-JP" altLang="en-US" sz="1400" b="1">
                          <a:solidFill>
                            <a:schemeClr val="lt1"/>
                          </a:solidFill>
                        </a:rPr>
                        <a:t>質問</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dk2"/>
                    </a:solidFill>
                  </a:tcPr>
                </a:tc>
                <a:tc>
                  <a:txBody>
                    <a:bodyPr/>
                    <a:lstStyle/>
                    <a:p>
                      <a:pPr algn="l"/>
                      <a:r>
                        <a:rPr kumimoji="1" lang="ja-JP" altLang="en-US" sz="1400" b="1">
                          <a:solidFill>
                            <a:schemeClr val="lt1"/>
                          </a:solidFill>
                        </a:rPr>
                        <a:t>回答例</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dk2"/>
                    </a:solidFill>
                  </a:tcPr>
                </a:tc>
                <a:extLst>
                  <a:ext uri="{0D108BD9-81ED-4DB2-BD59-A6C34878D82A}">
                    <a16:rowId xmlns:a16="http://schemas.microsoft.com/office/drawing/2014/main" val="381792029"/>
                  </a:ext>
                </a:extLst>
              </a:tr>
              <a:tr h="538480">
                <a:tc>
                  <a:txBody>
                    <a:bodyPr/>
                    <a:lstStyle/>
                    <a:p>
                      <a:pPr algn="l"/>
                      <a:r>
                        <a:rPr kumimoji="1" lang="ja-JP" altLang="en-US" sz="1400" b="1">
                          <a:solidFill>
                            <a:schemeClr val="dk2"/>
                          </a:solidFill>
                        </a:rPr>
                        <a:t>なぜ </a:t>
                      </a:r>
                      <a:r>
                        <a:rPr kumimoji="1" lang="en-US" altLang="ja-JP" sz="1400" b="1">
                          <a:solidFill>
                            <a:schemeClr val="dk2"/>
                          </a:solidFill>
                        </a:rPr>
                        <a:t>Thompson Sampling</a:t>
                      </a:r>
                      <a:r>
                        <a:rPr kumimoji="1" lang="ja-JP" altLang="en-US" sz="1400" b="1">
                          <a:solidFill>
                            <a:schemeClr val="dk2"/>
                          </a:solidFill>
                        </a:rPr>
                        <a:t>（バンディット）を選んだのか？</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2"/>
                    </a:solidFill>
                  </a:tcPr>
                </a:tc>
                <a:tc>
                  <a:txBody>
                    <a:bodyPr/>
                    <a:lstStyle/>
                    <a:p>
                      <a:pPr algn="l"/>
                      <a:r>
                        <a:rPr kumimoji="1" lang="ja-JP" altLang="en-US" sz="1400" b="0">
                          <a:solidFill>
                            <a:schemeClr val="tx1"/>
                          </a:solidFill>
                        </a:rPr>
                        <a:t>割当は任せてみないと得意か分からない問題。実績のある人に任せることと試しに任せることを両立でき、データが少なくても動き、選んだ理由も示せるため</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1"/>
                    </a:solidFill>
                  </a:tcPr>
                </a:tc>
                <a:extLst>
                  <a:ext uri="{0D108BD9-81ED-4DB2-BD59-A6C34878D82A}">
                    <a16:rowId xmlns:a16="http://schemas.microsoft.com/office/drawing/2014/main" val="4008559327"/>
                  </a:ext>
                </a:extLst>
              </a:tr>
              <a:tr h="538480">
                <a:tc>
                  <a:txBody>
                    <a:bodyPr/>
                    <a:lstStyle/>
                    <a:p>
                      <a:pPr algn="l"/>
                      <a:r>
                        <a:rPr kumimoji="1" lang="en-US" altLang="ja-JP" sz="1400" b="1">
                          <a:solidFill>
                            <a:schemeClr val="dk2"/>
                          </a:solidFill>
                        </a:rPr>
                        <a:t>Elo </a:t>
                      </a:r>
                      <a:r>
                        <a:rPr kumimoji="1" lang="ja-JP" altLang="en-US" sz="1400" b="1">
                          <a:solidFill>
                            <a:schemeClr val="dk2"/>
                          </a:solidFill>
                        </a:rPr>
                        <a:t>レーティングではだめなのか？</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2"/>
                    </a:solidFill>
                  </a:tcPr>
                </a:tc>
                <a:tc>
                  <a:txBody>
                    <a:bodyPr/>
                    <a:lstStyle/>
                    <a:p>
                      <a:pPr algn="l"/>
                      <a:r>
                        <a:rPr kumimoji="1" lang="en-US" altLang="ja-JP" sz="1400" b="0">
                          <a:solidFill>
                            <a:schemeClr val="tx1"/>
                          </a:solidFill>
                        </a:rPr>
                        <a:t>1 </a:t>
                      </a:r>
                      <a:r>
                        <a:rPr kumimoji="1" lang="ja-JP" altLang="en-US" sz="1400" b="0">
                          <a:solidFill>
                            <a:schemeClr val="tx1"/>
                          </a:solidFill>
                        </a:rPr>
                        <a:t>人 </a:t>
                      </a:r>
                      <a:r>
                        <a:rPr kumimoji="1" lang="en-US" altLang="ja-JP" sz="1400" b="0">
                          <a:solidFill>
                            <a:schemeClr val="tx1"/>
                          </a:solidFill>
                        </a:rPr>
                        <a:t>1 </a:t>
                      </a:r>
                      <a:r>
                        <a:rPr kumimoji="1" lang="ja-JP" altLang="en-US" sz="1400" b="0">
                          <a:solidFill>
                            <a:schemeClr val="tx1"/>
                          </a:solidFill>
                        </a:rPr>
                        <a:t>つの点数では作業の種類ごとの得意・不得意を表しにくく、試しに任せる仕組みも別に必要。実際の比較は今後の課題</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1"/>
                    </a:solidFill>
                  </a:tcPr>
                </a:tc>
                <a:extLst>
                  <a:ext uri="{0D108BD9-81ED-4DB2-BD59-A6C34878D82A}">
                    <a16:rowId xmlns:a16="http://schemas.microsoft.com/office/drawing/2014/main" val="69105296"/>
                  </a:ext>
                </a:extLst>
              </a:tr>
              <a:tr h="538480">
                <a:tc>
                  <a:txBody>
                    <a:bodyPr/>
                    <a:lstStyle/>
                    <a:p>
                      <a:pPr algn="l"/>
                      <a:r>
                        <a:rPr kumimoji="1" lang="ja-JP" altLang="en-US" sz="1400" b="1">
                          <a:solidFill>
                            <a:schemeClr val="dk2"/>
                          </a:solidFill>
                        </a:rPr>
                        <a:t>シミュレーションだけで効果があると言えるのか？</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2"/>
                    </a:solidFill>
                  </a:tcPr>
                </a:tc>
                <a:tc>
                  <a:txBody>
                    <a:bodyPr/>
                    <a:lstStyle/>
                    <a:p>
                      <a:pPr algn="l"/>
                      <a:r>
                        <a:rPr kumimoji="1" lang="ja-JP" altLang="en-US" sz="1400" b="0">
                          <a:solidFill>
                            <a:schemeClr val="tx1"/>
                          </a:solidFill>
                        </a:rPr>
                        <a:t>言い切れない点が現時点の課題。実際の工場で作業ログを集めて評価する予定</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1"/>
                    </a:solidFill>
                  </a:tcPr>
                </a:tc>
                <a:extLst>
                  <a:ext uri="{0D108BD9-81ED-4DB2-BD59-A6C34878D82A}">
                    <a16:rowId xmlns:a16="http://schemas.microsoft.com/office/drawing/2014/main" val="45149310"/>
                  </a:ext>
                </a:extLst>
              </a:tr>
              <a:tr h="538480">
                <a:tc>
                  <a:txBody>
                    <a:bodyPr/>
                    <a:lstStyle/>
                    <a:p>
                      <a:pPr algn="l"/>
                      <a:r>
                        <a:rPr kumimoji="1" lang="ja-JP" altLang="en-US" sz="1400" b="1">
                          <a:solidFill>
                            <a:schemeClr val="dk2"/>
                          </a:solidFill>
                        </a:rPr>
                        <a:t>遠隔予約がないと不便ではないか？</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2"/>
                    </a:solidFill>
                  </a:tcPr>
                </a:tc>
                <a:tc>
                  <a:txBody>
                    <a:bodyPr/>
                    <a:lstStyle/>
                    <a:p>
                      <a:pPr algn="l"/>
                      <a:r>
                        <a:rPr kumimoji="1" lang="ja-JP" altLang="en-US" sz="1400" b="0">
                          <a:solidFill>
                            <a:schemeClr val="tx1"/>
                          </a:solidFill>
                        </a:rPr>
                        <a:t>予約は画面と現場のずれ（ゴースト予約）の原因になる。その場でタッチした人が使う方式にして、状態の正確さを優先した</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1"/>
                    </a:solidFill>
                  </a:tcPr>
                </a:tc>
                <a:extLst>
                  <a:ext uri="{0D108BD9-81ED-4DB2-BD59-A6C34878D82A}">
                    <a16:rowId xmlns:a16="http://schemas.microsoft.com/office/drawing/2014/main" val="3569693630"/>
                  </a:ext>
                </a:extLst>
              </a:tr>
              <a:tr h="538480">
                <a:tc>
                  <a:txBody>
                    <a:bodyPr/>
                    <a:lstStyle/>
                    <a:p>
                      <a:pPr algn="l"/>
                      <a:r>
                        <a:rPr kumimoji="1" lang="ja-JP" altLang="en-US" sz="1400" b="1">
                          <a:solidFill>
                            <a:schemeClr val="dk2"/>
                          </a:solidFill>
                        </a:rPr>
                        <a:t>作業者やデータが少ない工場でも学習できるか？</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2"/>
                    </a:solidFill>
                  </a:tcPr>
                </a:tc>
                <a:tc>
                  <a:txBody>
                    <a:bodyPr/>
                    <a:lstStyle/>
                    <a:p>
                      <a:pPr algn="l"/>
                      <a:r>
                        <a:rPr kumimoji="1" lang="ja-JP" altLang="en-US" sz="1400" b="0">
                          <a:solidFill>
                            <a:schemeClr val="tx1"/>
                          </a:solidFill>
                        </a:rPr>
                        <a:t>線形モデルなので少ないログからでも学習できる。実績の少ない人には試しに任せて情報を集める</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1"/>
                    </a:solidFill>
                  </a:tcPr>
                </a:tc>
                <a:extLst>
                  <a:ext uri="{0D108BD9-81ED-4DB2-BD59-A6C34878D82A}">
                    <a16:rowId xmlns:a16="http://schemas.microsoft.com/office/drawing/2014/main" val="602036600"/>
                  </a:ext>
                </a:extLst>
              </a:tr>
              <a:tr h="538480">
                <a:tc>
                  <a:txBody>
                    <a:bodyPr/>
                    <a:lstStyle/>
                    <a:p>
                      <a:pPr algn="l"/>
                      <a:r>
                        <a:rPr kumimoji="1" lang="en-US" altLang="ja-JP" sz="1400" b="1">
                          <a:solidFill>
                            <a:schemeClr val="dk2"/>
                          </a:solidFill>
                        </a:rPr>
                        <a:t>AI </a:t>
                      </a:r>
                      <a:r>
                        <a:rPr kumimoji="1" lang="ja-JP" altLang="en-US" sz="1400" b="1">
                          <a:solidFill>
                            <a:schemeClr val="dk2"/>
                          </a:solidFill>
                        </a:rPr>
                        <a:t>の割当が間違っていたら？</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2"/>
                    </a:solidFill>
                  </a:tcPr>
                </a:tc>
                <a:tc>
                  <a:txBody>
                    <a:bodyPr/>
                    <a:lstStyle/>
                    <a:p>
                      <a:pPr algn="l"/>
                      <a:r>
                        <a:rPr kumimoji="1" lang="ja-JP" altLang="en-US" sz="1400" b="0">
                          <a:solidFill>
                            <a:schemeClr val="tx1"/>
                          </a:solidFill>
                        </a:rPr>
                        <a:t>管理画面で根拠（期待値・手持ちの仕事）を確認でき、管理者が担当者を変更できる</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1"/>
                    </a:solidFill>
                  </a:tcPr>
                </a:tc>
                <a:extLst>
                  <a:ext uri="{0D108BD9-81ED-4DB2-BD59-A6C34878D82A}">
                    <a16:rowId xmlns:a16="http://schemas.microsoft.com/office/drawing/2014/main" val="1585358214"/>
                  </a:ext>
                </a:extLst>
              </a:tr>
              <a:tr h="538480">
                <a:tc>
                  <a:txBody>
                    <a:bodyPr/>
                    <a:lstStyle/>
                    <a:p>
                      <a:pPr algn="l"/>
                      <a:r>
                        <a:rPr kumimoji="1" lang="ja-JP" altLang="en-US" sz="1400" b="1">
                          <a:solidFill>
                            <a:schemeClr val="dk2"/>
                          </a:solidFill>
                        </a:rPr>
                        <a:t>導入にどれくらいの手間がかかるか？</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2"/>
                    </a:solidFill>
                  </a:tcPr>
                </a:tc>
                <a:tc>
                  <a:txBody>
                    <a:bodyPr/>
                    <a:lstStyle/>
                    <a:p>
                      <a:pPr algn="l"/>
                      <a:r>
                        <a:rPr kumimoji="1" lang="ja-JP" altLang="en-US" sz="1400" b="0">
                          <a:solidFill>
                            <a:schemeClr val="tx1"/>
                          </a:solidFill>
                        </a:rPr>
                        <a:t>モジュールは汎用部品（</a:t>
                      </a:r>
                      <a:r>
                        <a:rPr kumimoji="1" lang="en-US" altLang="ja-JP" sz="1400" b="0">
                          <a:solidFill>
                            <a:schemeClr val="tx1"/>
                          </a:solidFill>
                        </a:rPr>
                        <a:t>Raspberry Pi</a:t>
                      </a:r>
                      <a:r>
                        <a:rPr kumimoji="1" lang="ja-JP" altLang="en-US" sz="1400" b="0">
                          <a:solidFill>
                            <a:schemeClr val="tx1"/>
                          </a:solidFill>
                        </a:rPr>
                        <a:t>／</a:t>
                      </a:r>
                      <a:r>
                        <a:rPr kumimoji="1" lang="en-US" altLang="ja-JP" sz="1400" b="0">
                          <a:solidFill>
                            <a:schemeClr val="tx1"/>
                          </a:solidFill>
                        </a:rPr>
                        <a:t>ESP32</a:t>
                      </a:r>
                      <a:r>
                        <a:rPr kumimoji="1" lang="ja-JP" altLang="en-US" sz="1400" b="0">
                          <a:solidFill>
                            <a:schemeClr val="tx1"/>
                          </a:solidFill>
                        </a:rPr>
                        <a:t>・</a:t>
                      </a:r>
                      <a:r>
                        <a:rPr kumimoji="1" lang="en-US" altLang="ja-JP" sz="1400" b="0">
                          <a:solidFill>
                            <a:schemeClr val="tx1"/>
                          </a:solidFill>
                        </a:rPr>
                        <a:t>NFC </a:t>
                      </a:r>
                      <a:r>
                        <a:rPr kumimoji="1" lang="ja-JP" altLang="en-US" sz="1400" b="0">
                          <a:solidFill>
                            <a:schemeClr val="tx1"/>
                          </a:solidFill>
                        </a:rPr>
                        <a:t>リーダー・小型画面）で作れ、既存の機材に後付けできる</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1"/>
                    </a:solidFill>
                  </a:tcPr>
                </a:tc>
                <a:extLst>
                  <a:ext uri="{0D108BD9-81ED-4DB2-BD59-A6C34878D82A}">
                    <a16:rowId xmlns:a16="http://schemas.microsoft.com/office/drawing/2014/main" val="1329787460"/>
                  </a:ext>
                </a:extLst>
              </a:tr>
              <a:tr h="538480">
                <a:tc>
                  <a:txBody>
                    <a:bodyPr/>
                    <a:lstStyle/>
                    <a:p>
                      <a:pPr algn="l"/>
                      <a:r>
                        <a:rPr kumimoji="1" lang="ja-JP" altLang="en-US" sz="1400" b="1">
                          <a:solidFill>
                            <a:schemeClr val="dk2"/>
                          </a:solidFill>
                        </a:rPr>
                        <a:t>作業者が上達したら割当は変わるか？</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2"/>
                    </a:solidFill>
                  </a:tcPr>
                </a:tc>
                <a:tc>
                  <a:txBody>
                    <a:bodyPr/>
                    <a:lstStyle/>
                    <a:p>
                      <a:pPr algn="l"/>
                      <a:r>
                        <a:rPr kumimoji="1" lang="ja-JP" altLang="en-US" sz="1400" b="0">
                          <a:solidFill>
                            <a:schemeClr val="tx1"/>
                          </a:solidFill>
                        </a:rPr>
                        <a:t>現状は上達を考慮していない。古いログの重みを下げて反映する予定</a:t>
                      </a:r>
                    </a:p>
                  </a:txBody>
                  <a:tcPr marL="101600" marR="101600" marT="38100" marB="38100" anchor="ctr">
                    <a:lnL w="12700" cmpd="sng">
                      <a:solidFill>
                        <a:srgbClr val="D5D9E0"/>
                      </a:solidFill>
                    </a:lnL>
                    <a:lnR w="12700" cmpd="sng">
                      <a:solidFill>
                        <a:srgbClr val="D5D9E0"/>
                      </a:solidFill>
                    </a:lnR>
                    <a:lnT w="12700" cmpd="sng">
                      <a:solidFill>
                        <a:srgbClr val="D5D9E0"/>
                      </a:solidFill>
                    </a:lnT>
                    <a:lnB w="12700" cmpd="sng">
                      <a:solidFill>
                        <a:srgbClr val="D5D9E0"/>
                      </a:solidFill>
                    </a:lnB>
                    <a:solidFill>
                      <a:schemeClr val="lt1"/>
                    </a:solidFill>
                  </a:tcPr>
                </a:tc>
                <a:extLst>
                  <a:ext uri="{0D108BD9-81ED-4DB2-BD59-A6C34878D82A}">
                    <a16:rowId xmlns:a16="http://schemas.microsoft.com/office/drawing/2014/main" val="3548354036"/>
                  </a:ext>
                </a:extLst>
              </a:tr>
            </a:tbl>
          </a:graphicData>
        </a:graphic>
      </p:graphicFrame>
      <p:sp>
        <p:nvSpPr>
          <p:cNvPr id="5" name="Slide Number Placeholder 0">
            <a:extLst>
              <a:ext uri="{FF2B5EF4-FFF2-40B4-BE49-F238E27FC236}">
                <a16:creationId xmlns:a16="http://schemas.microsoft.com/office/drawing/2014/main" id="{F32E94C8-7827-D552-1E95-CC72E40BC9A7}"/>
              </a:ext>
            </a:extLst>
          </p:cNvPr>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3"/>
                </a:solidFill>
              </a:defRPr>
            </a:lvl1pPr>
          </a:lstStyle>
          <a:p>
            <a:pPr algn="r"/>
            <a:fld id="{F7021451-1387-4CA6-816F-3879F97B5CBC}" type="slidenum">
              <a:rPr lang="en-US" b="0"/>
              <a:t>13</a:t>
            </a:fld>
            <a:endParaRPr lang="en-US"/>
          </a:p>
        </p:txBody>
      </p:sp>
    </p:spTree>
    <p:extLst>
      <p:ext uri="{BB962C8B-B14F-4D97-AF65-F5344CB8AC3E}">
        <p14:creationId xmlns:p14="http://schemas.microsoft.com/office/powerpoint/2010/main" val="3719384269"/>
      </p:ext>
    </p:extLst>
  </p:cSld>
  <p:clrMapOvr>
    <a:masterClrMapping/>
  </p:clrMapOvr>
</p:sld>
</file>

<file path=ppt/theme/theme1.xml><?xml version="1.0" encoding="utf-8"?>
<a:theme xmlns:a="http://schemas.openxmlformats.org/drawingml/2006/main" name="Office Theme">
  <a:themeElements>
    <a:clrScheme name="Gemmba">
      <a:dk1>
        <a:srgbClr val="1B1B1A"/>
      </a:dk1>
      <a:lt1>
        <a:srgbClr val="FFFFFF"/>
      </a:lt1>
      <a:dk2>
        <a:srgbClr val="1F3A5F"/>
      </a:dk2>
      <a:lt2>
        <a:srgbClr val="EEF1F5"/>
      </a:lt2>
      <a:accent1>
        <a:srgbClr val="2A78D6"/>
      </a:accent1>
      <a:accent2>
        <a:srgbClr val="EB6834"/>
      </a:accent2>
      <a:accent3>
        <a:srgbClr val="8A8984"/>
      </a:accent3>
      <a:accent4>
        <a:srgbClr val="52514E"/>
      </a:accent4>
      <a:accent5>
        <a:srgbClr val="DCE8F7"/>
      </a:accent5>
      <a:accent6>
        <a:srgbClr val="3C8A5A"/>
      </a:accent6>
      <a:hlink>
        <a:srgbClr val="2A78D6"/>
      </a:hlink>
      <a:folHlink>
        <a:srgbClr val="1F3A5F"/>
      </a:folHlink>
    </a:clrScheme>
    <a:fontScheme name="Office">
      <a:majorFont>
        <a:latin typeface="BIZ UDPGothic"/>
        <a:ea typeface="BIZ UDPGothic"/>
        <a:cs typeface=""/>
        <a:font script="Jpan" typeface="BIZ UDPGothic"/>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BIZ UDPGothic"/>
        <a:cs typeface=""/>
        <a:font script="Jpan" typeface="BIZ UDP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4001</Words>
  <Application>Microsoft Office PowerPoint</Application>
  <PresentationFormat>ワイド画面</PresentationFormat>
  <Paragraphs>336</Paragraphs>
  <Slides>13</Slides>
  <Notes>13</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13</vt:i4>
      </vt:variant>
    </vt:vector>
  </HeadingPairs>
  <TitlesOfParts>
    <vt:vector size="16" baseType="lpstr">
      <vt:lpstr>BIZ UDPGothic</vt:lpstr>
      <vt:lpstr>Arial</vt:lpstr>
      <vt:lpstr>Office Theme</vt:lpstr>
      <vt:lpstr>PowerPoint プレゼンテーション</vt:lpstr>
      <vt:lpstr>中小工場の共有機材で起きていること</vt:lpstr>
      <vt:lpstr>目的：現場の無駄をなくし、人と仕事を最適に結び付ける</vt:lpstr>
      <vt:lpstr>システムの構成</vt:lpstr>
      <vt:lpstr>管理者はブラウザで状況を一目で把握</vt:lpstr>
      <vt:lpstr>導入のメリット ①　現場の作業者</vt:lpstr>
      <vt:lpstr>導入のメリット ②　管理者</vt:lpstr>
      <vt:lpstr>導入のメリット ③　工場全体</vt:lpstr>
      <vt:lpstr>ユースケース：ある日の現場の流れ</vt:lpstr>
      <vt:lpstr>AI の仕組み：実績から学び、割当の理由を示す</vt:lpstr>
      <vt:lpstr>評価：シミュレーションで他の割当方法と比較</vt:lpstr>
      <vt:lpstr>まとめと今後の展望</vt:lpstr>
      <vt:lpstr>想定される質問と回答例</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Gemmba プロコン発表</dc:title>
  <dc:subject>PptxGenJS Presentation</dc:subject>
  <dc:creator>PptxGenJS</dc:creator>
  <cp:lastModifiedBy>e2209_小笠原 悠太＠明石高専_学生</cp:lastModifiedBy>
  <cp:revision>4</cp:revision>
  <dcterms:created xsi:type="dcterms:W3CDTF">2026-10-07T08:28:23Z</dcterms:created>
  <dcterms:modified xsi:type="dcterms:W3CDTF">2026-10-07T09:11:22Z</dcterms:modified>
</cp:coreProperties>
</file>