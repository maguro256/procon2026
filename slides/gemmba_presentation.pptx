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3"/>
  </p:notesMasterIdLst>
  <p:sldIdLst>
    <p:sldId id="256" r:id="rId5"/>
    <p:sldId id="257" r:id="rId6"/>
    <p:sldId id="258" r:id="rId7"/>
    <p:sldId id="259" r:id="rId8"/>
    <p:sldId id="260" r:id="rId9"/>
    <p:sldId id="273" r:id="rId10"/>
    <p:sldId id="274" r:id="rId11"/>
    <p:sldId id="261" r:id="rId12"/>
    <p:sldId id="262" r:id="rId13"/>
    <p:sldId id="263" r:id="rId14"/>
    <p:sldId id="264" r:id="rId15"/>
    <p:sldId id="265" r:id="rId16"/>
    <p:sldId id="266" r:id="rId17"/>
    <p:sldId id="272" r:id="rId18"/>
    <p:sldId id="270" r:id="rId19"/>
    <p:sldId id="271" r:id="rId20"/>
    <p:sldId id="267" r:id="rId21"/>
    <p:sldId id="268"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表紙" id="{FA173BF8-C88D-78A4-8255-395DB6A9288C}">
          <p14:sldIdLst>
            <p14:sldId id="256"/>
          </p14:sldIdLst>
        </p14:section>
        <p14:section name="1. 現状の問題点" id="{F0D5E312-5581-BC8F-8D54-3237DBBEA88A}">
          <p14:sldIdLst>
            <p14:sldId id="257"/>
          </p14:sldIdLst>
        </p14:section>
        <p14:section name="2. 本システムの目的" id="{B8933D70-5BAD-6673-3A19-C8FAA20ED58F}">
          <p14:sldIdLst>
            <p14:sldId id="258"/>
          </p14:sldIdLst>
        </p14:section>
        <p14:section name="3. システムの概要" id="{A630CF64-8EF9-431B-57D2-80FB0216A24A}">
          <p14:sldIdLst>
            <p14:sldId id="259"/>
            <p14:sldId id="260"/>
            <p14:sldId id="273"/>
            <p14:sldId id="274"/>
          </p14:sldIdLst>
        </p14:section>
        <p14:section name="4. システム導入のメリット" id="{A5F5482A-2371-45FD-38C6-56F32FAC011C}">
          <p14:sldIdLst>
            <p14:sldId id="261"/>
            <p14:sldId id="262"/>
            <p14:sldId id="263"/>
          </p14:sldIdLst>
        </p14:section>
        <p14:section name="5. ユースケース" id="{B0A4A62F-753F-C65C-E6BA-647323FBE346}">
          <p14:sldIdLst>
            <p14:sldId id="264"/>
          </p14:sldIdLst>
        </p14:section>
        <p14:section name="6. AI の妥当性" id="{6121E65A-2F3D-3CD3-D8F5-BC4E3ACFF1DF}">
          <p14:sldIdLst>
            <p14:sldId id="265"/>
            <p14:sldId id="266"/>
            <p14:sldId id="272"/>
          </p14:sldIdLst>
        </p14:section>
        <p14:section name="7. 改善点" id="{56A0C880-46BF-4D7E-9386-C1046E19C688}">
          <p14:sldIdLst>
            <p14:sldId id="270"/>
            <p14:sldId id="271"/>
          </p14:sldIdLst>
        </p14:section>
        <p14:section name="8. まとめと今後の展望" id="{46E1A5A1-B24C-0CC0-DF52-11DF60A68D47}">
          <p14:sldIdLst>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62E38C-7DCB-4191-B476-4242600B973A}" v="92" dt="2026-10-09T06:52:08.993"/>
    <p1510:client id="{6F0E805F-DAC8-40E0-9FD9-81ACA8CED574}" v="647" dt="2026-10-09T12:50:56.171"/>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4696" autoAdjust="0"/>
  </p:normalViewPr>
  <p:slideViewPr>
    <p:cSldViewPr snapToGrid="0">
      <p:cViewPr varScale="1">
        <p:scale>
          <a:sx n="55" d="100"/>
          <a:sy n="55" d="100"/>
        </p:scale>
        <p:origin x="1072"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2209_小笠原 悠太＠明石高専_学生" userId="498a63f5-b66e-48f2-955c-ee9124c86ed8" providerId="ADAL" clId="{1CEF84DE-194E-4D7D-8B02-EC39B6FF4177}"/>
    <pc:docChg chg="custSel addSld delSld modSld modSection">
      <pc:chgData name="e2209_小笠原 悠太＠明石高専_学生" userId="498a63f5-b66e-48f2-955c-ee9124c86ed8" providerId="ADAL" clId="{1CEF84DE-194E-4D7D-8B02-EC39B6FF4177}" dt="2026-10-09T12:50:55.875" v="968" actId="20577"/>
      <pc:docMkLst>
        <pc:docMk/>
      </pc:docMkLst>
      <pc:sldChg chg="addSp delSp modSp mod">
        <pc:chgData name="e2209_小笠原 悠太＠明石高専_学生" userId="498a63f5-b66e-48f2-955c-ee9124c86ed8" providerId="ADAL" clId="{1CEF84DE-194E-4D7D-8B02-EC39B6FF4177}" dt="2026-10-09T11:56:27.060" v="927"/>
        <pc:sldMkLst>
          <pc:docMk/>
          <pc:sldMk cId="0" sldId="257"/>
        </pc:sldMkLst>
        <pc:spChg chg="del">
          <ac:chgData name="e2209_小笠原 悠太＠明石高専_学生" userId="498a63f5-b66e-48f2-955c-ee9124c86ed8" providerId="ADAL" clId="{1CEF84DE-194E-4D7D-8B02-EC39B6FF4177}" dt="2026-10-09T06:48:50.910" v="344" actId="478"/>
          <ac:spMkLst>
            <pc:docMk/>
            <pc:sldMk cId="0" sldId="257"/>
            <ac:spMk id="2" creationId="{00000000-0000-0000-0000-000000000000}"/>
          </ac:spMkLst>
        </pc:spChg>
        <pc:spChg chg="mod">
          <ac:chgData name="e2209_小笠原 悠太＠明石高専_学生" userId="498a63f5-b66e-48f2-955c-ee9124c86ed8" providerId="ADAL" clId="{1CEF84DE-194E-4D7D-8B02-EC39B6FF4177}" dt="2026-10-09T06:50:42.786" v="424"/>
          <ac:spMkLst>
            <pc:docMk/>
            <pc:sldMk cId="0" sldId="257"/>
            <ac:spMk id="3" creationId="{00000000-0000-0000-0000-000000000000}"/>
          </ac:spMkLst>
        </pc:spChg>
        <pc:spChg chg="mod">
          <ac:chgData name="e2209_小笠原 悠太＠明石高専_学生" userId="498a63f5-b66e-48f2-955c-ee9124c86ed8" providerId="ADAL" clId="{1CEF84DE-194E-4D7D-8B02-EC39B6FF4177}" dt="2026-10-09T11:56:27.060" v="927"/>
          <ac:spMkLst>
            <pc:docMk/>
            <pc:sldMk cId="0" sldId="257"/>
            <ac:spMk id="4" creationId="{00000000-0000-0000-0000-000000000000}"/>
          </ac:spMkLst>
        </pc:spChg>
        <pc:spChg chg="add del mod">
          <ac:chgData name="e2209_小笠原 悠太＠明石高専_学生" userId="498a63f5-b66e-48f2-955c-ee9124c86ed8" providerId="ADAL" clId="{1CEF84DE-194E-4D7D-8B02-EC39B6FF4177}" dt="2026-10-09T06:48:56.237" v="345" actId="478"/>
          <ac:spMkLst>
            <pc:docMk/>
            <pc:sldMk cId="0" sldId="257"/>
            <ac:spMk id="19" creationId="{2A78AECB-3E98-BC21-BCBB-4477FA6AF71C}"/>
          </ac:spMkLst>
        </pc:spChg>
        <pc:spChg chg="add mod">
          <ac:chgData name="e2209_小笠原 悠太＠明石高専_学生" userId="498a63f5-b66e-48f2-955c-ee9124c86ed8" providerId="ADAL" clId="{1CEF84DE-194E-4D7D-8B02-EC39B6FF4177}" dt="2026-10-09T06:50:52.624" v="427" actId="1076"/>
          <ac:spMkLst>
            <pc:docMk/>
            <pc:sldMk cId="0" sldId="257"/>
            <ac:spMk id="20" creationId="{7C79A568-7010-8459-C450-2DF4BC5508D6}"/>
          </ac:spMkLst>
        </pc:spChg>
      </pc:sldChg>
      <pc:sldChg chg="addSp delSp modSp mod modNotesTx">
        <pc:chgData name="e2209_小笠原 悠太＠明石高専_学生" userId="498a63f5-b66e-48f2-955c-ee9124c86ed8" providerId="ADAL" clId="{1CEF84DE-194E-4D7D-8B02-EC39B6FF4177}" dt="2026-10-09T12:50:55.875" v="968" actId="20577"/>
        <pc:sldMkLst>
          <pc:docMk/>
          <pc:sldMk cId="0" sldId="258"/>
        </pc:sldMkLst>
        <pc:spChg chg="del">
          <ac:chgData name="e2209_小笠原 悠太＠明石高専_学生" userId="498a63f5-b66e-48f2-955c-ee9124c86ed8" providerId="ADAL" clId="{1CEF84DE-194E-4D7D-8B02-EC39B6FF4177}" dt="2026-10-09T06:50:59.966" v="428" actId="478"/>
          <ac:spMkLst>
            <pc:docMk/>
            <pc:sldMk cId="0" sldId="258"/>
            <ac:spMk id="2" creationId="{00000000-0000-0000-0000-000000000000}"/>
          </ac:spMkLst>
        </pc:spChg>
        <pc:spChg chg="mod">
          <ac:chgData name="e2209_小笠原 悠太＠明石高専_学生" userId="498a63f5-b66e-48f2-955c-ee9124c86ed8" providerId="ADAL" clId="{1CEF84DE-194E-4D7D-8B02-EC39B6FF4177}" dt="2026-10-09T06:51:14.926" v="433" actId="20577"/>
          <ac:spMkLst>
            <pc:docMk/>
            <pc:sldMk cId="0" sldId="258"/>
            <ac:spMk id="3" creationId="{00000000-0000-0000-0000-000000000000}"/>
          </ac:spMkLst>
        </pc:spChg>
        <pc:spChg chg="add del mod">
          <ac:chgData name="e2209_小笠原 悠太＠明石高専_学生" userId="498a63f5-b66e-48f2-955c-ee9124c86ed8" providerId="ADAL" clId="{1CEF84DE-194E-4D7D-8B02-EC39B6FF4177}" dt="2026-10-09T06:51:02.846" v="429" actId="478"/>
          <ac:spMkLst>
            <pc:docMk/>
            <pc:sldMk cId="0" sldId="258"/>
            <ac:spMk id="23" creationId="{CBD34908-4253-20CD-AD32-988640FA2722}"/>
          </ac:spMkLst>
        </pc:spChg>
        <pc:spChg chg="add mod">
          <ac:chgData name="e2209_小笠原 悠太＠明石高専_学生" userId="498a63f5-b66e-48f2-955c-ee9124c86ed8" providerId="ADAL" clId="{1CEF84DE-194E-4D7D-8B02-EC39B6FF4177}" dt="2026-10-09T06:51:25.249" v="444"/>
          <ac:spMkLst>
            <pc:docMk/>
            <pc:sldMk cId="0" sldId="258"/>
            <ac:spMk id="24" creationId="{692FBD7E-E2C8-C59F-EC47-62BF9976DBFC}"/>
          </ac:spMkLst>
        </pc:spChg>
      </pc:sldChg>
      <pc:sldChg chg="addSp delSp modSp mod">
        <pc:chgData name="e2209_小笠原 悠太＠明石高専_学生" userId="498a63f5-b66e-48f2-955c-ee9124c86ed8" providerId="ADAL" clId="{1CEF84DE-194E-4D7D-8B02-EC39B6FF4177}" dt="2026-10-09T06:52:14.836" v="476" actId="1076"/>
        <pc:sldMkLst>
          <pc:docMk/>
          <pc:sldMk cId="0" sldId="259"/>
        </pc:sldMkLst>
        <pc:spChg chg="del">
          <ac:chgData name="e2209_小笠原 悠太＠明石高専_学生" userId="498a63f5-b66e-48f2-955c-ee9124c86ed8" providerId="ADAL" clId="{1CEF84DE-194E-4D7D-8B02-EC39B6FF4177}" dt="2026-10-09T06:51:34.030" v="445" actId="478"/>
          <ac:spMkLst>
            <pc:docMk/>
            <pc:sldMk cId="0" sldId="259"/>
            <ac:spMk id="2" creationId="{00000000-0000-0000-0000-000000000000}"/>
          </ac:spMkLst>
        </pc:spChg>
        <pc:spChg chg="mod">
          <ac:chgData name="e2209_小笠原 悠太＠明石高専_学生" userId="498a63f5-b66e-48f2-955c-ee9124c86ed8" providerId="ADAL" clId="{1CEF84DE-194E-4D7D-8B02-EC39B6FF4177}" dt="2026-10-09T06:52:14.836" v="476" actId="1076"/>
          <ac:spMkLst>
            <pc:docMk/>
            <pc:sldMk cId="0" sldId="259"/>
            <ac:spMk id="3" creationId="{00000000-0000-0000-0000-000000000000}"/>
          </ac:spMkLst>
        </pc:spChg>
        <pc:spChg chg="mod">
          <ac:chgData name="e2209_小笠原 悠太＠明石高専_学生" userId="498a63f5-b66e-48f2-955c-ee9124c86ed8" providerId="ADAL" clId="{1CEF84DE-194E-4D7D-8B02-EC39B6FF4177}" dt="2026-10-09T06:51:50.206" v="453"/>
          <ac:spMkLst>
            <pc:docMk/>
            <pc:sldMk cId="0" sldId="259"/>
            <ac:spMk id="17" creationId="{00000000-0000-0000-0000-000000000000}"/>
          </ac:spMkLst>
        </pc:spChg>
        <pc:spChg chg="add del mod">
          <ac:chgData name="e2209_小笠原 悠太＠明石高専_学生" userId="498a63f5-b66e-48f2-955c-ee9124c86ed8" providerId="ADAL" clId="{1CEF84DE-194E-4D7D-8B02-EC39B6FF4177}" dt="2026-10-09T06:51:36.072" v="446" actId="478"/>
          <ac:spMkLst>
            <pc:docMk/>
            <pc:sldMk cId="0" sldId="259"/>
            <ac:spMk id="26" creationId="{DE693E91-D6E5-EB11-0805-A2A4D7F760AA}"/>
          </ac:spMkLst>
        </pc:spChg>
        <pc:picChg chg="del">
          <ac:chgData name="e2209_小笠原 悠太＠明石高専_学生" userId="498a63f5-b66e-48f2-955c-ee9124c86ed8" providerId="ADAL" clId="{1CEF84DE-194E-4D7D-8B02-EC39B6FF4177}" dt="2026-10-09T06:48:19.466" v="340" actId="478"/>
          <ac:picMkLst>
            <pc:docMk/>
            <pc:sldMk cId="0" sldId="259"/>
            <ac:picMk id="18" creationId="{00000000-0000-0000-0000-000000000000}"/>
          </ac:picMkLst>
        </pc:picChg>
        <pc:picChg chg="add mod">
          <ac:chgData name="e2209_小笠原 悠太＠明石高専_学生" userId="498a63f5-b66e-48f2-955c-ee9124c86ed8" providerId="ADAL" clId="{1CEF84DE-194E-4D7D-8B02-EC39B6FF4177}" dt="2026-10-09T06:48:27.994" v="343" actId="14100"/>
          <ac:picMkLst>
            <pc:docMk/>
            <pc:sldMk cId="0" sldId="259"/>
            <ac:picMk id="23" creationId="{7656FF64-FCE5-1546-F5A0-ADA1E90FEE33}"/>
          </ac:picMkLst>
        </pc:picChg>
      </pc:sldChg>
      <pc:sldChg chg="addSp delSp modSp mod">
        <pc:chgData name="e2209_小笠原 悠太＠明石高専_学生" userId="498a63f5-b66e-48f2-955c-ee9124c86ed8" providerId="ADAL" clId="{1CEF84DE-194E-4D7D-8B02-EC39B6FF4177}" dt="2026-10-09T06:54:49.211" v="596" actId="1076"/>
        <pc:sldMkLst>
          <pc:docMk/>
          <pc:sldMk cId="0" sldId="260"/>
        </pc:sldMkLst>
        <pc:spChg chg="del">
          <ac:chgData name="e2209_小笠原 悠太＠明石高専_学生" userId="498a63f5-b66e-48f2-955c-ee9124c86ed8" providerId="ADAL" clId="{1CEF84DE-194E-4D7D-8B02-EC39B6FF4177}" dt="2026-10-09T06:52:01.676" v="454" actId="478"/>
          <ac:spMkLst>
            <pc:docMk/>
            <pc:sldMk cId="0" sldId="260"/>
            <ac:spMk id="2" creationId="{00000000-0000-0000-0000-000000000000}"/>
          </ac:spMkLst>
        </pc:spChg>
        <pc:spChg chg="mod">
          <ac:chgData name="e2209_小笠原 悠太＠明石高専_学生" userId="498a63f5-b66e-48f2-955c-ee9124c86ed8" providerId="ADAL" clId="{1CEF84DE-194E-4D7D-8B02-EC39B6FF4177}" dt="2026-10-09T06:52:10.777" v="475" actId="1076"/>
          <ac:spMkLst>
            <pc:docMk/>
            <pc:sldMk cId="0" sldId="260"/>
            <ac:spMk id="3" creationId="{00000000-0000-0000-0000-000000000000}"/>
          </ac:spMkLst>
        </pc:spChg>
        <pc:spChg chg="del">
          <ac:chgData name="e2209_小笠原 悠太＠明石高専_学生" userId="498a63f5-b66e-48f2-955c-ee9124c86ed8" providerId="ADAL" clId="{1CEF84DE-194E-4D7D-8B02-EC39B6FF4177}" dt="2026-10-09T06:53:52.320" v="584" actId="478"/>
          <ac:spMkLst>
            <pc:docMk/>
            <pc:sldMk cId="0" sldId="260"/>
            <ac:spMk id="5" creationId="{00000000-0000-0000-0000-000000000000}"/>
          </ac:spMkLst>
        </pc:spChg>
        <pc:spChg chg="mod">
          <ac:chgData name="e2209_小笠原 悠太＠明石高専_学生" userId="498a63f5-b66e-48f2-955c-ee9124c86ed8" providerId="ADAL" clId="{1CEF84DE-194E-4D7D-8B02-EC39B6FF4177}" dt="2026-10-09T06:54:15.869" v="589" actId="1076"/>
          <ac:spMkLst>
            <pc:docMk/>
            <pc:sldMk cId="0" sldId="260"/>
            <ac:spMk id="6" creationId="{00000000-0000-0000-0000-000000000000}"/>
          </ac:spMkLst>
        </pc:spChg>
        <pc:spChg chg="del">
          <ac:chgData name="e2209_小笠原 悠太＠明石高専_学生" userId="498a63f5-b66e-48f2-955c-ee9124c86ed8" providerId="ADAL" clId="{1CEF84DE-194E-4D7D-8B02-EC39B6FF4177}" dt="2026-10-09T06:54:43.564" v="594" actId="478"/>
          <ac:spMkLst>
            <pc:docMk/>
            <pc:sldMk cId="0" sldId="260"/>
            <ac:spMk id="8" creationId="{00000000-0000-0000-0000-000000000000}"/>
          </ac:spMkLst>
        </pc:spChg>
        <pc:spChg chg="mod">
          <ac:chgData name="e2209_小笠原 悠太＠明石高専_学生" userId="498a63f5-b66e-48f2-955c-ee9124c86ed8" providerId="ADAL" clId="{1CEF84DE-194E-4D7D-8B02-EC39B6FF4177}" dt="2026-10-09T06:54:21.761" v="591" actId="1076"/>
          <ac:spMkLst>
            <pc:docMk/>
            <pc:sldMk cId="0" sldId="260"/>
            <ac:spMk id="9" creationId="{00000000-0000-0000-0000-000000000000}"/>
          </ac:spMkLst>
        </pc:spChg>
        <pc:spChg chg="mod">
          <ac:chgData name="e2209_小笠原 悠太＠明石高専_学生" userId="498a63f5-b66e-48f2-955c-ee9124c86ed8" providerId="ADAL" clId="{1CEF84DE-194E-4D7D-8B02-EC39B6FF4177}" dt="2026-10-09T06:54:11.851" v="587" actId="1076"/>
          <ac:spMkLst>
            <pc:docMk/>
            <pc:sldMk cId="0" sldId="260"/>
            <ac:spMk id="10" creationId="{00000000-0000-0000-0000-000000000000}"/>
          </ac:spMkLst>
        </pc:spChg>
        <pc:spChg chg="mod">
          <ac:chgData name="e2209_小笠原 悠太＠明石高専_学生" userId="498a63f5-b66e-48f2-955c-ee9124c86ed8" providerId="ADAL" clId="{1CEF84DE-194E-4D7D-8B02-EC39B6FF4177}" dt="2026-10-09T06:54:11.851" v="587" actId="1076"/>
          <ac:spMkLst>
            <pc:docMk/>
            <pc:sldMk cId="0" sldId="260"/>
            <ac:spMk id="11" creationId="{00000000-0000-0000-0000-000000000000}"/>
          </ac:spMkLst>
        </pc:spChg>
        <pc:spChg chg="mod">
          <ac:chgData name="e2209_小笠原 悠太＠明石高専_学生" userId="498a63f5-b66e-48f2-955c-ee9124c86ed8" providerId="ADAL" clId="{1CEF84DE-194E-4D7D-8B02-EC39B6FF4177}" dt="2026-10-09T06:54:11.851" v="587" actId="1076"/>
          <ac:spMkLst>
            <pc:docMk/>
            <pc:sldMk cId="0" sldId="260"/>
            <ac:spMk id="12" creationId="{00000000-0000-0000-0000-000000000000}"/>
          </ac:spMkLst>
        </pc:spChg>
        <pc:spChg chg="mod">
          <ac:chgData name="e2209_小笠原 悠太＠明石高専_学生" userId="498a63f5-b66e-48f2-955c-ee9124c86ed8" providerId="ADAL" clId="{1CEF84DE-194E-4D7D-8B02-EC39B6FF4177}" dt="2026-10-09T06:54:11.851" v="587" actId="1076"/>
          <ac:spMkLst>
            <pc:docMk/>
            <pc:sldMk cId="0" sldId="260"/>
            <ac:spMk id="13" creationId="{00000000-0000-0000-0000-000000000000}"/>
          </ac:spMkLst>
        </pc:spChg>
        <pc:spChg chg="mod">
          <ac:chgData name="e2209_小笠原 悠太＠明石高専_学生" userId="498a63f5-b66e-48f2-955c-ee9124c86ed8" providerId="ADAL" clId="{1CEF84DE-194E-4D7D-8B02-EC39B6FF4177}" dt="2026-10-09T06:54:11.851" v="587" actId="1076"/>
          <ac:spMkLst>
            <pc:docMk/>
            <pc:sldMk cId="0" sldId="260"/>
            <ac:spMk id="14" creationId="{00000000-0000-0000-0000-000000000000}"/>
          </ac:spMkLst>
        </pc:spChg>
        <pc:spChg chg="mod">
          <ac:chgData name="e2209_小笠原 悠太＠明石高専_学生" userId="498a63f5-b66e-48f2-955c-ee9124c86ed8" providerId="ADAL" clId="{1CEF84DE-194E-4D7D-8B02-EC39B6FF4177}" dt="2026-10-09T06:54:11.851" v="587" actId="1076"/>
          <ac:spMkLst>
            <pc:docMk/>
            <pc:sldMk cId="0" sldId="260"/>
            <ac:spMk id="15" creationId="{00000000-0000-0000-0000-000000000000}"/>
          </ac:spMkLst>
        </pc:spChg>
        <pc:spChg chg="add del mod">
          <ac:chgData name="e2209_小笠原 悠太＠明石高専_学生" userId="498a63f5-b66e-48f2-955c-ee9124c86ed8" providerId="ADAL" clId="{1CEF84DE-194E-4D7D-8B02-EC39B6FF4177}" dt="2026-10-09T06:52:03.029" v="455" actId="478"/>
          <ac:spMkLst>
            <pc:docMk/>
            <pc:sldMk cId="0" sldId="260"/>
            <ac:spMk id="17" creationId="{B33EBEAE-5C43-6515-1EDE-C67D2F710528}"/>
          </ac:spMkLst>
        </pc:spChg>
        <pc:spChg chg="add del mod">
          <ac:chgData name="e2209_小笠原 悠太＠明石高専_学生" userId="498a63f5-b66e-48f2-955c-ee9124c86ed8" providerId="ADAL" clId="{1CEF84DE-194E-4D7D-8B02-EC39B6FF4177}" dt="2026-10-09T06:53:22.819" v="566"/>
          <ac:spMkLst>
            <pc:docMk/>
            <pc:sldMk cId="0" sldId="260"/>
            <ac:spMk id="18" creationId="{D0E25456-89A6-32B5-CE28-43EB0587C7D2}"/>
          </ac:spMkLst>
        </pc:spChg>
        <pc:spChg chg="add mod">
          <ac:chgData name="e2209_小笠原 悠太＠明石高専_学生" userId="498a63f5-b66e-48f2-955c-ee9124c86ed8" providerId="ADAL" clId="{1CEF84DE-194E-4D7D-8B02-EC39B6FF4177}" dt="2026-10-09T06:53:31.910" v="581"/>
          <ac:spMkLst>
            <pc:docMk/>
            <pc:sldMk cId="0" sldId="260"/>
            <ac:spMk id="19" creationId="{D6B5BC7F-1861-87B3-2F6A-A960EA8502B7}"/>
          </ac:spMkLst>
        </pc:spChg>
        <pc:picChg chg="del">
          <ac:chgData name="e2209_小笠原 悠太＠明石高専_学生" userId="498a63f5-b66e-48f2-955c-ee9124c86ed8" providerId="ADAL" clId="{1CEF84DE-194E-4D7D-8B02-EC39B6FF4177}" dt="2026-10-09T06:53:48.711" v="582" actId="478"/>
          <ac:picMkLst>
            <pc:docMk/>
            <pc:sldMk cId="0" sldId="260"/>
            <ac:picMk id="4" creationId="{00000000-0000-0000-0000-000000000000}"/>
          </ac:picMkLst>
        </pc:picChg>
        <pc:picChg chg="del">
          <ac:chgData name="e2209_小笠原 悠太＠明石高専_学生" userId="498a63f5-b66e-48f2-955c-ee9124c86ed8" providerId="ADAL" clId="{1CEF84DE-194E-4D7D-8B02-EC39B6FF4177}" dt="2026-10-09T06:54:39.859" v="592" actId="478"/>
          <ac:picMkLst>
            <pc:docMk/>
            <pc:sldMk cId="0" sldId="260"/>
            <ac:picMk id="7" creationId="{00000000-0000-0000-0000-000000000000}"/>
          </ac:picMkLst>
        </pc:picChg>
        <pc:picChg chg="add mod">
          <ac:chgData name="e2209_小笠原 悠太＠明石高専_学生" userId="498a63f5-b66e-48f2-955c-ee9124c86ed8" providerId="ADAL" clId="{1CEF84DE-194E-4D7D-8B02-EC39B6FF4177}" dt="2026-10-09T06:54:18.375" v="590" actId="1076"/>
          <ac:picMkLst>
            <pc:docMk/>
            <pc:sldMk cId="0" sldId="260"/>
            <ac:picMk id="21" creationId="{20BF1076-B43B-6670-721D-59D4581E640B}"/>
          </ac:picMkLst>
        </pc:picChg>
        <pc:picChg chg="add mod">
          <ac:chgData name="e2209_小笠原 悠太＠明石高専_学生" userId="498a63f5-b66e-48f2-955c-ee9124c86ed8" providerId="ADAL" clId="{1CEF84DE-194E-4D7D-8B02-EC39B6FF4177}" dt="2026-10-09T06:54:49.211" v="596" actId="1076"/>
          <ac:picMkLst>
            <pc:docMk/>
            <pc:sldMk cId="0" sldId="260"/>
            <ac:picMk id="23" creationId="{8915F73B-ACA8-3EE2-8487-E6D205291396}"/>
          </ac:picMkLst>
        </pc:picChg>
      </pc:sldChg>
      <pc:sldChg chg="addSp delSp modSp mod">
        <pc:chgData name="e2209_小笠原 悠太＠明石高専_学生" userId="498a63f5-b66e-48f2-955c-ee9124c86ed8" providerId="ADAL" clId="{1CEF84DE-194E-4D7D-8B02-EC39B6FF4177}" dt="2026-10-09T06:56:39.725" v="624" actId="1076"/>
        <pc:sldMkLst>
          <pc:docMk/>
          <pc:sldMk cId="0" sldId="261"/>
        </pc:sldMkLst>
        <pc:spChg chg="del">
          <ac:chgData name="e2209_小笠原 悠太＠明石高専_学生" userId="498a63f5-b66e-48f2-955c-ee9124c86ed8" providerId="ADAL" clId="{1CEF84DE-194E-4D7D-8B02-EC39B6FF4177}" dt="2026-10-09T06:56:34.815" v="622" actId="478"/>
          <ac:spMkLst>
            <pc:docMk/>
            <pc:sldMk cId="0" sldId="261"/>
            <ac:spMk id="2" creationId="{00000000-0000-0000-0000-000000000000}"/>
          </ac:spMkLst>
        </pc:spChg>
        <pc:spChg chg="mod">
          <ac:chgData name="e2209_小笠原 悠太＠明石高専_学生" userId="498a63f5-b66e-48f2-955c-ee9124c86ed8" providerId="ADAL" clId="{1CEF84DE-194E-4D7D-8B02-EC39B6FF4177}" dt="2026-10-09T06:56:39.725" v="624" actId="1076"/>
          <ac:spMkLst>
            <pc:docMk/>
            <pc:sldMk cId="0" sldId="261"/>
            <ac:spMk id="3" creationId="{00000000-0000-0000-0000-000000000000}"/>
          </ac:spMkLst>
        </pc:spChg>
        <pc:spChg chg="add del mod">
          <ac:chgData name="e2209_小笠原 悠太＠明石高専_学生" userId="498a63f5-b66e-48f2-955c-ee9124c86ed8" providerId="ADAL" clId="{1CEF84DE-194E-4D7D-8B02-EC39B6FF4177}" dt="2026-10-09T06:56:37.048" v="623" actId="478"/>
          <ac:spMkLst>
            <pc:docMk/>
            <pc:sldMk cId="0" sldId="261"/>
            <ac:spMk id="21" creationId="{2184F811-05FC-F1CF-1B48-57D9FDD68AA8}"/>
          </ac:spMkLst>
        </pc:spChg>
      </pc:sldChg>
      <pc:sldChg chg="addSp delSp modSp mod">
        <pc:chgData name="e2209_小笠原 悠太＠明石高専_学生" userId="498a63f5-b66e-48f2-955c-ee9124c86ed8" providerId="ADAL" clId="{1CEF84DE-194E-4D7D-8B02-EC39B6FF4177}" dt="2026-10-09T06:56:48.969" v="627" actId="1076"/>
        <pc:sldMkLst>
          <pc:docMk/>
          <pc:sldMk cId="0" sldId="262"/>
        </pc:sldMkLst>
        <pc:spChg chg="del">
          <ac:chgData name="e2209_小笠原 悠太＠明石高専_学生" userId="498a63f5-b66e-48f2-955c-ee9124c86ed8" providerId="ADAL" clId="{1CEF84DE-194E-4D7D-8B02-EC39B6FF4177}" dt="2026-10-09T06:56:43.700" v="625" actId="478"/>
          <ac:spMkLst>
            <pc:docMk/>
            <pc:sldMk cId="0" sldId="262"/>
            <ac:spMk id="2" creationId="{00000000-0000-0000-0000-000000000000}"/>
          </ac:spMkLst>
        </pc:spChg>
        <pc:spChg chg="mod">
          <ac:chgData name="e2209_小笠原 悠太＠明石高専_学生" userId="498a63f5-b66e-48f2-955c-ee9124c86ed8" providerId="ADAL" clId="{1CEF84DE-194E-4D7D-8B02-EC39B6FF4177}" dt="2026-10-09T06:56:48.969" v="627" actId="1076"/>
          <ac:spMkLst>
            <pc:docMk/>
            <pc:sldMk cId="0" sldId="262"/>
            <ac:spMk id="3" creationId="{00000000-0000-0000-0000-000000000000}"/>
          </ac:spMkLst>
        </pc:spChg>
        <pc:spChg chg="add del mod">
          <ac:chgData name="e2209_小笠原 悠太＠明石高専_学生" userId="498a63f5-b66e-48f2-955c-ee9124c86ed8" providerId="ADAL" clId="{1CEF84DE-194E-4D7D-8B02-EC39B6FF4177}" dt="2026-10-09T06:56:46.188" v="626" actId="478"/>
          <ac:spMkLst>
            <pc:docMk/>
            <pc:sldMk cId="0" sldId="262"/>
            <ac:spMk id="21" creationId="{C20EE377-CE15-26FC-3B19-50F04BF90EC2}"/>
          </ac:spMkLst>
        </pc:spChg>
      </pc:sldChg>
      <pc:sldChg chg="addSp delSp modSp mod">
        <pc:chgData name="e2209_小笠原 悠太＠明石高専_学生" userId="498a63f5-b66e-48f2-955c-ee9124c86ed8" providerId="ADAL" clId="{1CEF84DE-194E-4D7D-8B02-EC39B6FF4177}" dt="2026-10-09T06:57:01.758" v="630" actId="1076"/>
        <pc:sldMkLst>
          <pc:docMk/>
          <pc:sldMk cId="0" sldId="263"/>
        </pc:sldMkLst>
        <pc:spChg chg="del">
          <ac:chgData name="e2209_小笠原 悠太＠明石高専_学生" userId="498a63f5-b66e-48f2-955c-ee9124c86ed8" providerId="ADAL" clId="{1CEF84DE-194E-4D7D-8B02-EC39B6FF4177}" dt="2026-10-09T06:56:55.634" v="628" actId="478"/>
          <ac:spMkLst>
            <pc:docMk/>
            <pc:sldMk cId="0" sldId="263"/>
            <ac:spMk id="2" creationId="{00000000-0000-0000-0000-000000000000}"/>
          </ac:spMkLst>
        </pc:spChg>
        <pc:spChg chg="mod">
          <ac:chgData name="e2209_小笠原 悠太＠明石高専_学生" userId="498a63f5-b66e-48f2-955c-ee9124c86ed8" providerId="ADAL" clId="{1CEF84DE-194E-4D7D-8B02-EC39B6FF4177}" dt="2026-10-09T06:57:01.758" v="630" actId="1076"/>
          <ac:spMkLst>
            <pc:docMk/>
            <pc:sldMk cId="0" sldId="263"/>
            <ac:spMk id="3" creationId="{00000000-0000-0000-0000-000000000000}"/>
          </ac:spMkLst>
        </pc:spChg>
        <pc:spChg chg="add del mod">
          <ac:chgData name="e2209_小笠原 悠太＠明石高専_学生" userId="498a63f5-b66e-48f2-955c-ee9124c86ed8" providerId="ADAL" clId="{1CEF84DE-194E-4D7D-8B02-EC39B6FF4177}" dt="2026-10-09T06:56:57.219" v="629" actId="478"/>
          <ac:spMkLst>
            <pc:docMk/>
            <pc:sldMk cId="0" sldId="263"/>
            <ac:spMk id="5" creationId="{A10B26F8-1EFC-77C9-3E53-A31EE04DEA60}"/>
          </ac:spMkLst>
        </pc:spChg>
      </pc:sldChg>
      <pc:sldChg chg="del">
        <pc:chgData name="e2209_小笠原 悠太＠明石高専_学生" userId="498a63f5-b66e-48f2-955c-ee9124c86ed8" providerId="ADAL" clId="{1CEF84DE-194E-4D7D-8B02-EC39B6FF4177}" dt="2026-10-09T06:39:43.434" v="0" actId="47"/>
        <pc:sldMkLst>
          <pc:docMk/>
          <pc:sldMk cId="0" sldId="269"/>
        </pc:sldMkLst>
      </pc:sldChg>
      <pc:sldChg chg="modSp mod">
        <pc:chgData name="e2209_小笠原 悠太＠明石高専_学生" userId="498a63f5-b66e-48f2-955c-ee9124c86ed8" providerId="ADAL" clId="{1CEF84DE-194E-4D7D-8B02-EC39B6FF4177}" dt="2026-10-09T06:41:39.326" v="173"/>
        <pc:sldMkLst>
          <pc:docMk/>
          <pc:sldMk cId="0" sldId="270"/>
        </pc:sldMkLst>
        <pc:spChg chg="mod">
          <ac:chgData name="e2209_小笠原 悠太＠明石高専_学生" userId="498a63f5-b66e-48f2-955c-ee9124c86ed8" providerId="ADAL" clId="{1CEF84DE-194E-4D7D-8B02-EC39B6FF4177}" dt="2026-10-09T06:41:39.326" v="173"/>
          <ac:spMkLst>
            <pc:docMk/>
            <pc:sldMk cId="0" sldId="270"/>
            <ac:spMk id="2" creationId="{00000000-0000-0000-0000-000000000000}"/>
          </ac:spMkLst>
        </pc:spChg>
        <pc:spChg chg="mod">
          <ac:chgData name="e2209_小笠原 悠太＠明石高専_学生" userId="498a63f5-b66e-48f2-955c-ee9124c86ed8" providerId="ADAL" clId="{1CEF84DE-194E-4D7D-8B02-EC39B6FF4177}" dt="2026-10-09T06:40:38.879" v="157"/>
          <ac:spMkLst>
            <pc:docMk/>
            <pc:sldMk cId="0" sldId="270"/>
            <ac:spMk id="3" creationId="{00000000-0000-0000-0000-000000000000}"/>
          </ac:spMkLst>
        </pc:spChg>
        <pc:spChg chg="mod">
          <ac:chgData name="e2209_小笠原 悠太＠明石高専_学生" userId="498a63f5-b66e-48f2-955c-ee9124c86ed8" providerId="ADAL" clId="{1CEF84DE-194E-4D7D-8B02-EC39B6FF4177}" dt="2026-10-09T06:40:43.320" v="163"/>
          <ac:spMkLst>
            <pc:docMk/>
            <pc:sldMk cId="0" sldId="270"/>
            <ac:spMk id="5" creationId="{00000000-0000-0000-0000-000000000000}"/>
          </ac:spMkLst>
        </pc:spChg>
        <pc:spChg chg="mod">
          <ac:chgData name="e2209_小笠原 悠太＠明石高専_学生" userId="498a63f5-b66e-48f2-955c-ee9124c86ed8" providerId="ADAL" clId="{1CEF84DE-194E-4D7D-8B02-EC39B6FF4177}" dt="2026-10-09T06:40:48.365" v="166" actId="20577"/>
          <ac:spMkLst>
            <pc:docMk/>
            <pc:sldMk cId="0" sldId="270"/>
            <ac:spMk id="12" creationId="{00000000-0000-0000-0000-000000000000}"/>
          </ac:spMkLst>
        </pc:spChg>
      </pc:sldChg>
      <pc:sldChg chg="modSp mod">
        <pc:chgData name="e2209_小笠原 悠太＠明石高専_学生" userId="498a63f5-b66e-48f2-955c-ee9124c86ed8" providerId="ADAL" clId="{1CEF84DE-194E-4D7D-8B02-EC39B6FF4177}" dt="2026-10-09T06:42:59.451" v="337" actId="20577"/>
        <pc:sldMkLst>
          <pc:docMk/>
          <pc:sldMk cId="0" sldId="271"/>
        </pc:sldMkLst>
        <pc:spChg chg="mod">
          <ac:chgData name="e2209_小笠原 悠太＠明石高専_学生" userId="498a63f5-b66e-48f2-955c-ee9124c86ed8" providerId="ADAL" clId="{1CEF84DE-194E-4D7D-8B02-EC39B6FF4177}" dt="2026-10-09T06:41:48.363" v="186"/>
          <ac:spMkLst>
            <pc:docMk/>
            <pc:sldMk cId="0" sldId="271"/>
            <ac:spMk id="2" creationId="{00000000-0000-0000-0000-000000000000}"/>
          </ac:spMkLst>
        </pc:spChg>
        <pc:spChg chg="mod">
          <ac:chgData name="e2209_小笠原 悠太＠明石高専_学生" userId="498a63f5-b66e-48f2-955c-ee9124c86ed8" providerId="ADAL" clId="{1CEF84DE-194E-4D7D-8B02-EC39B6FF4177}" dt="2026-10-09T06:41:04.881" v="167" actId="20577"/>
          <ac:spMkLst>
            <pc:docMk/>
            <pc:sldMk cId="0" sldId="271"/>
            <ac:spMk id="3" creationId="{00000000-0000-0000-0000-000000000000}"/>
          </ac:spMkLst>
        </pc:spChg>
        <pc:spChg chg="mod">
          <ac:chgData name="e2209_小笠原 悠太＠明石高専_学生" userId="498a63f5-b66e-48f2-955c-ee9124c86ed8" providerId="ADAL" clId="{1CEF84DE-194E-4D7D-8B02-EC39B6FF4177}" dt="2026-10-09T06:42:14.817" v="237"/>
          <ac:spMkLst>
            <pc:docMk/>
            <pc:sldMk cId="0" sldId="271"/>
            <ac:spMk id="5" creationId="{00000000-0000-0000-0000-000000000000}"/>
          </ac:spMkLst>
        </pc:spChg>
        <pc:spChg chg="mod">
          <ac:chgData name="e2209_小笠原 悠太＠明石高専_学生" userId="498a63f5-b66e-48f2-955c-ee9124c86ed8" providerId="ADAL" clId="{1CEF84DE-194E-4D7D-8B02-EC39B6FF4177}" dt="2026-10-09T06:42:59.451" v="337" actId="20577"/>
          <ac:spMkLst>
            <pc:docMk/>
            <pc:sldMk cId="0" sldId="271"/>
            <ac:spMk id="12" creationId="{00000000-0000-0000-0000-000000000000}"/>
          </ac:spMkLst>
        </pc:spChg>
      </pc:sldChg>
      <pc:sldChg chg="addSp delSp modSp mod">
        <pc:chgData name="e2209_小笠原 悠太＠明石高専_学生" userId="498a63f5-b66e-48f2-955c-ee9124c86ed8" providerId="ADAL" clId="{1CEF84DE-194E-4D7D-8B02-EC39B6FF4177}" dt="2026-10-09T06:55:50.590" v="618"/>
        <pc:sldMkLst>
          <pc:docMk/>
          <pc:sldMk cId="0" sldId="273"/>
        </pc:sldMkLst>
        <pc:spChg chg="del">
          <ac:chgData name="e2209_小笠原 悠太＠明石高専_学生" userId="498a63f5-b66e-48f2-955c-ee9124c86ed8" providerId="ADAL" clId="{1CEF84DE-194E-4D7D-8B02-EC39B6FF4177}" dt="2026-10-09T06:54:57.492" v="597" actId="478"/>
          <ac:spMkLst>
            <pc:docMk/>
            <pc:sldMk cId="0" sldId="273"/>
            <ac:spMk id="2" creationId="{00000000-0000-0000-0000-000000000000}"/>
          </ac:spMkLst>
        </pc:spChg>
        <pc:spChg chg="mod">
          <ac:chgData name="e2209_小笠原 悠太＠明石高専_学生" userId="498a63f5-b66e-48f2-955c-ee9124c86ed8" providerId="ADAL" clId="{1CEF84DE-194E-4D7D-8B02-EC39B6FF4177}" dt="2026-10-09T06:55:05.819" v="599" actId="1076"/>
          <ac:spMkLst>
            <pc:docMk/>
            <pc:sldMk cId="0" sldId="273"/>
            <ac:spMk id="3" creationId="{00000000-0000-0000-0000-000000000000}"/>
          </ac:spMkLst>
        </pc:spChg>
        <pc:spChg chg="mod">
          <ac:chgData name="e2209_小笠原 悠太＠明石高専_学生" userId="498a63f5-b66e-48f2-955c-ee9124c86ed8" providerId="ADAL" clId="{1CEF84DE-194E-4D7D-8B02-EC39B6FF4177}" dt="2026-10-09T06:55:50.590" v="618"/>
          <ac:spMkLst>
            <pc:docMk/>
            <pc:sldMk cId="0" sldId="273"/>
            <ac:spMk id="13" creationId="{00000000-0000-0000-0000-000000000000}"/>
          </ac:spMkLst>
        </pc:spChg>
        <pc:spChg chg="add del mod">
          <ac:chgData name="e2209_小笠原 悠太＠明石高専_学生" userId="498a63f5-b66e-48f2-955c-ee9124c86ed8" providerId="ADAL" clId="{1CEF84DE-194E-4D7D-8B02-EC39B6FF4177}" dt="2026-10-09T06:55:00.765" v="598" actId="478"/>
          <ac:spMkLst>
            <pc:docMk/>
            <pc:sldMk cId="0" sldId="273"/>
            <ac:spMk id="23" creationId="{12DB5A76-3E42-2786-DB70-AA31579E5E94}"/>
          </ac:spMkLst>
        </pc:spChg>
      </pc:sldChg>
      <pc:sldChg chg="addSp delSp modSp mod">
        <pc:chgData name="e2209_小笠原 悠太＠明石高専_学生" userId="498a63f5-b66e-48f2-955c-ee9124c86ed8" providerId="ADAL" clId="{1CEF84DE-194E-4D7D-8B02-EC39B6FF4177}" dt="2026-10-09T06:56:05.365" v="621" actId="1076"/>
        <pc:sldMkLst>
          <pc:docMk/>
          <pc:sldMk cId="0" sldId="274"/>
        </pc:sldMkLst>
        <pc:spChg chg="del">
          <ac:chgData name="e2209_小笠原 悠太＠明石高専_学生" userId="498a63f5-b66e-48f2-955c-ee9124c86ed8" providerId="ADAL" clId="{1CEF84DE-194E-4D7D-8B02-EC39B6FF4177}" dt="2026-10-09T06:55:59.380" v="619" actId="478"/>
          <ac:spMkLst>
            <pc:docMk/>
            <pc:sldMk cId="0" sldId="274"/>
            <ac:spMk id="2" creationId="{00000000-0000-0000-0000-000000000000}"/>
          </ac:spMkLst>
        </pc:spChg>
        <pc:spChg chg="mod">
          <ac:chgData name="e2209_小笠原 悠太＠明石高専_学生" userId="498a63f5-b66e-48f2-955c-ee9124c86ed8" providerId="ADAL" clId="{1CEF84DE-194E-4D7D-8B02-EC39B6FF4177}" dt="2026-10-09T06:56:05.365" v="621" actId="1076"/>
          <ac:spMkLst>
            <pc:docMk/>
            <pc:sldMk cId="0" sldId="274"/>
            <ac:spMk id="3" creationId="{00000000-0000-0000-0000-000000000000}"/>
          </ac:spMkLst>
        </pc:spChg>
        <pc:spChg chg="add del mod">
          <ac:chgData name="e2209_小笠原 悠太＠明石高専_学生" userId="498a63f5-b66e-48f2-955c-ee9124c86ed8" providerId="ADAL" clId="{1CEF84DE-194E-4D7D-8B02-EC39B6FF4177}" dt="2026-10-09T06:56:00.941" v="620" actId="478"/>
          <ac:spMkLst>
            <pc:docMk/>
            <pc:sldMk cId="0" sldId="274"/>
            <ac:spMk id="9" creationId="{7A4616C9-08FA-7BEB-1F02-8286916B2B3B}"/>
          </ac:spMkLst>
        </pc:spChg>
      </pc:sldChg>
      <pc:sldChg chg="addSp modSp add del mod">
        <pc:chgData name="e2209_小笠原 悠太＠明石高専_学生" userId="498a63f5-b66e-48f2-955c-ee9124c86ed8" providerId="ADAL" clId="{1CEF84DE-194E-4D7D-8B02-EC39B6FF4177}" dt="2026-10-09T11:55:10.548" v="739" actId="47"/>
        <pc:sldMkLst>
          <pc:docMk/>
          <pc:sldMk cId="2408734580" sldId="275"/>
        </pc:sldMkLst>
        <pc:spChg chg="add mod">
          <ac:chgData name="e2209_小笠原 悠太＠明石高専_学生" userId="498a63f5-b66e-48f2-955c-ee9124c86ed8" providerId="ADAL" clId="{1CEF84DE-194E-4D7D-8B02-EC39B6FF4177}" dt="2026-10-09T11:54:58.378" v="738" actId="20577"/>
          <ac:spMkLst>
            <pc:docMk/>
            <pc:sldMk cId="2408734580" sldId="275"/>
            <ac:spMk id="2" creationId="{7A84126B-9A80-D5C5-62DA-D75F64E52520}"/>
          </ac:spMkLst>
        </pc:spChg>
        <pc:spChg chg="mod">
          <ac:chgData name="e2209_小笠原 悠太＠明石高専_学生" userId="498a63f5-b66e-48f2-955c-ee9124c86ed8" providerId="ADAL" clId="{1CEF84DE-194E-4D7D-8B02-EC39B6FF4177}" dt="2026-10-09T11:54:13.526" v="633" actId="20577"/>
          <ac:spMkLst>
            <pc:docMk/>
            <pc:sldMk cId="2408734580" sldId="275"/>
            <ac:spMk id="4" creationId="{78B41349-F464-6155-8068-83EA947F4694}"/>
          </ac:spMkLst>
        </pc:spChg>
      </pc:sldChg>
    </pc:docChg>
  </pc:docChgLst>
  <pc:docChgLst>
    <pc:chgData name="e2235_増永 惺真＠明石高専_学生" userId="0af82126-12a3-4fae-b6a4-17a2f5300360" providerId="ADAL" clId="{7DDC55DC-3289-47A1-A709-9519E6E15E27}"/>
    <pc:docChg chg="undo custSel addSld modSld">
      <pc:chgData name="e2235_増永 惺真＠明石高専_学生" userId="0af82126-12a3-4fae-b6a4-17a2f5300360" providerId="ADAL" clId="{7DDC55DC-3289-47A1-A709-9519E6E15E27}" dt="2026-10-09T06:52:08.989" v="93"/>
      <pc:docMkLst>
        <pc:docMk/>
      </pc:docMkLst>
      <pc:sldChg chg="modAnim">
        <pc:chgData name="e2235_増永 惺真＠明石高専_学生" userId="0af82126-12a3-4fae-b6a4-17a2f5300360" providerId="ADAL" clId="{7DDC55DC-3289-47A1-A709-9519E6E15E27}" dt="2026-10-09T06:34:30.049" v="3"/>
        <pc:sldMkLst>
          <pc:docMk/>
          <pc:sldMk cId="0" sldId="257"/>
        </pc:sldMkLst>
      </pc:sldChg>
      <pc:sldChg chg="modAnim">
        <pc:chgData name="e2235_増永 惺真＠明石高専_学生" userId="0af82126-12a3-4fae-b6a4-17a2f5300360" providerId="ADAL" clId="{7DDC55DC-3289-47A1-A709-9519E6E15E27}" dt="2026-10-09T06:36:50.890" v="7"/>
        <pc:sldMkLst>
          <pc:docMk/>
          <pc:sldMk cId="0" sldId="258"/>
        </pc:sldMkLst>
      </pc:sldChg>
      <pc:sldChg chg="modAnim">
        <pc:chgData name="e2235_増永 惺真＠明石高専_学生" userId="0af82126-12a3-4fae-b6a4-17a2f5300360" providerId="ADAL" clId="{7DDC55DC-3289-47A1-A709-9519E6E15E27}" dt="2026-10-09T06:37:31.820" v="11"/>
        <pc:sldMkLst>
          <pc:docMk/>
          <pc:sldMk cId="0" sldId="259"/>
        </pc:sldMkLst>
      </pc:sldChg>
      <pc:sldChg chg="modAnim">
        <pc:chgData name="e2235_増永 惺真＠明石高専_学生" userId="0af82126-12a3-4fae-b6a4-17a2f5300360" providerId="ADAL" clId="{7DDC55DC-3289-47A1-A709-9519E6E15E27}" dt="2026-10-09T06:38:41.531" v="13"/>
        <pc:sldMkLst>
          <pc:docMk/>
          <pc:sldMk cId="0" sldId="260"/>
        </pc:sldMkLst>
      </pc:sldChg>
      <pc:sldChg chg="modAnim">
        <pc:chgData name="e2235_増永 惺真＠明石高専_学生" userId="0af82126-12a3-4fae-b6a4-17a2f5300360" providerId="ADAL" clId="{7DDC55DC-3289-47A1-A709-9519E6E15E27}" dt="2026-10-09T06:40:39.443" v="24"/>
        <pc:sldMkLst>
          <pc:docMk/>
          <pc:sldMk cId="0" sldId="261"/>
        </pc:sldMkLst>
      </pc:sldChg>
      <pc:sldChg chg="modAnim">
        <pc:chgData name="e2235_増永 惺真＠明石高専_学生" userId="0af82126-12a3-4fae-b6a4-17a2f5300360" providerId="ADAL" clId="{7DDC55DC-3289-47A1-A709-9519E6E15E27}" dt="2026-10-09T06:41:06.695" v="28"/>
        <pc:sldMkLst>
          <pc:docMk/>
          <pc:sldMk cId="0" sldId="262"/>
        </pc:sldMkLst>
      </pc:sldChg>
      <pc:sldChg chg="addSp modSp mod modAnim">
        <pc:chgData name="e2235_増永 惺真＠明石高専_学生" userId="0af82126-12a3-4fae-b6a4-17a2f5300360" providerId="ADAL" clId="{7DDC55DC-3289-47A1-A709-9519E6E15E27}" dt="2026-10-09T06:47:32.884" v="68"/>
        <pc:sldMkLst>
          <pc:docMk/>
          <pc:sldMk cId="0" sldId="264"/>
        </pc:sldMkLst>
        <pc:spChg chg="add mod">
          <ac:chgData name="e2235_増永 惺真＠明石高専_学生" userId="0af82126-12a3-4fae-b6a4-17a2f5300360" providerId="ADAL" clId="{7DDC55DC-3289-47A1-A709-9519E6E15E27}" dt="2026-10-09T06:41:59.554" v="32" actId="1076"/>
          <ac:spMkLst>
            <pc:docMk/>
            <pc:sldMk cId="0" sldId="264"/>
            <ac:spMk id="4" creationId="{E92710AF-4856-DBA7-F6CC-AA5625514229}"/>
          </ac:spMkLst>
        </pc:spChg>
      </pc:sldChg>
      <pc:sldChg chg="modAnim">
        <pc:chgData name="e2235_増永 惺真＠明石高専_学生" userId="0af82126-12a3-4fae-b6a4-17a2f5300360" providerId="ADAL" clId="{7DDC55DC-3289-47A1-A709-9519E6E15E27}" dt="2026-10-09T06:48:28.280" v="71"/>
        <pc:sldMkLst>
          <pc:docMk/>
          <pc:sldMk cId="0" sldId="265"/>
        </pc:sldMkLst>
      </pc:sldChg>
      <pc:sldChg chg="modAnim">
        <pc:chgData name="e2235_増永 惺真＠明石高専_学生" userId="0af82126-12a3-4fae-b6a4-17a2f5300360" providerId="ADAL" clId="{7DDC55DC-3289-47A1-A709-9519E6E15E27}" dt="2026-10-09T06:49:21.670" v="75"/>
        <pc:sldMkLst>
          <pc:docMk/>
          <pc:sldMk cId="0" sldId="266"/>
        </pc:sldMkLst>
      </pc:sldChg>
      <pc:sldChg chg="modAnim">
        <pc:chgData name="e2235_増永 惺真＠明石高専_学生" userId="0af82126-12a3-4fae-b6a4-17a2f5300360" providerId="ADAL" clId="{7DDC55DC-3289-47A1-A709-9519E6E15E27}" dt="2026-10-09T06:52:08.989" v="93"/>
        <pc:sldMkLst>
          <pc:docMk/>
          <pc:sldMk cId="0" sldId="267"/>
        </pc:sldMkLst>
      </pc:sldChg>
      <pc:sldChg chg="modSp mod modAnim">
        <pc:chgData name="e2235_増永 惺真＠明石高専_学生" userId="0af82126-12a3-4fae-b6a4-17a2f5300360" providerId="ADAL" clId="{7DDC55DC-3289-47A1-A709-9519E6E15E27}" dt="2026-10-09T06:51:23.851" v="87"/>
        <pc:sldMkLst>
          <pc:docMk/>
          <pc:sldMk cId="0" sldId="270"/>
        </pc:sldMkLst>
        <pc:spChg chg="mod">
          <ac:chgData name="e2235_増永 惺真＠明石高専_学生" userId="0af82126-12a3-4fae-b6a4-17a2f5300360" providerId="ADAL" clId="{7DDC55DC-3289-47A1-A709-9519E6E15E27}" dt="2026-10-09T06:51:12.134" v="85" actId="1076"/>
          <ac:spMkLst>
            <pc:docMk/>
            <pc:sldMk cId="0" sldId="270"/>
            <ac:spMk id="3" creationId="{00000000-0000-0000-0000-000000000000}"/>
          </ac:spMkLst>
        </pc:spChg>
      </pc:sldChg>
      <pc:sldChg chg="modAnim">
        <pc:chgData name="e2235_増永 惺真＠明石高専_学生" userId="0af82126-12a3-4fae-b6a4-17a2f5300360" providerId="ADAL" clId="{7DDC55DC-3289-47A1-A709-9519E6E15E27}" dt="2026-10-09T06:51:48.258" v="91"/>
        <pc:sldMkLst>
          <pc:docMk/>
          <pc:sldMk cId="0" sldId="271"/>
        </pc:sldMkLst>
      </pc:sldChg>
      <pc:sldChg chg="addSp delSp modSp mod modAnim">
        <pc:chgData name="e2235_増永 惺真＠明石高専_学生" userId="0af82126-12a3-4fae-b6a4-17a2f5300360" providerId="ADAL" clId="{7DDC55DC-3289-47A1-A709-9519E6E15E27}" dt="2026-10-09T06:50:47.824" v="81"/>
        <pc:sldMkLst>
          <pc:docMk/>
          <pc:sldMk cId="0" sldId="272"/>
        </pc:sldMkLst>
        <pc:spChg chg="add del mod">
          <ac:chgData name="e2235_増永 惺真＠明石高専_学生" userId="0af82126-12a3-4fae-b6a4-17a2f5300360" providerId="ADAL" clId="{7DDC55DC-3289-47A1-A709-9519E6E15E27}" dt="2026-10-09T06:50:25.497" v="78"/>
          <ac:spMkLst>
            <pc:docMk/>
            <pc:sldMk cId="0" sldId="272"/>
            <ac:spMk id="13" creationId="{709E391B-E116-6628-FCBA-F01CB1FD1054}"/>
          </ac:spMkLst>
        </pc:spChg>
      </pc:sldChg>
      <pc:sldChg chg="addSp delSp modSp add mod modAnim">
        <pc:chgData name="e2235_増永 惺真＠明石高専_学生" userId="0af82126-12a3-4fae-b6a4-17a2f5300360" providerId="ADAL" clId="{7DDC55DC-3289-47A1-A709-9519E6E15E27}" dt="2026-10-09T06:39:10.567" v="20"/>
        <pc:sldMkLst>
          <pc:docMk/>
          <pc:sldMk cId="0" sldId="273"/>
        </pc:sldMkLst>
        <pc:spChg chg="add del mod">
          <ac:chgData name="e2235_増永 惺真＠明石高専_学生" userId="0af82126-12a3-4fae-b6a4-17a2f5300360" providerId="ADAL" clId="{7DDC55DC-3289-47A1-A709-9519E6E15E27}" dt="2026-10-09T06:39:07.636" v="19"/>
          <ac:spMkLst>
            <pc:docMk/>
            <pc:sldMk cId="0" sldId="273"/>
            <ac:spMk id="22" creationId="{3593AE52-FA63-C26B-ABE3-D9D3A1F29496}"/>
          </ac:spMkLst>
        </pc:spChg>
      </pc:sldChg>
      <pc:sldChg chg="add">
        <pc:chgData name="e2235_増永 惺真＠明石高専_学生" userId="0af82126-12a3-4fae-b6a4-17a2f5300360" providerId="ADAL" clId="{7DDC55DC-3289-47A1-A709-9519E6E15E27}" dt="2026-10-09T06:38:24.912" v="12"/>
        <pc:sldMkLst>
          <pc:docMk/>
          <pc:sldMk cId="0" sldId="274"/>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400" b="0" i="0" u="none" strike="noStrike">
                <a:solidFill>
                  <a:srgbClr val="52514E"/>
                </a:solidFill>
                <a:latin typeface="+mn-lt"/>
              </a:defRPr>
            </a:pPr>
            <a:r>
              <a:rPr lang="ja-JP" altLang="en-US" sz="1400" b="0" i="0" u="none" strike="noStrike">
                <a:solidFill>
                  <a:srgbClr val="52514E"/>
                </a:solidFill>
                <a:latin typeface="+mn-lt"/>
              </a:rPr>
              <a:t>全員の作業が終わるまでの時間 </a:t>
            </a:r>
            <a:r>
              <a:rPr lang="en-US" altLang="ja-JP" sz="1400" b="0" i="0" u="none" strike="noStrike">
                <a:solidFill>
                  <a:srgbClr val="52514E"/>
                </a:solidFill>
                <a:latin typeface="+mn-lt"/>
              </a:rPr>
              <a:t>[</a:t>
            </a:r>
            <a:r>
              <a:rPr lang="ja-JP" altLang="en-US" sz="1400" b="0" i="0" u="none" strike="noStrike">
                <a:solidFill>
                  <a:srgbClr val="52514E"/>
                </a:solidFill>
                <a:latin typeface="+mn-lt"/>
              </a:rPr>
              <a:t>分</a:t>
            </a:r>
            <a:r>
              <a:rPr lang="en-US" altLang="ja-JP" sz="1400" b="0" i="0" u="none" strike="noStrike">
                <a:solidFill>
                  <a:srgbClr val="52514E"/>
                </a:solidFill>
                <a:latin typeface="+mn-lt"/>
              </a:rPr>
              <a:t>]</a:t>
            </a:r>
            <a:r>
              <a:rPr lang="ja-JP" altLang="en-US" sz="1400" b="0" i="0" u="none" strike="noStrike">
                <a:solidFill>
                  <a:srgbClr val="52514E"/>
                </a:solidFill>
                <a:latin typeface="+mn-lt"/>
              </a:rPr>
              <a:t>（短いほど良い）</a:t>
            </a:r>
          </a:p>
        </c:rich>
      </c:tx>
      <c:overlay val="0"/>
    </c:title>
    <c:autoTitleDeleted val="0"/>
    <c:plotArea>
      <c:layout/>
      <c:barChart>
        <c:barDir val="bar"/>
        <c:grouping val="clustered"/>
        <c:varyColors val="0"/>
        <c:ser>
          <c:idx val="0"/>
          <c:order val="0"/>
          <c:tx>
            <c:strRef>
              <c:f>Sheet1!$B$1</c:f>
              <c:strCache>
                <c:ptCount val="1"/>
                <c:pt idx="0">
                  <c:v>完了時間 [分]</c:v>
                </c:pt>
              </c:strCache>
            </c:strRef>
          </c:tx>
          <c:spPr>
            <a:solidFill>
              <a:srgbClr val="8A8984"/>
            </a:solidFill>
            <a:effectLst/>
          </c:spPr>
          <c:invertIfNegative val="0"/>
          <c:dPt>
            <c:idx val="0"/>
            <c:invertIfNegative val="0"/>
            <c:bubble3D val="0"/>
            <c:extLst>
              <c:ext xmlns:c16="http://schemas.microsoft.com/office/drawing/2014/chart" uri="{C3380CC4-5D6E-409C-BE32-E72D297353CC}">
                <c16:uniqueId val="{00000001-F9D2-4659-B29A-C7A02883BC59}"/>
              </c:ext>
            </c:extLst>
          </c:dPt>
          <c:dPt>
            <c:idx val="1"/>
            <c:invertIfNegative val="0"/>
            <c:bubble3D val="0"/>
            <c:extLst>
              <c:ext xmlns:c16="http://schemas.microsoft.com/office/drawing/2014/chart" uri="{C3380CC4-5D6E-409C-BE32-E72D297353CC}">
                <c16:uniqueId val="{00000003-F9D2-4659-B29A-C7A02883BC59}"/>
              </c:ext>
            </c:extLst>
          </c:dPt>
          <c:dPt>
            <c:idx val="2"/>
            <c:invertIfNegative val="0"/>
            <c:bubble3D val="0"/>
            <c:extLst>
              <c:ext xmlns:c16="http://schemas.microsoft.com/office/drawing/2014/chart" uri="{C3380CC4-5D6E-409C-BE32-E72D297353CC}">
                <c16:uniqueId val="{00000005-F9D2-4659-B29A-C7A02883BC59}"/>
              </c:ext>
            </c:extLst>
          </c:dPt>
          <c:dPt>
            <c:idx val="3"/>
            <c:invertIfNegative val="0"/>
            <c:bubble3D val="0"/>
            <c:spPr>
              <a:solidFill>
                <a:srgbClr val="2A78D6"/>
              </a:solidFill>
              <a:effectLst/>
            </c:spPr>
            <c:extLst>
              <c:ext xmlns:c16="http://schemas.microsoft.com/office/drawing/2014/chart" uri="{C3380CC4-5D6E-409C-BE32-E72D297353CC}">
                <c16:uniqueId val="{00000007-F9D2-4659-B29A-C7A02883BC59}"/>
              </c:ext>
            </c:extLst>
          </c:dPt>
          <c:dPt>
            <c:idx val="4"/>
            <c:invertIfNegative val="0"/>
            <c:bubble3D val="0"/>
            <c:spPr>
              <a:solidFill>
                <a:srgbClr val="1F3A5F"/>
              </a:solidFill>
              <a:effectLst/>
            </c:spPr>
            <c:extLst>
              <c:ext xmlns:c16="http://schemas.microsoft.com/office/drawing/2014/chart" uri="{C3380CC4-5D6E-409C-BE32-E72D297353CC}">
                <c16:uniqueId val="{00000009-F9D2-4659-B29A-C7A02883BC59}"/>
              </c:ext>
            </c:extLst>
          </c:dPt>
          <c:dLbls>
            <c:numFmt formatCode="0.0" sourceLinked="0"/>
            <c:spPr>
              <a:noFill/>
              <a:ln>
                <a:noFill/>
              </a:ln>
              <a:effectLst/>
            </c:spPr>
            <c:txPr>
              <a:bodyPr/>
              <a:lstStyle/>
              <a:p>
                <a:pPr>
                  <a:defRPr sz="1400" b="0" i="0" u="none" strike="noStrike">
                    <a:solidFill>
                      <a:srgbClr val="1B1B1A"/>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経験年数が最長の人</c:v>
                </c:pt>
                <c:pt idx="1">
                  <c:v>ランダム</c:v>
                </c:pt>
                <c:pt idx="2">
                  <c:v>順番に回す</c:v>
                </c:pt>
                <c:pt idx="3">
                  <c:v>提案（Gemmba）</c:v>
                </c:pt>
                <c:pt idx="4">
                  <c:v>真の適性を知る割当（理想）</c:v>
                </c:pt>
              </c:strCache>
            </c:strRef>
          </c:cat>
          <c:val>
            <c:numRef>
              <c:f>Sheet1!$B$2:$B$6</c:f>
              <c:numCache>
                <c:formatCode>General</c:formatCode>
                <c:ptCount val="5"/>
                <c:pt idx="0">
                  <c:v>63.7</c:v>
                </c:pt>
                <c:pt idx="1">
                  <c:v>44.4</c:v>
                </c:pt>
                <c:pt idx="2">
                  <c:v>34.700000000000003</c:v>
                </c:pt>
                <c:pt idx="3">
                  <c:v>25.4</c:v>
                </c:pt>
                <c:pt idx="4">
                  <c:v>23.6</c:v>
                </c:pt>
              </c:numCache>
            </c:numRef>
          </c:val>
          <c:extLst>
            <c:ext xmlns:c16="http://schemas.microsoft.com/office/drawing/2014/chart" uri="{C3380CC4-5D6E-409C-BE32-E72D297353CC}">
              <c16:uniqueId val="{0000000A-F9D2-4659-B29A-C7A02883BC59}"/>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B1A"/>
                </a:solidFill>
                <a:latin typeface="+mn-lt"/>
              </a:defRPr>
            </a:pPr>
            <a:endParaRPr lang="en-US"/>
          </a:p>
        </c:txPr>
        <c:crossAx val="2094734552"/>
        <c:crosses val="autoZero"/>
        <c:auto val="1"/>
        <c:lblAlgn val="ctr"/>
        <c:lblOffset val="100"/>
        <c:noMultiLvlLbl val="1"/>
      </c:catAx>
      <c:valAx>
        <c:axId val="2094734552"/>
        <c:scaling>
          <c:orientation val="minMax"/>
          <c:max val="70"/>
          <c:min val="0"/>
        </c:scaling>
        <c:delete val="1"/>
        <c:axPos val="t"/>
        <c:numFmt formatCode="General" sourceLinked="0"/>
        <c:majorTickMark val="out"/>
        <c:minorTickMark val="none"/>
        <c:tickLblPos val="low"/>
        <c:crossAx val="2094734554"/>
        <c:crosses val="autoZero"/>
        <c:crossBetween val="between"/>
        <c:majorUnit val="1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9610111"/>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15 秒】</a:t>
            </a:r>
          </a:p>
          <a:p>
            <a:r>
              <a:t>私たちは、中小工場向けのシステム「Gemmba」を開発しました。</a:t>
            </a:r>
          </a:p>
          <a:p>
            <a:r>
              <a:t>従業員が腕輪を機材にタッチするだけで、今やるべき仕事をAIが割り当てるシステムです。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55 秒】</a:t>
            </a:r>
          </a:p>
          <a:p>
            <a:r>
              <a:t>まず、現状の問題です。</a:t>
            </a:r>
          </a:p>
          <a:p>
            <a:r>
              <a:t>班員の両親が営む製造工場では、レーザー加工機や旋盤などの機材を、複数の人で共有しています。</a:t>
            </a:r>
          </a:p>
          <a:p>
            <a:r>
              <a:t>そこでは、三つの問題が起きて</a:t>
            </a:r>
            <a:r>
              <a:rPr lang="ja-JP" altLang="en-US"/>
              <a:t>いると実感しました。</a:t>
            </a:r>
            <a:endParaRPr/>
          </a:p>
          <a:p>
            <a:r>
              <a:t>一つ目は、使用状況が見えないことです。誰がどの機材を使っているか分からず、予約したのに来ないこともあります。</a:t>
            </a:r>
          </a:p>
          <a:p>
            <a:r>
              <a:t>二つ目は、仕事が偏ることです。仕事がベテランに集中し、急ぎの仕事が後回しにされたり、忘れられたりします。</a:t>
            </a:r>
          </a:p>
          <a:p>
            <a:r>
              <a:t>三つ目は、探す・聞く手間です。空いている機材や次の仕事を探して歩き、仕事のたびに管理者へ聞きに行きます。</a:t>
            </a:r>
          </a:p>
          <a:p>
            <a:r>
              <a:t>原因は、管理側と従業員側が連携できていないことで、これが現場の時間を奪っています。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45 秒】</a:t>
            </a:r>
          </a:p>
          <a:p>
            <a:r>
              <a:t>そこで本システムの目的は、現場の無駄をなくし、人と仕事を最適に結び付けることです。</a:t>
            </a:r>
          </a:p>
          <a:p>
            <a:r>
              <a:t>三つの問題に対応して、機材と人の状況を常に正しく見える化し、</a:t>
            </a:r>
          </a:p>
          <a:p>
            <a:r>
              <a:t>実績データをもとに、偏りなく最適な人へ仕事を割り当て、</a:t>
            </a:r>
          </a:p>
          <a:p>
            <a:r>
              <a:t>タッチした瞬間に、その場でやるべき仕事を示します。</a:t>
            </a:r>
          </a:p>
          <a:p>
            <a:r>
              <a:t>そのために、遠隔予約は作らない、操作はタッチとボタンだけ、IT担当者がいなくても導入できる、という三つの方針で設計しました。</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30 秒】</a:t>
            </a:r>
          </a:p>
          <a:p>
            <a:r>
              <a:t>構成です。各機材に付けるモジュールとサーバがつながり、サーバの割当AIが仕事を決めます。</a:t>
            </a:r>
          </a:p>
          <a:p>
            <a:r>
              <a:t>従業員はICチップ入りの腕輪を着け、1回タッチするだけで、機材のロック、作業の開始と完了の報告、作業時間の記録まで済みます。</a:t>
            </a:r>
          </a:p>
          <a:p>
            <a:r>
              <a:t>モジュールは、</a:t>
            </a:r>
            <a:r>
              <a:rPr lang="en-US"/>
              <a:t>ESP32</a:t>
            </a:r>
            <a:r>
              <a:t>などの安価な部品で作れます。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15 秒】</a:t>
            </a:r>
          </a:p>
          <a:p>
            <a:r>
              <a:t>管理者はブラウザで、機材の空き状況や担当者を一目で確認できます。</a:t>
            </a:r>
          </a:p>
          <a:p>
            <a:r>
              <a:t>「AI割当」ボタンを押すと、誰に任せるかと、その理由が表示されます。</a:t>
            </a:r>
            <a:endParaRPr lang="en-US"/>
          </a:p>
          <a:p>
            <a:r>
              <a:rPr lang="ja-JP" altLang="en-US"/>
              <a:t>タスクの登録、作業者、機材の登録、稼働状況等も一括で管理することができます。</a:t>
            </a:r>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55 秒】</a:t>
            </a:r>
          </a:p>
          <a:p>
            <a:r>
              <a:t>本システムの独創的な点です。</a:t>
            </a:r>
          </a:p>
          <a:p>
            <a:r>
              <a:t>一つ目は、予約ではなく、タッチで使う人を決めることです。その場でタッチした人だけが使えるので、画面と現場の状態がずれません。</a:t>
            </a:r>
          </a:p>
          <a:p>
            <a:r>
              <a:t>二つ目は、来た人に、その場で仕事を選ぶことです。計画表を前もって組まず、タッチした瞬間に割り当てるので、急ぎの仕事もすぐに回せます。</a:t>
            </a:r>
          </a:p>
          <a:p>
            <a:r>
              <a:t>三つ目は、実績から得意・不得意を学ぶことです。作業時間</a:t>
            </a:r>
            <a:r>
              <a:rPr lang="ja-JP" altLang="en-US"/>
              <a:t>と</a:t>
            </a:r>
            <a:r>
              <a:rPr lang="en-US" altLang="ja-JP"/>
              <a:t>,</a:t>
            </a:r>
            <a:r>
              <a:t>本人が答えた難しさ</a:t>
            </a:r>
            <a:r>
              <a:rPr lang="en-US"/>
              <a:t>,</a:t>
            </a:r>
            <a:r>
              <a:t>から学び、新人にも試しに任せます。</a:t>
            </a:r>
          </a:p>
          <a:p>
            <a:r>
              <a:t>記録したデータがそのまま次の割当に使われるので、使うほど、その工場に合った割当になります。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25 秒】</a:t>
            </a:r>
          </a:p>
          <a:p>
            <a:r>
              <a:t>既存の製品は、生産計画を立てるもの、設備の稼働を監視するもの、実績を記録するものなど、「計画」「監視」「記録」のどれか一つが中心です。</a:t>
            </a:r>
          </a:p>
          <a:p>
            <a:r>
              <a:t>記録から学習、そしてその場での割当までを一つにつなげている点が、Gemmbaの違いです。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30 秒】</a:t>
            </a:r>
          </a:p>
          <a:p>
            <a:r>
              <a:t>次に、導入のメリットです。</a:t>
            </a:r>
          </a:p>
          <a:p>
            <a:r>
              <a:t>作業者は、開始と完了がタッチで記録されるので、報告に行かなくて済みます。</a:t>
            </a:r>
          </a:p>
          <a:p>
            <a:r>
              <a:t>タッチした瞬間に次の仕事が出るので、指示を待つ必要もありません。</a:t>
            </a:r>
          </a:p>
          <a:p>
            <a:r>
              <a:t>より重要な仕事がある機材へは案内されるので、探して歩かずに済み、自分に向いた仕事や、新人には経験を積める仕事が回ってきます。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22 秒】</a:t>
            </a:r>
          </a:p>
          <a:p>
            <a:r>
              <a:t>管理者は、誰がどの機材で何をしているかを、その場にいなくても把握できます。</a:t>
            </a:r>
          </a:p>
          <a:p>
            <a:r>
              <a:t>作業ログから一人ひとりの得意・不得意が</a:t>
            </a:r>
            <a:r>
              <a:rPr lang="ja-JP" altLang="en-US"/>
              <a:t>わかり、今後の教育などに活かすことができます。</a:t>
            </a:r>
            <a:endParaRPr lang="en-US" altLang="ja-JP"/>
          </a:p>
          <a:p>
            <a:r>
              <a:t>「AI割当」ボタンで候補と理由が出るので、割当を考える手間も減ります。</a:t>
            </a:r>
            <a:endParaRPr lang="en-US"/>
          </a:p>
          <a:p>
            <a:r>
              <a:rPr lang="ja-JP" altLang="en-US"/>
              <a:t>機材をまとめて管理することもできます。</a:t>
            </a:r>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22 秒】</a:t>
            </a:r>
          </a:p>
          <a:p>
            <a:r>
              <a:t>工場全体では、遠隔予約がないので、予約したのに来ないということが起きません。</a:t>
            </a:r>
          </a:p>
          <a:p>
            <a:r>
              <a:t>負荷を見て仕事を分散し、技能も作業ログとして残ります。</a:t>
            </a:r>
          </a:p>
          <a:p>
            <a:r>
              <a:t>専任のIT担当者がいなくても、既存の機材に後付けで導入できます。</a:t>
            </a:r>
            <a:endParaRPr lang="en-US"/>
          </a:p>
          <a:p>
            <a:r>
              <a:rPr lang="ja-JP" altLang="en-US"/>
              <a:t>このように工場全体で作業の最適化を行えます。</a:t>
            </a:r>
            <a:endParaRPr/>
          </a:p>
          <a:p>
            <a:r>
              <a:t>作業時間の短縮については、このあとシミュレーションの結果でお見せします。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a:t>
            </a:r>
            <a:r>
              <a:rPr lang="en-US"/>
              <a:t>60</a:t>
            </a:r>
            <a:r>
              <a:t> 秒】</a:t>
            </a:r>
          </a:p>
          <a:p>
            <a:r>
              <a:rPr lang="ja-JP" altLang="en-US"/>
              <a:t>では、実際にどのように使われるのかを、ある日の現場の流れで見ていきます。</a:t>
            </a:r>
          </a:p>
          <a:p>
            <a:r>
              <a:rPr lang="ja-JP" altLang="en-US"/>
              <a:t>まず朝、管理者が今日のタスクを管理画面で登録します。重要度や難易度、期限、数量が保存されます。</a:t>
            </a:r>
          </a:p>
          <a:p>
            <a:r>
              <a:rPr lang="ja-JP" altLang="en-US"/>
              <a:t>次に、作業者が空いている旋盤で腕輪をタッチします。すると割当 </a:t>
            </a:r>
            <a:r>
              <a:rPr lang="en-US" altLang="ja-JP"/>
              <a:t>AI </a:t>
            </a:r>
            <a:r>
              <a:rPr lang="ja-JP" altLang="en-US"/>
              <a:t>が、この人に向いている仕事を選んで画面に表示します。</a:t>
            </a:r>
          </a:p>
          <a:p>
            <a:r>
              <a:rPr lang="ja-JP" altLang="en-US"/>
              <a:t>作業者がボタンで承認すると、作業開始です。旋盤がロックされ、管理画面には「使用中」と担当者の名前が表示されます。</a:t>
            </a:r>
          </a:p>
          <a:p>
            <a:r>
              <a:rPr lang="ja-JP" altLang="en-US"/>
              <a:t>もし、別の機材にこの人宛てのより重要な仕事があれば、そちらへの移動を提案します。</a:t>
            </a:r>
          </a:p>
          <a:p>
            <a:r>
              <a:rPr lang="ja-JP" altLang="en-US"/>
              <a:t>作業が終わったら、もう一度タッチして、作業の難しさを答えます。所要時間が記録され、</a:t>
            </a:r>
            <a:r>
              <a:rPr lang="en-US" altLang="ja-JP"/>
              <a:t>AI </a:t>
            </a:r>
            <a:r>
              <a:rPr lang="ja-JP" altLang="en-US"/>
              <a:t>はこのデータから得意・不得意を学習します。</a:t>
            </a:r>
          </a:p>
          <a:p>
            <a:r>
              <a:rPr lang="ja-JP" altLang="en-US"/>
              <a:t>そして管理者は、画面で進捗と実績を確認し、偏りや遅れがあれば「</a:t>
            </a:r>
            <a:r>
              <a:rPr lang="en-US" altLang="ja-JP"/>
              <a:t>AI </a:t>
            </a:r>
            <a:r>
              <a:rPr lang="ja-JP" altLang="en-US"/>
              <a:t>割当」で割り振り直すことができます。</a:t>
            </a:r>
          </a:p>
          <a:p>
            <a:r>
              <a:rPr lang="ja-JP" altLang="en-US"/>
              <a:t>このように、作業者は機材の前で「タッチ」と「ボタン」を操作するだけです。報告や確認、次の仕事探しのために歩き回る必要はありません。</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15 秒】</a:t>
            </a:r>
          </a:p>
          <a:p>
            <a:r>
              <a:t>割当AIは、実績から一人ひとりの得意・不得意を学びます。</a:t>
            </a:r>
          </a:p>
          <a:p>
            <a:r>
              <a:t>手持ちの仕事が多い人は点数を下げるので、この表のように、最も得意な人が忙しければ次に向いた人へ回し、その理由も画面で確認できます。</a:t>
            </a:r>
            <a:endParaRPr lang="en-US"/>
          </a:p>
          <a:p>
            <a:r>
              <a:rPr lang="ja-JP" altLang="en-US"/>
              <a:t>現在割り当てられている作業も割り当ての計算に活かすことで、一人の優秀な人に作業が集中することが有りません。</a:t>
            </a:r>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45 秒】</a:t>
            </a:r>
          </a:p>
          <a:p>
            <a:r>
              <a:t>この割当でどれだけ効率が上がるのかを、シミュレーションで確かめました。</a:t>
            </a:r>
          </a:p>
          <a:p>
            <a:r>
              <a:t>作業者6名、仕事6件で、AIには本当の能力を知らせずに学習させました。</a:t>
            </a:r>
          </a:p>
          <a:p>
            <a:r>
              <a:t>全員の作業が終わるまでの時間は、経験年数で選ぶ方法が63.7分、順番に回す方法が34.7分だったのに対し、私たちの方法は25.4分でした。</a:t>
            </a:r>
          </a:p>
          <a:p>
            <a:r>
              <a:t>それぞれ60%、27%の短縮です。</a:t>
            </a:r>
          </a:p>
          <a:p>
            <a:r>
              <a:t>本当の能力を知っている理想の割当との差もわずか8%で、実績から学ぶだけで、理想に近い割当ができることが分かりました。</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50 秒】</a:t>
            </a:r>
          </a:p>
          <a:p>
            <a:r>
              <a:t>さらに、工場の中の人の動きもシミュレーションしました。</a:t>
            </a:r>
          </a:p>
          <a:p>
            <a:r>
              <a:t>作業者15人、機材30台、タスク151件の一日で、上が熟練の管理者が割り当てる従来の運用、下がGemmbaです。</a:t>
            </a:r>
          </a:p>
          <a:p>
            <a:r>
              <a:t>従来は、仕事が終わるたびに管理者の席へ戻って指示を待ちますが、Gemmbaでは、その場でタッチすれば次の仕事が出ます。</a:t>
            </a:r>
          </a:p>
          <a:p>
            <a:r>
              <a:t>タッチ忘れなどで管理者の席へ行く場合も、5%入れて計算しています。</a:t>
            </a:r>
          </a:p>
          <a:p>
            <a:r>
              <a:t>その結果、全タスクの完了は18時45分から16時44分と約2時間早くなり、歩いた距離は73%、ムダな時間は57%減りました。</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15 秒】</a:t>
            </a:r>
          </a:p>
          <a:p>
            <a:r>
              <a:rPr lang="ja-JP" altLang="en-US"/>
              <a:t>自分たちで使用し、対策が必要な箇所を洗い出しました。</a:t>
            </a:r>
            <a:endParaRPr lang="en-US" altLang="ja-JP"/>
          </a:p>
          <a:p>
            <a:r>
              <a:rPr lang="ja-JP" altLang="en-US"/>
              <a:t>そこで</a:t>
            </a:r>
            <a:r>
              <a:t>タッチを忘れる人がいることと、毎週の仕事を</a:t>
            </a:r>
            <a:r>
              <a:rPr lang="ja-JP" altLang="en-US"/>
              <a:t>毎回入れる手間が挙げられました。</a:t>
            </a:r>
          </a:p>
          <a:p>
            <a:r>
              <a:rPr lang="ja-JP" altLang="en-US"/>
              <a:t>これらは、確認や通知の追加と、定期タスクの自動追加で改善しました。</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8 秒】</a:t>
            </a:r>
          </a:p>
          <a:p>
            <a:r>
              <a:rPr lang="ja-JP" altLang="en-US"/>
              <a:t>他にも、ディスプレイが小さい、</a:t>
            </a:r>
            <a:r>
              <a:rPr lang="en-US" altLang="ja-JP"/>
              <a:t>IC</a:t>
            </a:r>
            <a:r>
              <a:rPr lang="ja-JP" altLang="en-US"/>
              <a:t>タグの位置が直感と反している、管理者側からモジュールにメッセージを通知するなどの機能の追加が必要だと考えました。</a:t>
            </a:r>
            <a:endParaRPr lang="en-US" altLang="ja-JP"/>
          </a:p>
          <a:p>
            <a:r>
              <a:rPr lang="ja-JP" altLang="en-US"/>
              <a:t>しかし、モジュール本体の変更が必要だったため、今後の改善点として大きな画面に変更する、</a:t>
            </a:r>
            <a:r>
              <a:rPr lang="en-US" altLang="ja-JP"/>
              <a:t>IC</a:t>
            </a:r>
            <a:r>
              <a:rPr lang="ja-JP" altLang="en-US"/>
              <a:t>タグの位置を正面に移す、モジュールにブザーを追加して管理者画面からブザーと文字で通知を送信できるようにするなどを予定しています。</a:t>
            </a:r>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【目安 21 秒】</a:t>
            </a:r>
          </a:p>
          <a:p>
            <a:r>
              <a:t>まとめです。Gemmbaは、腕輪をタッチするだけで、人と仕事をAIが結び付けます。</a:t>
            </a:r>
          </a:p>
          <a:p>
            <a:r>
              <a:rPr lang="ja-JP" altLang="en-US"/>
              <a:t>現時点での課題としては、</a:t>
            </a:r>
            <a:r>
              <a:rPr lang="en-US" altLang="ja-JP"/>
              <a:t>AI</a:t>
            </a:r>
            <a:r>
              <a:rPr lang="ja-JP" altLang="en-US"/>
              <a:t>割当の評価がシュミレーションのみである点、作業者の能力向上を考慮していない、ログが増えるとサーバーでの</a:t>
            </a:r>
            <a:r>
              <a:rPr lang="en-US" altLang="ja-JP"/>
              <a:t>Ai</a:t>
            </a:r>
            <a:r>
              <a:rPr lang="ja-JP" altLang="en-US"/>
              <a:t>の計算が重くなるなどがあります。</a:t>
            </a:r>
            <a:endParaRPr lang="en-US"/>
          </a:p>
          <a:p>
            <a:r>
              <a:rPr lang="ja-JP" altLang="en-US"/>
              <a:t>今後の展望として、実際の工場と連携して長期間のテストを行う。古いログの重みを下げ、能力の向上を反映する。他の割当アルゴリズムとの比較と検討を予定しています。</a:t>
            </a:r>
            <a:endParaRPr lang="en-US"/>
          </a:p>
          <a:p>
            <a:r>
              <a:t>ご清聴ありがとうございました。</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ノート プレースホルダー 2"/>
          <p:cNvSpPr>
            <a:spLocks noGrp="1"/>
          </p:cNvSpPr>
          <p:nvPr>
            <p:ph type="body" idx="1"/>
          </p:nvPr>
        </p:nvSpPr>
        <p:spPr>
          <a:xfrm>
            <a:off x="685800" y="5867400"/>
            <a:ext cx="5486400" cy="4800600"/>
          </a:xfrm>
          <a:prstGeom prst="rect">
            <a:avLst/>
          </a:prstGeom>
        </p:spPr>
        <p:txBody>
          <a:bodyPr/>
          <a:lstStyle/>
          <a:p>
            <a:r>
              <a:rPr kumimoji="1" lang="ja-JP" altLang="en-US"/>
              <a:t>質疑応答用のスライド。発表では表示せず、質問が来たときに参照してもよい。
回答はあくまで例なので、自分たちの言葉に直して使う。</a:t>
            </a:r>
          </a:p>
        </p:txBody>
      </p:sp>
    </p:spTree>
    <p:extLst>
      <p:ext uri="{BB962C8B-B14F-4D97-AF65-F5344CB8AC3E}">
        <p14:creationId xmlns:p14="http://schemas.microsoft.com/office/powerpoint/2010/main" val="14562759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表紙">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920240"/>
            <a:ext cx="11094415" cy="17373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r>
              <a:rPr lang="en-US" sz="4000" b="1">
                <a:solidFill>
                  <a:schemeClr val="bg1"/>
                </a:solidFill>
              </a:rPr>
              <a:t>タイトル</a:t>
            </a:r>
            <a:endParaRPr lang="en-US" sz="4000"/>
          </a:p>
        </p:txBody>
      </p:sp>
      <p:sp>
        <p:nvSpPr>
          <p:cNvPr id="3" name="Text 0"/>
          <p:cNvSpPr>
            <a:spLocks noGrp="1"/>
          </p:cNvSpPr>
          <p:nvPr>
            <p:ph type="body" idx="101" hasCustomPrompt="1"/>
          </p:nvPr>
        </p:nvSpPr>
        <p:spPr>
          <a:xfrm>
            <a:off x="548640" y="3840480"/>
            <a:ext cx="11094415" cy="731520"/>
          </a:xfrm>
          <a:prstGeom prst="rect">
            <a:avLst/>
          </a:prstGeom>
          <a:noFill/>
          <a:ln/>
        </p:spPr>
        <p:txBody>
          <a:bodyPr wrap="square" rtlCol="0"/>
          <a:lstStyle>
            <a:lvl1pPr marL="0" indent="0" algn="l">
              <a:buNone/>
              <a:defRPr lang="en-US" sz="2200" dirty="0">
                <a:solidFill>
                  <a:schemeClr val="accent5"/>
                </a:solidFill>
              </a:defRPr>
            </a:lvl1pPr>
          </a:lstStyle>
          <a:p>
            <a:pPr marL="0" indent="0" algn="l">
              <a:buNone/>
            </a:pPr>
            <a:r>
              <a:rPr lang="en-US" sz="2200">
                <a:solidFill>
                  <a:schemeClr val="accent5"/>
                </a:solidFill>
              </a:rPr>
              <a:t>サブタイトル</a:t>
            </a:r>
            <a:endParaRPr lang="en-US" sz="2200"/>
          </a:p>
        </p:txBody>
      </p:sp>
      <p:sp>
        <p:nvSpPr>
          <p:cNvPr id="4" name="Text 0"/>
          <p:cNvSpPr>
            <a:spLocks noGrp="1"/>
          </p:cNvSpPr>
          <p:nvPr>
            <p:ph type="body" idx="102" hasCustomPrompt="1"/>
          </p:nvPr>
        </p:nvSpPr>
        <p:spPr>
          <a:xfrm>
            <a:off x="548640" y="5669280"/>
            <a:ext cx="11094415" cy="548640"/>
          </a:xfrm>
          <a:prstGeom prst="rect">
            <a:avLst/>
          </a:prstGeom>
          <a:noFill/>
          <a:ln/>
        </p:spPr>
        <p:txBody>
          <a:bodyPr wrap="square" rtlCol="0"/>
          <a:lstStyle>
            <a:lvl1pPr marL="0" indent="0" algn="l">
              <a:buNone/>
              <a:defRPr lang="en-US" sz="1800" dirty="0">
                <a:solidFill>
                  <a:schemeClr val="bg1"/>
                </a:solidFill>
              </a:defRPr>
            </a:lvl1pPr>
          </a:lstStyle>
          <a:p>
            <a:pPr marL="0" indent="0" algn="l">
              <a:buNone/>
            </a:pPr>
            <a:r>
              <a:rPr lang="en-US" sz="1800">
                <a:solidFill>
                  <a:schemeClr val="bg1"/>
                </a:solidFill>
              </a:rPr>
              <a:t>チーム名・発表者名</a:t>
            </a:r>
            <a:endParaRPr lang="en-US" sz="1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本文">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rtlCol="0"/>
          <a:lstStyle>
            <a:lvl1pPr marL="0" indent="0" algn="l">
              <a:buNone/>
              <a:defRPr lang="en-US" sz="1400" b="1" dirty="0">
                <a:solidFill>
                  <a:schemeClr val="accent1"/>
                </a:solidFill>
              </a:defRPr>
            </a:lvl1pPr>
          </a:lstStyle>
          <a:p>
            <a:pPr marL="0" indent="0" algn="l">
              <a:buNone/>
            </a:pPr>
            <a:r>
              <a:rPr lang="en-US" sz="1400" b="1">
                <a:solidFill>
                  <a:schemeClr val="accent1"/>
                </a:solidFill>
              </a:rPr>
              <a:t>セクション名</a:t>
            </a:r>
            <a:endParaRPr lang="en-US"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r>
              <a:rPr lang="en-US" sz="3200" b="1">
                <a:solidFill>
                  <a:schemeClr val="tx2"/>
                </a:solidFill>
              </a:rPr>
              <a:t>スライドのタイトル</a:t>
            </a:r>
            <a:endParaRPr lang="en-US" sz="3200"/>
          </a:p>
        </p:txBody>
      </p:sp>
      <p:sp>
        <p:nvSpPr>
          <p:cNvPr id="4" name="Text 0"/>
          <p:cNvSpPr/>
          <p:nvPr/>
        </p:nvSpPr>
        <p:spPr>
          <a:xfrm>
            <a:off x="548640" y="6400800"/>
            <a:ext cx="2743200" cy="274320"/>
          </a:xfrm>
          <a:prstGeom prst="rect">
            <a:avLst/>
          </a:prstGeom>
          <a:noFill/>
          <a:ln/>
        </p:spPr>
        <p:txBody>
          <a:bodyPr wrap="square" lIns="0" tIns="0" rIns="0" bIns="0" rtlCol="0" anchor="ctr"/>
          <a:lstStyle/>
          <a:p>
            <a:pPr marL="0" indent="0">
              <a:buNone/>
            </a:pPr>
            <a:r>
              <a:rPr lang="en-US" sz="1100">
                <a:solidFill>
                  <a:schemeClr val="accent3"/>
                </a:solidFill>
              </a:rPr>
              <a:t>Gemmba</a:t>
            </a:r>
            <a:endParaRPr lang="en-US" sz="11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04CD750A-3348-423E-977C-77B2734E312C}"/>
              </a:ext>
            </a:extLst>
          </p:cNvPr>
          <p:cNvPicPr>
            <a:picLocks noChangeAspect="1"/>
          </p:cNvPicPr>
          <p:nvPr/>
        </p:nvPicPr>
        <p:blipFill>
          <a:blip r:embed="rId3"/>
          <a:stretch>
            <a:fillRect/>
          </a:stretch>
        </p:blipFill>
        <p:spPr>
          <a:xfrm>
            <a:off x="1604335" y="1933368"/>
            <a:ext cx="8983329" cy="2962688"/>
          </a:xfrm>
          <a:prstGeom prst="rect">
            <a:avLst/>
          </a:prstGeom>
        </p:spPr>
      </p:pic>
      <p:sp>
        <p:nvSpPr>
          <p:cNvPr id="3" name="Text 0"/>
          <p:cNvSpPr>
            <a:spLocks noGrp="1"/>
          </p:cNvSpPr>
          <p:nvPr>
            <p:ph type="body" idx="4294967295" hasCustomPrompt="1"/>
          </p:nvPr>
        </p:nvSpPr>
        <p:spPr>
          <a:xfrm>
            <a:off x="5764190" y="4246348"/>
            <a:ext cx="4125913" cy="412750"/>
          </a:xfrm>
          <a:prstGeom prst="rect">
            <a:avLst/>
          </a:prstGeom>
          <a:noFill/>
          <a:ln/>
        </p:spPr>
        <p:txBody>
          <a:bodyPr wrap="square" lIns="0" tIns="0" rIns="0" bIns="0" rtlCol="0" anchor="t"/>
          <a:lstStyle/>
          <a:p>
            <a:pPr marL="0" indent="0" algn="l">
              <a:buNone/>
            </a:pPr>
            <a:r>
              <a:rPr lang="ja-JP" altLang="en-US" sz="2200"/>
              <a:t>中小企業向けの</a:t>
            </a:r>
            <a:r>
              <a:rPr lang="en-US" altLang="ja-JP" sz="2200"/>
              <a:t>DX</a:t>
            </a:r>
            <a:r>
              <a:rPr lang="ja-JP" altLang="en-US" sz="2200"/>
              <a:t>推進システム</a:t>
            </a:r>
            <a:endParaRPr lang="ja-JP" sz="2200"/>
          </a:p>
        </p:txBody>
      </p:sp>
      <p:sp>
        <p:nvSpPr>
          <p:cNvPr id="9" name="テキスト ボックス 8">
            <a:extLst>
              <a:ext uri="{FF2B5EF4-FFF2-40B4-BE49-F238E27FC236}">
                <a16:creationId xmlns:a16="http://schemas.microsoft.com/office/drawing/2014/main" id="{7FB050A0-E14C-5A86-62F7-85E13CD6F1D5}"/>
              </a:ext>
            </a:extLst>
          </p:cNvPr>
          <p:cNvSpPr txBox="1"/>
          <p:nvPr/>
        </p:nvSpPr>
        <p:spPr>
          <a:xfrm>
            <a:off x="251460" y="228600"/>
            <a:ext cx="2976372" cy="646331"/>
          </a:xfrm>
          <a:prstGeom prst="rect">
            <a:avLst/>
          </a:prstGeom>
          <a:noFill/>
        </p:spPr>
        <p:txBody>
          <a:bodyPr wrap="square" rtlCol="0">
            <a:spAutoFit/>
          </a:bodyPr>
          <a:lstStyle/>
          <a:p>
            <a:r>
              <a:rPr kumimoji="1" lang="ja-JP" altLang="en-US"/>
              <a:t>課題部門</a:t>
            </a:r>
            <a:endParaRPr kumimoji="1" lang="en-US" altLang="ja-JP"/>
          </a:p>
          <a:p>
            <a:r>
              <a:rPr kumimoji="1" lang="ja-JP" altLang="en-US"/>
              <a:t>登録番号</a:t>
            </a:r>
            <a:r>
              <a:rPr kumimoji="1" lang="en-US" altLang="ja-JP"/>
              <a:t>:10006</a:t>
            </a:r>
            <a:endParaRPr kumimoji="1"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13892" y="27432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現状の課題</a:t>
            </a:r>
            <a:endParaRPr lang="ja-JP" sz="3200"/>
          </a:p>
        </p:txBody>
      </p:sp>
      <p:sp>
        <p:nvSpPr>
          <p:cNvPr id="4" name="前提"/>
          <p:cNvSpPr txBox="1"/>
          <p:nvPr/>
        </p:nvSpPr>
        <p:spPr>
          <a:xfrm>
            <a:off x="464678" y="1051560"/>
            <a:ext cx="11094415" cy="457200"/>
          </a:xfrm>
          <a:prstGeom prst="rect">
            <a:avLst/>
          </a:prstGeom>
          <a:noFill/>
          <a:ln/>
        </p:spPr>
        <p:txBody>
          <a:bodyPr wrap="square" lIns="0" tIns="0" rIns="0" bIns="0" rtlCol="0" anchor="ctr"/>
          <a:lstStyle/>
          <a:p>
            <a:pPr marL="0" indent="0">
              <a:buNone/>
            </a:pPr>
            <a:r>
              <a:rPr lang="ja-JP" altLang="en-US" sz="1800"/>
              <a:t>両親が製造工場を営んでいる班員の実体験として以下の問題があり、作業効率が低下していると感じた。</a:t>
            </a:r>
            <a:endParaRPr lang="ja-JP" sz="1800"/>
          </a:p>
        </p:txBody>
      </p:sp>
      <p:sp>
        <p:nvSpPr>
          <p:cNvPr id="5" name="課題1"/>
          <p:cNvSpPr/>
          <p:nvPr/>
        </p:nvSpPr>
        <p:spPr>
          <a:xfrm>
            <a:off x="548640"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6" name="課題1_文字"/>
          <p:cNvSpPr txBox="1"/>
          <p:nvPr/>
        </p:nvSpPr>
        <p:spPr>
          <a:xfrm>
            <a:off x="724619" y="3200400"/>
            <a:ext cx="3308797" cy="1554480"/>
          </a:xfrm>
          <a:prstGeom prst="rect">
            <a:avLst/>
          </a:prstGeom>
          <a:noFill/>
          <a:ln/>
        </p:spPr>
        <p:txBody>
          <a:bodyPr wrap="square" lIns="0" tIns="0" rIns="0" bIns="0" rtlCol="0" anchor="t"/>
          <a:lstStyle/>
          <a:p>
            <a:pPr marL="0" indent="0">
              <a:buNone/>
            </a:pPr>
            <a:r>
              <a:rPr lang="ja-JP" altLang="en-US" sz="2200" b="1">
                <a:solidFill>
                  <a:schemeClr val="tx2"/>
                </a:solidFill>
              </a:rPr>
              <a:t>使用状況が見えない</a:t>
            </a:r>
            <a:endParaRPr lang="ja-JP" sz="2200"/>
          </a:p>
          <a:p>
            <a:pPr marL="203200" indent="-203200">
              <a:spcBef>
                <a:spcPts val="1000"/>
              </a:spcBef>
              <a:buSzPct val="100000"/>
              <a:buChar char="•"/>
            </a:pPr>
            <a:r>
              <a:rPr lang="ja-JP" altLang="en-US" sz="1600">
                <a:solidFill>
                  <a:schemeClr val="tx1"/>
                </a:solidFill>
              </a:rPr>
              <a:t>誰がどの機材を何に使っているか分からない</a:t>
            </a:r>
            <a:endParaRPr lang="ja-JP" sz="2200"/>
          </a:p>
          <a:p>
            <a:pPr marL="203200" indent="-203200">
              <a:spcBef>
                <a:spcPts val="1000"/>
              </a:spcBef>
              <a:buSzPct val="100000"/>
              <a:buChar char="•"/>
            </a:pPr>
            <a:r>
              <a:rPr lang="ja-JP" altLang="en-US" sz="1600">
                <a:solidFill>
                  <a:schemeClr val="tx1"/>
                </a:solidFill>
              </a:rPr>
              <a:t>機材を予約したのに来ない</a:t>
            </a:r>
            <a:endParaRPr lang="ja-JP" sz="2200"/>
          </a:p>
        </p:txBody>
      </p:sp>
      <p:sp>
        <p:nvSpPr>
          <p:cNvPr id="7" name="課題2"/>
          <p:cNvSpPr/>
          <p:nvPr/>
        </p:nvSpPr>
        <p:spPr>
          <a:xfrm>
            <a:off x="4353458" y="2194560"/>
            <a:ext cx="3484778"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8" name="課題2_文字"/>
          <p:cNvSpPr txBox="1"/>
          <p:nvPr/>
        </p:nvSpPr>
        <p:spPr>
          <a:xfrm>
            <a:off x="4459857" y="3200400"/>
            <a:ext cx="3104059" cy="1554480"/>
          </a:xfrm>
          <a:prstGeom prst="rect">
            <a:avLst/>
          </a:prstGeom>
          <a:noFill/>
          <a:ln/>
        </p:spPr>
        <p:txBody>
          <a:bodyPr wrap="square" lIns="0" tIns="0" rIns="0" bIns="0" rtlCol="0" anchor="t"/>
          <a:lstStyle/>
          <a:p>
            <a:pPr marL="0" indent="0">
              <a:buNone/>
            </a:pPr>
            <a:r>
              <a:rPr lang="ja-JP" altLang="en-US" sz="2200" b="1">
                <a:solidFill>
                  <a:schemeClr val="tx2"/>
                </a:solidFill>
              </a:rPr>
              <a:t>仕事が偏る</a:t>
            </a:r>
            <a:endParaRPr lang="ja-JP" sz="2200"/>
          </a:p>
          <a:p>
            <a:pPr marL="203200" indent="-203200">
              <a:spcBef>
                <a:spcPts val="1000"/>
              </a:spcBef>
              <a:buSzPct val="100000"/>
              <a:buChar char="•"/>
            </a:pPr>
            <a:r>
              <a:rPr lang="ja-JP" altLang="en-US" sz="1600">
                <a:solidFill>
                  <a:schemeClr val="tx1"/>
                </a:solidFill>
              </a:rPr>
              <a:t>仕事が特定のベテランに集中</a:t>
            </a:r>
            <a:endParaRPr lang="ja-JP" sz="2200"/>
          </a:p>
          <a:p>
            <a:pPr marL="203200" indent="-203200">
              <a:spcBef>
                <a:spcPts val="1000"/>
              </a:spcBef>
              <a:buSzPct val="100000"/>
              <a:buChar char="•"/>
            </a:pPr>
            <a:r>
              <a:rPr lang="ja-JP" altLang="en-US" sz="1600">
                <a:solidFill>
                  <a:schemeClr val="tx1"/>
                </a:solidFill>
              </a:rPr>
              <a:t>急ぎの仕事が後回し・忘れられる</a:t>
            </a:r>
            <a:endParaRPr lang="ja-JP" sz="2200"/>
          </a:p>
        </p:txBody>
      </p:sp>
      <p:sp>
        <p:nvSpPr>
          <p:cNvPr id="9" name="課題3"/>
          <p:cNvSpPr/>
          <p:nvPr/>
        </p:nvSpPr>
        <p:spPr>
          <a:xfrm>
            <a:off x="8158276" y="2194560"/>
            <a:ext cx="3608153" cy="2743200"/>
          </a:xfrm>
          <a:prstGeom prst="roundRect">
            <a:avLst>
              <a:gd name="adj" fmla="val 2667"/>
            </a:avLst>
          </a:prstGeom>
          <a:solidFill>
            <a:schemeClr val="bg2"/>
          </a:solidFill>
          <a:ln w="12700">
            <a:solidFill>
              <a:schemeClr val="bg2"/>
            </a:solidFill>
            <a:prstDash val="solid"/>
          </a:ln>
        </p:spPr>
        <p:txBody>
          <a:bodyPr/>
          <a:lstStyle/>
          <a:p>
            <a:endParaRPr lang="ja-JP" altLang="en-US"/>
          </a:p>
        </p:txBody>
      </p:sp>
      <p:sp>
        <p:nvSpPr>
          <p:cNvPr id="10" name="課題3_文字"/>
          <p:cNvSpPr txBox="1"/>
          <p:nvPr/>
        </p:nvSpPr>
        <p:spPr>
          <a:xfrm>
            <a:off x="8272732" y="3200400"/>
            <a:ext cx="3370323" cy="1554480"/>
          </a:xfrm>
          <a:prstGeom prst="rect">
            <a:avLst/>
          </a:prstGeom>
          <a:noFill/>
          <a:ln/>
        </p:spPr>
        <p:txBody>
          <a:bodyPr wrap="square" lIns="0" tIns="0" rIns="0" bIns="0" rtlCol="0" anchor="t"/>
          <a:lstStyle/>
          <a:p>
            <a:pPr marL="0" indent="0">
              <a:buNone/>
            </a:pPr>
            <a:r>
              <a:rPr lang="ja-JP" altLang="en-US" sz="2200" b="1">
                <a:solidFill>
                  <a:schemeClr val="tx2"/>
                </a:solidFill>
              </a:rPr>
              <a:t>探す・聞く手間</a:t>
            </a:r>
            <a:endParaRPr lang="ja-JP" sz="2200"/>
          </a:p>
          <a:p>
            <a:pPr marL="203200" indent="-203200">
              <a:spcBef>
                <a:spcPts val="1000"/>
              </a:spcBef>
              <a:buSzPct val="100000"/>
              <a:buChar char="•"/>
            </a:pPr>
            <a:r>
              <a:rPr lang="ja-JP" altLang="en-US" sz="1600">
                <a:solidFill>
                  <a:schemeClr val="tx1"/>
                </a:solidFill>
              </a:rPr>
              <a:t>空いている機材や仕事を探して歩く</a:t>
            </a:r>
            <a:endParaRPr lang="ja-JP" sz="2200"/>
          </a:p>
          <a:p>
            <a:pPr marL="203200" indent="-203200">
              <a:spcBef>
                <a:spcPts val="1000"/>
              </a:spcBef>
              <a:buSzPct val="100000"/>
              <a:buChar char="•"/>
            </a:pPr>
            <a:r>
              <a:rPr lang="ja-JP" altLang="en-US" sz="1600"/>
              <a:t>仕事のたびに</a:t>
            </a:r>
            <a:r>
              <a:rPr lang="ja-JP" altLang="en-US" sz="1600">
                <a:solidFill>
                  <a:schemeClr val="tx1"/>
                </a:solidFill>
              </a:rPr>
              <a:t>管理者に聞く・報告</a:t>
            </a:r>
            <a:endParaRPr lang="ja-JP" sz="2200"/>
          </a:p>
        </p:txBody>
      </p:sp>
      <p:sp>
        <p:nvSpPr>
          <p:cNvPr id="11" name="課題1_番号"/>
          <p:cNvSpPr/>
          <p:nvPr/>
        </p:nvSpPr>
        <p:spPr>
          <a:xfrm>
            <a:off x="822960"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2" name="課題1_番号_文字"/>
          <p:cNvSpPr txBox="1"/>
          <p:nvPr/>
        </p:nvSpPr>
        <p:spPr>
          <a:xfrm>
            <a:off x="822960" y="2468880"/>
            <a:ext cx="548640" cy="548640"/>
          </a:xfrm>
          <a:prstGeom prst="rect">
            <a:avLst/>
          </a:prstGeom>
          <a:noFill/>
          <a:ln/>
        </p:spPr>
        <p:txBody>
          <a:bodyPr wrap="square" lIns="0" tIns="0" rIns="0" bIns="0" rtlCol="0" anchor="ctr"/>
          <a:lstStyle/>
          <a:p>
            <a:pPr marL="0" indent="0" algn="ctr">
              <a:buNone/>
            </a:pPr>
            <a:r>
              <a:rPr lang="ja-JP" altLang="en-US" sz="1560" b="1">
                <a:solidFill>
                  <a:schemeClr val="bg1"/>
                </a:solidFill>
              </a:rPr>
              <a:t>1</a:t>
            </a:r>
            <a:endParaRPr lang="ja-JP" sz="1560"/>
          </a:p>
        </p:txBody>
      </p:sp>
      <p:sp>
        <p:nvSpPr>
          <p:cNvPr id="13" name="課題2_番号"/>
          <p:cNvSpPr/>
          <p:nvPr/>
        </p:nvSpPr>
        <p:spPr>
          <a:xfrm>
            <a:off x="4627778"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4" name="課題2_番号_文字"/>
          <p:cNvSpPr txBox="1"/>
          <p:nvPr/>
        </p:nvSpPr>
        <p:spPr>
          <a:xfrm>
            <a:off x="4627778" y="2468880"/>
            <a:ext cx="548640" cy="548640"/>
          </a:xfrm>
          <a:prstGeom prst="rect">
            <a:avLst/>
          </a:prstGeom>
          <a:noFill/>
          <a:ln/>
        </p:spPr>
        <p:txBody>
          <a:bodyPr wrap="square" lIns="0" tIns="0" rIns="0" bIns="0" rtlCol="0" anchor="ctr"/>
          <a:lstStyle/>
          <a:p>
            <a:pPr marL="0" indent="0" algn="ctr">
              <a:buNone/>
            </a:pPr>
            <a:r>
              <a:rPr lang="ja-JP" altLang="en-US" sz="1560" b="1">
                <a:solidFill>
                  <a:schemeClr val="bg1"/>
                </a:solidFill>
              </a:rPr>
              <a:t>2</a:t>
            </a:r>
            <a:endParaRPr lang="ja-JP" sz="1560"/>
          </a:p>
        </p:txBody>
      </p:sp>
      <p:sp>
        <p:nvSpPr>
          <p:cNvPr id="15" name="課題3_番号"/>
          <p:cNvSpPr/>
          <p:nvPr/>
        </p:nvSpPr>
        <p:spPr>
          <a:xfrm>
            <a:off x="8432597" y="2468880"/>
            <a:ext cx="548640" cy="548640"/>
          </a:xfrm>
          <a:prstGeom prst="ellipse">
            <a:avLst/>
          </a:prstGeom>
          <a:solidFill>
            <a:schemeClr val="tx2"/>
          </a:solidFill>
          <a:ln w="12700">
            <a:solidFill>
              <a:schemeClr val="tx2"/>
            </a:solidFill>
            <a:prstDash val="solid"/>
          </a:ln>
        </p:spPr>
        <p:txBody>
          <a:bodyPr/>
          <a:lstStyle/>
          <a:p>
            <a:endParaRPr lang="ja-JP" altLang="en-US"/>
          </a:p>
        </p:txBody>
      </p:sp>
      <p:sp>
        <p:nvSpPr>
          <p:cNvPr id="16" name="課題3_番号_文字"/>
          <p:cNvSpPr txBox="1"/>
          <p:nvPr/>
        </p:nvSpPr>
        <p:spPr>
          <a:xfrm>
            <a:off x="8432597" y="2468880"/>
            <a:ext cx="548640" cy="548640"/>
          </a:xfrm>
          <a:prstGeom prst="rect">
            <a:avLst/>
          </a:prstGeom>
          <a:noFill/>
          <a:ln/>
        </p:spPr>
        <p:txBody>
          <a:bodyPr wrap="square" lIns="0" tIns="0" rIns="0" bIns="0" rtlCol="0" anchor="ctr"/>
          <a:lstStyle/>
          <a:p>
            <a:pPr marL="0" indent="0" algn="ctr">
              <a:buNone/>
            </a:pPr>
            <a:r>
              <a:rPr lang="ja-JP" altLang="en-US" sz="1560" b="1">
                <a:solidFill>
                  <a:schemeClr val="bg1"/>
                </a:solidFill>
              </a:rPr>
              <a:t>3</a:t>
            </a:r>
            <a:endParaRPr lang="ja-JP" sz="1560"/>
          </a:p>
        </p:txBody>
      </p:sp>
      <p:sp>
        <p:nvSpPr>
          <p:cNvPr id="17" name="まとめ"/>
          <p:cNvSpPr txBox="1"/>
          <p:nvPr/>
        </p:nvSpPr>
        <p:spPr>
          <a:xfrm>
            <a:off x="453749" y="5486400"/>
            <a:ext cx="11094415" cy="548640"/>
          </a:xfrm>
          <a:prstGeom prst="rect">
            <a:avLst/>
          </a:prstGeom>
          <a:noFill/>
          <a:ln/>
        </p:spPr>
        <p:txBody>
          <a:bodyPr wrap="square" lIns="0" tIns="0" rIns="0" bIns="0" rtlCol="0" anchor="ctr"/>
          <a:lstStyle/>
          <a:p>
            <a:pPr marL="0" indent="0">
              <a:buNone/>
            </a:pPr>
            <a:r>
              <a:rPr lang="ja-JP" altLang="en-US" sz="2000" b="1">
                <a:solidFill>
                  <a:schemeClr val="accent1"/>
                </a:solidFill>
              </a:rPr>
              <a:t>→ 管理側と従業員側が連携を取れず現場の時間を奪っている</a:t>
            </a:r>
            <a:endParaRPr lang="ja-JP" sz="2000"/>
          </a:p>
        </p:txBody>
      </p:sp>
      <p:sp>
        <p:nvSpPr>
          <p:cNvPr id="20" name="Text 0">
            <a:extLst>
              <a:ext uri="{FF2B5EF4-FFF2-40B4-BE49-F238E27FC236}">
                <a16:creationId xmlns:a16="http://schemas.microsoft.com/office/drawing/2014/main" id="{7C79A568-7010-8459-C450-2DF4BC5508D6}"/>
              </a:ext>
            </a:extLst>
          </p:cNvPr>
          <p:cNvSpPr txBox="1">
            <a:spLocks/>
          </p:cNvSpPr>
          <p:nvPr/>
        </p:nvSpPr>
        <p:spPr>
          <a:xfrm>
            <a:off x="513892" y="1554480"/>
            <a:ext cx="11094415" cy="73152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2"/>
                </a:solidFill>
                <a:latin typeface="+mj-lt"/>
                <a:ea typeface="+mj-ea"/>
                <a:cs typeface="+mj-cs"/>
              </a:defRPr>
            </a:lvl1pPr>
          </a:lstStyle>
          <a:p>
            <a:r>
              <a:rPr lang="ja-JP" altLang="en-US" sz="2400"/>
              <a:t>問題点</a:t>
            </a:r>
            <a:endParaRPr lang="ja-JP" sz="24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500"/>
                                        <p:tgtEl>
                                          <p:spTgt spid="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795528"/>
            <a:ext cx="11094415" cy="731520"/>
          </a:xfrm>
          <a:prstGeom prst="rect">
            <a:avLst/>
          </a:prstGeom>
          <a:noFill/>
          <a:ln/>
        </p:spPr>
        <p:txBody>
          <a:bodyPr wrap="square" lIns="0" tIns="0" rIns="0" bIns="0" rtlCol="0" anchor="ctr"/>
          <a:lstStyle/>
          <a:p>
            <a:pPr marL="0" indent="0" algn="l">
              <a:buNone/>
            </a:pPr>
            <a:r>
              <a:rPr lang="ja-JP" altLang="en-US" sz="2400" b="1">
                <a:solidFill>
                  <a:schemeClr val="tx2"/>
                </a:solidFill>
              </a:rPr>
              <a:t>現場の無駄をなくし、人と仕事を最適に結び付ける</a:t>
            </a:r>
            <a:endParaRPr lang="ja-JP" sz="2400"/>
          </a:p>
        </p:txBody>
      </p:sp>
      <p:sp>
        <p:nvSpPr>
          <p:cNvPr id="4" name="目的_見出し左"/>
          <p:cNvSpPr txBox="1"/>
          <p:nvPr/>
        </p:nvSpPr>
        <p:spPr>
          <a:xfrm>
            <a:off x="548640" y="1554480"/>
            <a:ext cx="3291840" cy="320040"/>
          </a:xfrm>
          <a:prstGeom prst="rect">
            <a:avLst/>
          </a:prstGeom>
          <a:noFill/>
          <a:ln/>
        </p:spPr>
        <p:txBody>
          <a:bodyPr wrap="square" lIns="0" tIns="0" rIns="0" bIns="0" rtlCol="0" anchor="ctr"/>
          <a:lstStyle/>
          <a:p>
            <a:pPr marL="0" indent="0">
              <a:buNone/>
            </a:pPr>
            <a:r>
              <a:rPr lang="ja-JP" altLang="en-US" sz="1400">
                <a:solidFill>
                  <a:schemeClr val="accent4"/>
                </a:solidFill>
              </a:rPr>
              <a:t>現状の問題</a:t>
            </a:r>
            <a:endParaRPr lang="ja-JP" sz="1400"/>
          </a:p>
        </p:txBody>
      </p:sp>
      <p:sp>
        <p:nvSpPr>
          <p:cNvPr id="5" name="目的_見出し右"/>
          <p:cNvSpPr txBox="1"/>
          <p:nvPr/>
        </p:nvSpPr>
        <p:spPr>
          <a:xfrm>
            <a:off x="4754880" y="1554480"/>
            <a:ext cx="3657600" cy="320040"/>
          </a:xfrm>
          <a:prstGeom prst="rect">
            <a:avLst/>
          </a:prstGeom>
          <a:noFill/>
          <a:ln/>
        </p:spPr>
        <p:txBody>
          <a:bodyPr wrap="square" lIns="0" tIns="0" rIns="0" bIns="0" rtlCol="0" anchor="ctr"/>
          <a:lstStyle/>
          <a:p>
            <a:pPr marL="0" indent="0">
              <a:buNone/>
            </a:pPr>
            <a:r>
              <a:rPr lang="ja-JP" altLang="en-US" sz="1400" b="1">
                <a:solidFill>
                  <a:schemeClr val="accent1"/>
                </a:solidFill>
              </a:rPr>
              <a:t>Gemmba</a:t>
            </a:r>
            <a:r>
              <a:rPr lang="en-US" altLang="ja-JP" sz="1400" b="1">
                <a:solidFill>
                  <a:schemeClr val="accent1"/>
                </a:solidFill>
              </a:rPr>
              <a:t>(</a:t>
            </a:r>
            <a:r>
              <a:rPr lang="ja-JP" altLang="en-US" sz="1400" b="1">
                <a:solidFill>
                  <a:schemeClr val="accent1"/>
                </a:solidFill>
              </a:rPr>
              <a:t>本システム</a:t>
            </a:r>
            <a:r>
              <a:rPr lang="en-US" altLang="ja-JP" sz="1400" b="1">
                <a:solidFill>
                  <a:schemeClr val="accent1"/>
                </a:solidFill>
              </a:rPr>
              <a:t>)</a:t>
            </a:r>
            <a:endParaRPr lang="ja-JP" sz="1400"/>
          </a:p>
        </p:txBody>
      </p:sp>
      <p:sp>
        <p:nvSpPr>
          <p:cNvPr id="6" name="目的_問題1"/>
          <p:cNvSpPr/>
          <p:nvPr/>
        </p:nvSpPr>
        <p:spPr>
          <a:xfrm>
            <a:off x="548640" y="196596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7" name="目的_問題1_文字"/>
          <p:cNvSpPr txBox="1"/>
          <p:nvPr/>
        </p:nvSpPr>
        <p:spPr>
          <a:xfrm>
            <a:off x="777240" y="1965960"/>
            <a:ext cx="2834640" cy="960120"/>
          </a:xfrm>
          <a:prstGeom prst="rect">
            <a:avLst/>
          </a:prstGeom>
          <a:noFill/>
          <a:ln/>
        </p:spPr>
        <p:txBody>
          <a:bodyPr wrap="square" lIns="0" tIns="0" rIns="0" bIns="0" rtlCol="0" anchor="ctr"/>
          <a:lstStyle/>
          <a:p>
            <a:pPr marL="0" indent="0">
              <a:buNone/>
            </a:pPr>
            <a:r>
              <a:rPr lang="ja-JP" altLang="en-US" sz="1800">
                <a:solidFill>
                  <a:schemeClr val="accent4"/>
                </a:solidFill>
              </a:rPr>
              <a:t>使用状況が見えない</a:t>
            </a:r>
            <a:endParaRPr lang="ja-JP" sz="1800"/>
          </a:p>
        </p:txBody>
      </p:sp>
      <p:sp>
        <p:nvSpPr>
          <p:cNvPr id="8" name="目的_矢印1"/>
          <p:cNvSpPr/>
          <p:nvPr/>
        </p:nvSpPr>
        <p:spPr>
          <a:xfrm>
            <a:off x="4023360" y="224485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9" name="目的_目標1"/>
          <p:cNvSpPr/>
          <p:nvPr/>
        </p:nvSpPr>
        <p:spPr>
          <a:xfrm>
            <a:off x="4754880" y="196596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0" name="目的_目標1_文字"/>
          <p:cNvSpPr txBox="1"/>
          <p:nvPr/>
        </p:nvSpPr>
        <p:spPr>
          <a:xfrm>
            <a:off x="5029200" y="1965960"/>
            <a:ext cx="6339535" cy="960120"/>
          </a:xfrm>
          <a:prstGeom prst="rect">
            <a:avLst/>
          </a:prstGeom>
          <a:noFill/>
          <a:ln/>
        </p:spPr>
        <p:txBody>
          <a:bodyPr wrap="square" lIns="0" tIns="0" rIns="0" bIns="0" rtlCol="0" anchor="ctr"/>
          <a:lstStyle/>
          <a:p>
            <a:pPr marL="0" indent="0">
              <a:buNone/>
            </a:pPr>
            <a:r>
              <a:rPr lang="ja-JP" altLang="en-US" sz="2000" b="1">
                <a:solidFill>
                  <a:schemeClr val="tx2"/>
                </a:solidFill>
              </a:rPr>
              <a:t>機材と人の状況を、常に正しく見える化する</a:t>
            </a:r>
            <a:endParaRPr lang="ja-JP" sz="2000"/>
          </a:p>
        </p:txBody>
      </p:sp>
      <p:sp>
        <p:nvSpPr>
          <p:cNvPr id="11" name="目的_問題2"/>
          <p:cNvSpPr/>
          <p:nvPr/>
        </p:nvSpPr>
        <p:spPr>
          <a:xfrm>
            <a:off x="548640" y="315468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2" name="目的_問題2_文字"/>
          <p:cNvSpPr txBox="1"/>
          <p:nvPr/>
        </p:nvSpPr>
        <p:spPr>
          <a:xfrm>
            <a:off x="777240" y="3154680"/>
            <a:ext cx="2834640" cy="960120"/>
          </a:xfrm>
          <a:prstGeom prst="rect">
            <a:avLst/>
          </a:prstGeom>
          <a:noFill/>
          <a:ln/>
        </p:spPr>
        <p:txBody>
          <a:bodyPr wrap="square" lIns="0" tIns="0" rIns="0" bIns="0" rtlCol="0" anchor="ctr"/>
          <a:lstStyle/>
          <a:p>
            <a:pPr marL="0" indent="0">
              <a:buNone/>
            </a:pPr>
            <a:r>
              <a:rPr lang="ja-JP" altLang="en-US" sz="1800">
                <a:solidFill>
                  <a:schemeClr val="accent4"/>
                </a:solidFill>
              </a:rPr>
              <a:t>仕事が偏る・忘れられる</a:t>
            </a:r>
            <a:endParaRPr lang="ja-JP" sz="1800"/>
          </a:p>
        </p:txBody>
      </p:sp>
      <p:sp>
        <p:nvSpPr>
          <p:cNvPr id="13" name="目的_矢印2"/>
          <p:cNvSpPr/>
          <p:nvPr/>
        </p:nvSpPr>
        <p:spPr>
          <a:xfrm>
            <a:off x="4023360" y="343357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目的_目標2"/>
          <p:cNvSpPr/>
          <p:nvPr/>
        </p:nvSpPr>
        <p:spPr>
          <a:xfrm>
            <a:off x="4754880" y="315468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15" name="目的_目標2_文字"/>
          <p:cNvSpPr txBox="1"/>
          <p:nvPr/>
        </p:nvSpPr>
        <p:spPr>
          <a:xfrm>
            <a:off x="5029200" y="3154680"/>
            <a:ext cx="6339535" cy="960120"/>
          </a:xfrm>
          <a:prstGeom prst="rect">
            <a:avLst/>
          </a:prstGeom>
          <a:noFill/>
          <a:ln/>
        </p:spPr>
        <p:txBody>
          <a:bodyPr wrap="square" lIns="0" tIns="0" rIns="0" bIns="0" rtlCol="0" anchor="ctr"/>
          <a:lstStyle/>
          <a:p>
            <a:pPr marL="0" indent="0">
              <a:buNone/>
            </a:pPr>
            <a:r>
              <a:rPr lang="ja-JP" altLang="en-US" sz="2000" b="1">
                <a:solidFill>
                  <a:schemeClr val="tx2"/>
                </a:solidFill>
              </a:rPr>
              <a:t>実績データをもとに、偏りなく最適な人へ割り当てる</a:t>
            </a:r>
            <a:endParaRPr lang="ja-JP" sz="2000"/>
          </a:p>
        </p:txBody>
      </p:sp>
      <p:sp>
        <p:nvSpPr>
          <p:cNvPr id="16" name="目的_問題3"/>
          <p:cNvSpPr/>
          <p:nvPr/>
        </p:nvSpPr>
        <p:spPr>
          <a:xfrm>
            <a:off x="548640" y="4343400"/>
            <a:ext cx="3291840" cy="960120"/>
          </a:xfrm>
          <a:prstGeom prst="roundRect">
            <a:avLst>
              <a:gd name="adj" fmla="val 7619"/>
            </a:avLst>
          </a:prstGeom>
          <a:solidFill>
            <a:schemeClr val="bg2"/>
          </a:solidFill>
          <a:ln w="12700">
            <a:solidFill>
              <a:schemeClr val="bg2"/>
            </a:solidFill>
            <a:prstDash val="solid"/>
          </a:ln>
        </p:spPr>
        <p:txBody>
          <a:bodyPr/>
          <a:lstStyle/>
          <a:p>
            <a:endParaRPr lang="ja-JP" altLang="en-US"/>
          </a:p>
        </p:txBody>
      </p:sp>
      <p:sp>
        <p:nvSpPr>
          <p:cNvPr id="17" name="目的_問題3_文字"/>
          <p:cNvSpPr txBox="1"/>
          <p:nvPr/>
        </p:nvSpPr>
        <p:spPr>
          <a:xfrm>
            <a:off x="777240" y="4343400"/>
            <a:ext cx="2834640" cy="960120"/>
          </a:xfrm>
          <a:prstGeom prst="rect">
            <a:avLst/>
          </a:prstGeom>
          <a:noFill/>
          <a:ln/>
        </p:spPr>
        <p:txBody>
          <a:bodyPr wrap="square" lIns="0" tIns="0" rIns="0" bIns="0" rtlCol="0" anchor="ctr"/>
          <a:lstStyle/>
          <a:p>
            <a:pPr marL="0" indent="0">
              <a:buNone/>
            </a:pPr>
            <a:r>
              <a:rPr lang="ja-JP" altLang="en-US" sz="1800">
                <a:solidFill>
                  <a:schemeClr val="accent4"/>
                </a:solidFill>
              </a:rPr>
              <a:t>探す・聞く手間</a:t>
            </a:r>
            <a:endParaRPr lang="ja-JP" sz="1800"/>
          </a:p>
        </p:txBody>
      </p:sp>
      <p:sp>
        <p:nvSpPr>
          <p:cNvPr id="18" name="目的_矢印3"/>
          <p:cNvSpPr/>
          <p:nvPr/>
        </p:nvSpPr>
        <p:spPr>
          <a:xfrm>
            <a:off x="4023360" y="4622292"/>
            <a:ext cx="54864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9" name="目的_目標3"/>
          <p:cNvSpPr/>
          <p:nvPr/>
        </p:nvSpPr>
        <p:spPr>
          <a:xfrm>
            <a:off x="4754880" y="4343400"/>
            <a:ext cx="6888175" cy="960120"/>
          </a:xfrm>
          <a:prstGeom prst="roundRect">
            <a:avLst>
              <a:gd name="adj" fmla="val 7619"/>
            </a:avLst>
          </a:prstGeom>
          <a:solidFill>
            <a:schemeClr val="accent5"/>
          </a:solidFill>
          <a:ln w="12700">
            <a:solidFill>
              <a:schemeClr val="accent5"/>
            </a:solidFill>
            <a:prstDash val="solid"/>
          </a:ln>
        </p:spPr>
        <p:txBody>
          <a:bodyPr/>
          <a:lstStyle/>
          <a:p>
            <a:endParaRPr lang="ja-JP" altLang="en-US"/>
          </a:p>
        </p:txBody>
      </p:sp>
      <p:sp>
        <p:nvSpPr>
          <p:cNvPr id="20" name="目的_目標3_文字"/>
          <p:cNvSpPr txBox="1"/>
          <p:nvPr/>
        </p:nvSpPr>
        <p:spPr>
          <a:xfrm>
            <a:off x="5029200" y="4343400"/>
            <a:ext cx="6339535" cy="960120"/>
          </a:xfrm>
          <a:prstGeom prst="rect">
            <a:avLst/>
          </a:prstGeom>
          <a:noFill/>
          <a:ln/>
        </p:spPr>
        <p:txBody>
          <a:bodyPr wrap="square" lIns="0" tIns="0" rIns="0" bIns="0" rtlCol="0" anchor="ctr"/>
          <a:lstStyle/>
          <a:p>
            <a:pPr marL="0" indent="0">
              <a:buNone/>
            </a:pPr>
            <a:r>
              <a:rPr lang="ja-JP" altLang="en-US" sz="2000" b="1">
                <a:solidFill>
                  <a:schemeClr val="tx2"/>
                </a:solidFill>
              </a:rPr>
              <a:t>タッチした瞬間に、その場でやるべき仕事を示す</a:t>
            </a:r>
            <a:endParaRPr lang="ja-JP" sz="2000"/>
          </a:p>
        </p:txBody>
      </p:sp>
      <p:sp>
        <p:nvSpPr>
          <p:cNvPr id="21" name="目的_方針"/>
          <p:cNvSpPr txBox="1"/>
          <p:nvPr/>
        </p:nvSpPr>
        <p:spPr>
          <a:xfrm>
            <a:off x="548640" y="5623560"/>
            <a:ext cx="11094415" cy="457200"/>
          </a:xfrm>
          <a:prstGeom prst="rect">
            <a:avLst/>
          </a:prstGeom>
          <a:noFill/>
          <a:ln/>
        </p:spPr>
        <p:txBody>
          <a:bodyPr wrap="square" lIns="0" tIns="0" rIns="0" bIns="0" rtlCol="0" anchor="ctr"/>
          <a:lstStyle/>
          <a:p>
            <a:pPr marL="0" indent="0">
              <a:buNone/>
            </a:pPr>
            <a:r>
              <a:rPr lang="ja-JP" altLang="en-US" sz="1800" b="1">
                <a:solidFill>
                  <a:schemeClr val="tx2"/>
                </a:solidFill>
              </a:rPr>
              <a:t>設計の方針：</a:t>
            </a:r>
            <a:r>
              <a:rPr lang="ja-JP" altLang="en-US" sz="1800">
                <a:solidFill>
                  <a:schemeClr val="tx1"/>
                </a:solidFill>
              </a:rPr>
              <a:t>遠隔予約を作らない ／ 操作はタッチとボタンだけ ／ IT 担当者がいなくても導入できる</a:t>
            </a:r>
            <a:endParaRPr lang="ja-JP" sz="18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3</a:t>
            </a:fld>
            <a:endParaRPr lang="en-US"/>
          </a:p>
        </p:txBody>
      </p:sp>
      <p:sp>
        <p:nvSpPr>
          <p:cNvPr id="24" name="Text 0">
            <a:extLst>
              <a:ext uri="{FF2B5EF4-FFF2-40B4-BE49-F238E27FC236}">
                <a16:creationId xmlns:a16="http://schemas.microsoft.com/office/drawing/2014/main" id="{692FBD7E-E2C8-C59F-EC47-62BF9976DBFC}"/>
              </a:ext>
            </a:extLst>
          </p:cNvPr>
          <p:cNvSpPr txBox="1">
            <a:spLocks/>
          </p:cNvSpPr>
          <p:nvPr/>
        </p:nvSpPr>
        <p:spPr>
          <a:xfrm>
            <a:off x="513892" y="274320"/>
            <a:ext cx="11094415" cy="73152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2"/>
                </a:solidFill>
                <a:latin typeface="+mj-lt"/>
                <a:ea typeface="+mj-ea"/>
                <a:cs typeface="+mj-cs"/>
              </a:defRPr>
            </a:lvl1pPr>
          </a:lstStyle>
          <a:p>
            <a:r>
              <a:rPr lang="ja-JP" altLang="en-US"/>
              <a:t>目的</a:t>
            </a:r>
            <a:endParaRPr lang="ja-JP"/>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500"/>
                                        <p:tgtEl>
                                          <p:spTgt spid="2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4" grpId="0" animBg="1"/>
      <p:bldP spid="15" grpId="0" animBg="1"/>
      <p:bldP spid="19" grpId="0" animBg="1"/>
      <p:bldP spid="20" grpId="0" animBg="1"/>
      <p:bldP spid="2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487832" y="32004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システムの構成</a:t>
            </a:r>
            <a:endParaRPr lang="ja-JP" sz="3200"/>
          </a:p>
        </p:txBody>
      </p:sp>
      <p:sp>
        <p:nvSpPr>
          <p:cNvPr id="4" name="構成_モジュール"/>
          <p:cNvSpPr/>
          <p:nvPr/>
        </p:nvSpPr>
        <p:spPr>
          <a:xfrm>
            <a:off x="548640" y="1600200"/>
            <a:ext cx="237744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5" name="構成_モジュール_文字"/>
          <p:cNvSpPr txBox="1"/>
          <p:nvPr/>
        </p:nvSpPr>
        <p:spPr>
          <a:xfrm>
            <a:off x="548640" y="1600200"/>
            <a:ext cx="2377440" cy="1325880"/>
          </a:xfrm>
          <a:prstGeom prst="rect">
            <a:avLst/>
          </a:prstGeom>
          <a:noFill/>
          <a:ln/>
        </p:spPr>
        <p:txBody>
          <a:bodyPr wrap="square" lIns="1270" tIns="1270" rIns="1270" bIns="1270" rtlCol="0" anchor="ctr"/>
          <a:lstStyle/>
          <a:p>
            <a:pPr marL="0" indent="0" algn="ctr">
              <a:buNone/>
            </a:pPr>
            <a:r>
              <a:rPr lang="ja-JP" altLang="en-US" sz="2000" b="1">
                <a:solidFill>
                  <a:schemeClr val="tx2"/>
                </a:solidFill>
              </a:rPr>
              <a:t>機材モジュール</a:t>
            </a:r>
            <a:endParaRPr lang="ja-JP" sz="2000"/>
          </a:p>
          <a:p>
            <a:pPr marL="0" indent="0" algn="ctr">
              <a:spcBef>
                <a:spcPts val="400"/>
              </a:spcBef>
              <a:buNone/>
            </a:pPr>
            <a:r>
              <a:rPr lang="ja-JP" altLang="en-US" sz="1400">
                <a:solidFill>
                  <a:schemeClr val="accent4"/>
                </a:solidFill>
              </a:rPr>
              <a:t>機材ごとに 1 台</a:t>
            </a:r>
            <a:endParaRPr lang="ja-JP" sz="2000"/>
          </a:p>
          <a:p>
            <a:pPr marL="0" indent="0" algn="ctr">
              <a:spcBef>
                <a:spcPts val="400"/>
              </a:spcBef>
              <a:buNone/>
            </a:pPr>
            <a:r>
              <a:rPr lang="ja-JP" altLang="en-US" sz="1400">
                <a:solidFill>
                  <a:schemeClr val="accent4"/>
                </a:solidFill>
              </a:rPr>
              <a:t>NFC・画面・ボタン・LED</a:t>
            </a:r>
            <a:endParaRPr lang="ja-JP" sz="2000"/>
          </a:p>
        </p:txBody>
      </p:sp>
      <p:sp>
        <p:nvSpPr>
          <p:cNvPr id="6" name="構成_矢印1"/>
          <p:cNvSpPr/>
          <p:nvPr/>
        </p:nvSpPr>
        <p:spPr>
          <a:xfrm>
            <a:off x="301752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7" name="構成_MQTT"/>
          <p:cNvSpPr txBox="1"/>
          <p:nvPr/>
        </p:nvSpPr>
        <p:spPr>
          <a:xfrm>
            <a:off x="2926080" y="2560320"/>
            <a:ext cx="822960" cy="274320"/>
          </a:xfrm>
          <a:prstGeom prst="rect">
            <a:avLst/>
          </a:prstGeom>
          <a:noFill/>
          <a:ln/>
        </p:spPr>
        <p:txBody>
          <a:bodyPr wrap="square" lIns="0" tIns="0" rIns="0" bIns="0" rtlCol="0" anchor="ctr"/>
          <a:lstStyle/>
          <a:p>
            <a:pPr marL="0" indent="0" algn="ctr">
              <a:buNone/>
            </a:pPr>
            <a:r>
              <a:rPr lang="ja-JP" altLang="en-US" sz="1200">
                <a:solidFill>
                  <a:schemeClr val="accent4"/>
                </a:solidFill>
              </a:rPr>
              <a:t>MQTT</a:t>
            </a:r>
            <a:endParaRPr lang="ja-JP" sz="1200"/>
          </a:p>
        </p:txBody>
      </p:sp>
      <p:sp>
        <p:nvSpPr>
          <p:cNvPr id="8" name="構成_サーバ"/>
          <p:cNvSpPr/>
          <p:nvPr/>
        </p:nvSpPr>
        <p:spPr>
          <a:xfrm>
            <a:off x="3749040" y="1600200"/>
            <a:ext cx="219456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9" name="構成_サーバ_文字"/>
          <p:cNvSpPr txBox="1"/>
          <p:nvPr/>
        </p:nvSpPr>
        <p:spPr>
          <a:xfrm>
            <a:off x="3749040" y="1600200"/>
            <a:ext cx="2194560" cy="1325880"/>
          </a:xfrm>
          <a:prstGeom prst="rect">
            <a:avLst/>
          </a:prstGeom>
          <a:noFill/>
          <a:ln/>
        </p:spPr>
        <p:txBody>
          <a:bodyPr wrap="square" lIns="1270" tIns="1270" rIns="1270" bIns="1270" rtlCol="0" anchor="ctr"/>
          <a:lstStyle/>
          <a:p>
            <a:pPr marL="0" indent="0" algn="ctr">
              <a:buNone/>
            </a:pPr>
            <a:r>
              <a:rPr lang="ja-JP" altLang="en-US" sz="2000" b="1">
                <a:solidFill>
                  <a:schemeClr val="tx2"/>
                </a:solidFill>
              </a:rPr>
              <a:t>サーバ</a:t>
            </a:r>
            <a:endParaRPr lang="ja-JP" sz="2000"/>
          </a:p>
          <a:p>
            <a:pPr marL="0" indent="0" algn="ctr">
              <a:spcBef>
                <a:spcPts val="400"/>
              </a:spcBef>
              <a:buNone/>
            </a:pPr>
            <a:r>
              <a:rPr lang="ja-JP" altLang="en-US" sz="1400">
                <a:solidFill>
                  <a:schemeClr val="accent4"/>
                </a:solidFill>
              </a:rPr>
              <a:t>Flask + SQLite</a:t>
            </a:r>
            <a:endParaRPr lang="ja-JP" sz="2000"/>
          </a:p>
          <a:p>
            <a:pPr marL="0" indent="0" algn="ctr">
              <a:spcBef>
                <a:spcPts val="400"/>
              </a:spcBef>
              <a:buNone/>
            </a:pPr>
            <a:r>
              <a:rPr lang="ja-JP" altLang="en-US" sz="1400">
                <a:solidFill>
                  <a:schemeClr val="accent4"/>
                </a:solidFill>
              </a:rPr>
              <a:t>作業者・タスク・ログ</a:t>
            </a:r>
            <a:endParaRPr lang="ja-JP" sz="2000"/>
          </a:p>
        </p:txBody>
      </p:sp>
      <p:sp>
        <p:nvSpPr>
          <p:cNvPr id="10" name="構成_矢印2"/>
          <p:cNvSpPr/>
          <p:nvPr/>
        </p:nvSpPr>
        <p:spPr>
          <a:xfrm>
            <a:off x="6035040" y="2057400"/>
            <a:ext cx="640080" cy="457200"/>
          </a:xfrm>
          <a:prstGeom prst="rightArrow">
            <a:avLst/>
          </a:prstGeom>
          <a:solidFill>
            <a:schemeClr val="accent3"/>
          </a:solidFill>
          <a:ln w="12700">
            <a:solidFill>
              <a:schemeClr val="accent3"/>
            </a:solidFill>
            <a:prstDash val="solid"/>
          </a:ln>
        </p:spPr>
        <p:txBody>
          <a:bodyPr/>
          <a:lstStyle/>
          <a:p>
            <a:endParaRPr lang="ja-JP" altLang="en-US"/>
          </a:p>
        </p:txBody>
      </p:sp>
      <p:sp>
        <p:nvSpPr>
          <p:cNvPr id="11" name="構成_HTTP"/>
          <p:cNvSpPr txBox="1"/>
          <p:nvPr/>
        </p:nvSpPr>
        <p:spPr>
          <a:xfrm>
            <a:off x="5943600" y="2560320"/>
            <a:ext cx="822960" cy="274320"/>
          </a:xfrm>
          <a:prstGeom prst="rect">
            <a:avLst/>
          </a:prstGeom>
          <a:noFill/>
          <a:ln/>
        </p:spPr>
        <p:txBody>
          <a:bodyPr wrap="square" lIns="0" tIns="0" rIns="0" bIns="0" rtlCol="0" anchor="ctr"/>
          <a:lstStyle/>
          <a:p>
            <a:pPr marL="0" indent="0" algn="ctr">
              <a:buNone/>
            </a:pPr>
            <a:r>
              <a:rPr lang="ja-JP" altLang="en-US" sz="1200">
                <a:solidFill>
                  <a:schemeClr val="accent4"/>
                </a:solidFill>
              </a:rPr>
              <a:t>ブラウザ</a:t>
            </a:r>
            <a:endParaRPr lang="ja-JP" sz="1200"/>
          </a:p>
        </p:txBody>
      </p:sp>
      <p:sp>
        <p:nvSpPr>
          <p:cNvPr id="12" name="構成_管理画面"/>
          <p:cNvSpPr/>
          <p:nvPr/>
        </p:nvSpPr>
        <p:spPr>
          <a:xfrm>
            <a:off x="6766560" y="1600200"/>
            <a:ext cx="1828800" cy="1325880"/>
          </a:xfrm>
          <a:prstGeom prst="roundRect">
            <a:avLst>
              <a:gd name="adj" fmla="val 5517"/>
            </a:avLst>
          </a:prstGeom>
          <a:solidFill>
            <a:schemeClr val="bg1"/>
          </a:solidFill>
          <a:ln w="25400">
            <a:solidFill>
              <a:schemeClr val="tx2"/>
            </a:solidFill>
            <a:prstDash val="solid"/>
          </a:ln>
        </p:spPr>
        <p:txBody>
          <a:bodyPr/>
          <a:lstStyle/>
          <a:p>
            <a:endParaRPr lang="ja-JP" altLang="en-US"/>
          </a:p>
        </p:txBody>
      </p:sp>
      <p:sp>
        <p:nvSpPr>
          <p:cNvPr id="13" name="構成_管理画面_文字"/>
          <p:cNvSpPr txBox="1"/>
          <p:nvPr/>
        </p:nvSpPr>
        <p:spPr>
          <a:xfrm>
            <a:off x="6766560" y="1600200"/>
            <a:ext cx="1828800" cy="1325880"/>
          </a:xfrm>
          <a:prstGeom prst="rect">
            <a:avLst/>
          </a:prstGeom>
          <a:noFill/>
          <a:ln/>
        </p:spPr>
        <p:txBody>
          <a:bodyPr wrap="square" lIns="1270" tIns="1270" rIns="1270" bIns="1270" rtlCol="0" anchor="ctr"/>
          <a:lstStyle/>
          <a:p>
            <a:pPr marL="0" indent="0" algn="ctr">
              <a:buNone/>
            </a:pPr>
            <a:r>
              <a:rPr lang="ja-JP" altLang="en-US" sz="2000" b="1">
                <a:solidFill>
                  <a:schemeClr val="tx2"/>
                </a:solidFill>
              </a:rPr>
              <a:t>管理画面</a:t>
            </a:r>
            <a:endParaRPr lang="ja-JP" sz="2000"/>
          </a:p>
          <a:p>
            <a:pPr marL="0" indent="0" algn="ctr">
              <a:spcBef>
                <a:spcPts val="400"/>
              </a:spcBef>
              <a:buNone/>
            </a:pPr>
            <a:r>
              <a:rPr lang="ja-JP" altLang="en-US" sz="1400">
                <a:solidFill>
                  <a:schemeClr val="accent4"/>
                </a:solidFill>
              </a:rPr>
              <a:t>登録・割当</a:t>
            </a:r>
            <a:endParaRPr lang="ja-JP" sz="2000"/>
          </a:p>
          <a:p>
            <a:pPr marL="0" indent="0" algn="ctr">
              <a:spcBef>
                <a:spcPts val="400"/>
              </a:spcBef>
              <a:buNone/>
            </a:pPr>
            <a:r>
              <a:rPr lang="ja-JP" altLang="en-US" sz="1400">
                <a:solidFill>
                  <a:schemeClr val="accent4"/>
                </a:solidFill>
              </a:rPr>
              <a:t>稼働状況</a:t>
            </a:r>
            <a:endParaRPr lang="ja-JP" sz="2000"/>
          </a:p>
        </p:txBody>
      </p:sp>
      <p:sp>
        <p:nvSpPr>
          <p:cNvPr id="14" name="構成_AI"/>
          <p:cNvSpPr/>
          <p:nvPr/>
        </p:nvSpPr>
        <p:spPr>
          <a:xfrm>
            <a:off x="3749040" y="3291840"/>
            <a:ext cx="2194560" cy="914400"/>
          </a:xfrm>
          <a:prstGeom prst="roundRect">
            <a:avLst>
              <a:gd name="adj" fmla="val 8000"/>
            </a:avLst>
          </a:prstGeom>
          <a:solidFill>
            <a:schemeClr val="accent5"/>
          </a:solidFill>
          <a:ln w="25400">
            <a:solidFill>
              <a:schemeClr val="accent1"/>
            </a:solidFill>
            <a:prstDash val="solid"/>
          </a:ln>
        </p:spPr>
        <p:txBody>
          <a:bodyPr/>
          <a:lstStyle/>
          <a:p>
            <a:endParaRPr lang="ja-JP" altLang="en-US"/>
          </a:p>
        </p:txBody>
      </p:sp>
      <p:sp>
        <p:nvSpPr>
          <p:cNvPr id="15" name="構成_AI_文字"/>
          <p:cNvSpPr txBox="1"/>
          <p:nvPr/>
        </p:nvSpPr>
        <p:spPr>
          <a:xfrm>
            <a:off x="3749040" y="3291840"/>
            <a:ext cx="2194560" cy="914400"/>
          </a:xfrm>
          <a:prstGeom prst="rect">
            <a:avLst/>
          </a:prstGeom>
          <a:noFill/>
          <a:ln/>
        </p:spPr>
        <p:txBody>
          <a:bodyPr wrap="square" lIns="1270" tIns="1270" rIns="1270" bIns="1270" rtlCol="0" anchor="ctr"/>
          <a:lstStyle/>
          <a:p>
            <a:pPr marL="0" indent="0" algn="ctr">
              <a:buNone/>
            </a:pPr>
            <a:r>
              <a:rPr lang="ja-JP" altLang="en-US" sz="2000" b="1">
                <a:solidFill>
                  <a:schemeClr val="tx2"/>
                </a:solidFill>
              </a:rPr>
              <a:t>割当 AI</a:t>
            </a:r>
            <a:endParaRPr lang="ja-JP" sz="2000"/>
          </a:p>
          <a:p>
            <a:pPr marL="0" indent="0" algn="ctr">
              <a:spcBef>
                <a:spcPts val="400"/>
              </a:spcBef>
              <a:buNone/>
            </a:pPr>
            <a:r>
              <a:rPr lang="ja-JP" altLang="en-US" sz="1400">
                <a:solidFill>
                  <a:schemeClr val="accent4"/>
                </a:solidFill>
              </a:rPr>
              <a:t>実績から学習</a:t>
            </a:r>
            <a:endParaRPr lang="ja-JP" sz="2000"/>
          </a:p>
        </p:txBody>
      </p:sp>
      <p:sp>
        <p:nvSpPr>
          <p:cNvPr id="16" name="構成_AI線"/>
          <p:cNvSpPr/>
          <p:nvPr/>
        </p:nvSpPr>
        <p:spPr>
          <a:xfrm>
            <a:off x="4846320" y="2926080"/>
            <a:ext cx="0" cy="365760"/>
          </a:xfrm>
          <a:prstGeom prst="line">
            <a:avLst/>
          </a:prstGeom>
          <a:noFill/>
          <a:ln w="31750">
            <a:solidFill>
              <a:schemeClr val="accent1"/>
            </a:solidFill>
            <a:prstDash val="solid"/>
          </a:ln>
        </p:spPr>
        <p:txBody>
          <a:bodyPr/>
          <a:lstStyle/>
          <a:p>
            <a:endParaRPr lang="ja-JP" altLang="en-US"/>
          </a:p>
        </p:txBody>
      </p:sp>
      <p:sp>
        <p:nvSpPr>
          <p:cNvPr id="17" name="構成_説明"/>
          <p:cNvSpPr txBox="1"/>
          <p:nvPr/>
        </p:nvSpPr>
        <p:spPr>
          <a:xfrm>
            <a:off x="548640" y="4434840"/>
            <a:ext cx="8046720" cy="1828800"/>
          </a:xfrm>
          <a:prstGeom prst="rect">
            <a:avLst/>
          </a:prstGeom>
          <a:noFill/>
          <a:ln/>
        </p:spPr>
        <p:txBody>
          <a:bodyPr wrap="square" lIns="0" tIns="0" rIns="0" bIns="0" rtlCol="0" anchor="t"/>
          <a:lstStyle/>
          <a:p>
            <a:pPr marL="0" indent="0">
              <a:buNone/>
            </a:pPr>
            <a:r>
              <a:rPr lang="ja-JP" altLang="en-US" sz="1800" b="1">
                <a:solidFill>
                  <a:schemeClr val="tx2"/>
                </a:solidFill>
              </a:rPr>
              <a:t>すべての操作は腕輪型デバイスのタッチから開始</a:t>
            </a:r>
            <a:endParaRPr lang="ja-JP" sz="1800"/>
          </a:p>
          <a:p>
            <a:pPr marL="203200" indent="-203200">
              <a:spcBef>
                <a:spcPts val="600"/>
              </a:spcBef>
              <a:buSzPct val="100000"/>
              <a:buChar char="•"/>
            </a:pPr>
            <a:r>
              <a:rPr lang="ja-JP" altLang="en-US" sz="1600">
                <a:solidFill>
                  <a:schemeClr val="tx1"/>
                </a:solidFill>
              </a:rPr>
              <a:t>従業員は </a:t>
            </a:r>
            <a:r>
              <a:rPr lang="en-US" altLang="ja-JP" sz="1600">
                <a:solidFill>
                  <a:schemeClr val="tx1"/>
                </a:solidFill>
              </a:rPr>
              <a:t>IC </a:t>
            </a:r>
            <a:r>
              <a:rPr lang="ja-JP" altLang="en-US" sz="1600">
                <a:solidFill>
                  <a:schemeClr val="tx1"/>
                </a:solidFill>
              </a:rPr>
              <a:t>チップ入りの腕輪を社員証の代わりに着け、機材にタッチする</a:t>
            </a:r>
          </a:p>
          <a:p>
            <a:pPr marL="203200" indent="-203200">
              <a:spcBef>
                <a:spcPts val="600"/>
              </a:spcBef>
              <a:buSzPct val="100000"/>
              <a:buChar char="•"/>
            </a:pPr>
            <a:r>
              <a:rPr lang="ja-JP" altLang="en-US" sz="1600">
                <a:solidFill>
                  <a:schemeClr val="tx1"/>
                </a:solidFill>
              </a:rPr>
              <a:t>1 回のタッチで機材のロック・作業の開始／完了の報告・所要時間の記録まで済む</a:t>
            </a:r>
            <a:endParaRPr lang="ja-JP" sz="1800"/>
          </a:p>
          <a:p>
            <a:pPr marL="203200" indent="-203200">
              <a:spcBef>
                <a:spcPts val="600"/>
              </a:spcBef>
              <a:buSzPct val="100000"/>
              <a:buChar char="•"/>
            </a:pPr>
            <a:r>
              <a:rPr lang="ja-JP" altLang="en-US" sz="1600">
                <a:solidFill>
                  <a:schemeClr val="tx1"/>
                </a:solidFill>
              </a:rPr>
              <a:t>遠隔予約はあえて作らない → 画面と現場の状態が常に一致する</a:t>
            </a:r>
            <a:endParaRPr lang="ja-JP" sz="1800"/>
          </a:p>
          <a:p>
            <a:pPr marL="203200" indent="-203200">
              <a:spcBef>
                <a:spcPts val="600"/>
              </a:spcBef>
              <a:buSzPct val="100000"/>
              <a:buChar char="•"/>
            </a:pPr>
            <a:r>
              <a:rPr lang="ja-JP" altLang="en-US" sz="1600">
                <a:solidFill>
                  <a:schemeClr val="tx1"/>
                </a:solidFill>
              </a:rPr>
              <a:t>部品は安価な汎用品（試作機：</a:t>
            </a:r>
            <a:r>
              <a:rPr lang="en-US" altLang="ja-JP" sz="1600"/>
              <a:t>ESP32</a:t>
            </a:r>
            <a:r>
              <a:rPr lang="ja-JP" altLang="en-US" sz="1600">
                <a:solidFill>
                  <a:schemeClr val="tx1"/>
                </a:solidFill>
              </a:rPr>
              <a:t>＋NFC リーダー＋小型画面）</a:t>
            </a:r>
            <a:endParaRPr lang="ja-JP" sz="1800"/>
          </a:p>
        </p:txBody>
      </p:sp>
      <p:sp>
        <p:nvSpPr>
          <p:cNvPr id="19" name="構成_写真説明"/>
          <p:cNvSpPr txBox="1"/>
          <p:nvPr/>
        </p:nvSpPr>
        <p:spPr>
          <a:xfrm>
            <a:off x="8945575" y="3506290"/>
            <a:ext cx="2697480" cy="320040"/>
          </a:xfrm>
          <a:prstGeom prst="rect">
            <a:avLst/>
          </a:prstGeom>
          <a:noFill/>
          <a:ln/>
        </p:spPr>
        <p:txBody>
          <a:bodyPr wrap="square" lIns="0" tIns="0" rIns="0" bIns="0" rtlCol="0" anchor="ctr"/>
          <a:lstStyle/>
          <a:p>
            <a:pPr marL="0" indent="0" algn="ctr">
              <a:buNone/>
            </a:pPr>
            <a:r>
              <a:rPr lang="ja-JP" altLang="en-US" sz="1200">
                <a:solidFill>
                  <a:schemeClr val="accent4"/>
                </a:solidFill>
              </a:rPr>
              <a:t>試作した機材モジュール</a:t>
            </a:r>
            <a:endParaRPr lang="ja-JP" sz="12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4</a:t>
            </a:fld>
            <a:endParaRPr lang="en-US"/>
          </a:p>
        </p:txBody>
      </p:sp>
      <p:pic>
        <p:nvPicPr>
          <p:cNvPr id="21" name="構成_腕輪写真">
            <a:extLst>
              <a:ext uri="{FF2B5EF4-FFF2-40B4-BE49-F238E27FC236}">
                <a16:creationId xmlns:a16="http://schemas.microsoft.com/office/drawing/2014/main" id="{030D061D-F1C0-6092-95D6-52A65E6541E5}"/>
              </a:ext>
            </a:extLst>
          </p:cNvPr>
          <p:cNvPicPr>
            <a:picLocks noChangeAspect="1"/>
          </p:cNvPicPr>
          <p:nvPr/>
        </p:nvPicPr>
        <p:blipFill>
          <a:blip r:embed="rId3"/>
          <a:stretch>
            <a:fillRect/>
          </a:stretch>
        </p:blipFill>
        <p:spPr>
          <a:xfrm>
            <a:off x="9385761" y="3886200"/>
            <a:ext cx="1817107" cy="1600200"/>
          </a:xfrm>
          <a:prstGeom prst="rect">
            <a:avLst/>
          </a:prstGeom>
        </p:spPr>
      </p:pic>
      <p:sp>
        <p:nvSpPr>
          <p:cNvPr id="22" name="構成_腕輪写真説明">
            <a:extLst>
              <a:ext uri="{FF2B5EF4-FFF2-40B4-BE49-F238E27FC236}">
                <a16:creationId xmlns:a16="http://schemas.microsoft.com/office/drawing/2014/main" id="{22B64C99-85AB-4108-0D53-2F7AF872058D}"/>
              </a:ext>
            </a:extLst>
          </p:cNvPr>
          <p:cNvSpPr txBox="1"/>
          <p:nvPr/>
        </p:nvSpPr>
        <p:spPr>
          <a:xfrm>
            <a:off x="8945575" y="5541264"/>
            <a:ext cx="2697480" cy="320040"/>
          </a:xfrm>
          <a:prstGeom prst="rect">
            <a:avLst/>
          </a:prstGeom>
          <a:noFill/>
          <a:ln/>
        </p:spPr>
        <p:txBody>
          <a:bodyPr wrap="square" lIns="0" tIns="0" rIns="0" bIns="0" rtlCol="0" anchor="ctr"/>
          <a:lstStyle/>
          <a:p>
            <a:pPr marL="0" indent="0" algn="ctr">
              <a:buNone/>
            </a:pPr>
            <a:r>
              <a:rPr lang="ja-JP" altLang="en-US" sz="1200">
                <a:solidFill>
                  <a:schemeClr val="accent4"/>
                </a:solidFill>
              </a:rPr>
              <a:t>腕輪型デバイス（</a:t>
            </a:r>
            <a:r>
              <a:rPr lang="en-US" altLang="ja-JP" sz="1200">
                <a:solidFill>
                  <a:schemeClr val="accent4"/>
                </a:solidFill>
              </a:rPr>
              <a:t>IC </a:t>
            </a:r>
            <a:r>
              <a:rPr lang="ja-JP" altLang="en-US" sz="1200">
                <a:solidFill>
                  <a:schemeClr val="accent4"/>
                </a:solidFill>
              </a:rPr>
              <a:t>チップ入り）</a:t>
            </a:r>
            <a:endParaRPr lang="ja-JP" sz="1200"/>
          </a:p>
        </p:txBody>
      </p:sp>
      <p:pic>
        <p:nvPicPr>
          <p:cNvPr id="23" name="図 22">
            <a:extLst>
              <a:ext uri="{FF2B5EF4-FFF2-40B4-BE49-F238E27FC236}">
                <a16:creationId xmlns:a16="http://schemas.microsoft.com/office/drawing/2014/main" id="{7656FF64-FCE5-1546-F5A0-ADA1E90FEE33}"/>
              </a:ext>
            </a:extLst>
          </p:cNvPr>
          <p:cNvPicPr>
            <a:picLocks noChangeAspect="1"/>
          </p:cNvPicPr>
          <p:nvPr/>
        </p:nvPicPr>
        <p:blipFill>
          <a:blip r:embed="rId4"/>
          <a:stretch>
            <a:fillRect/>
          </a:stretch>
        </p:blipFill>
        <p:spPr>
          <a:xfrm>
            <a:off x="8961120" y="1133856"/>
            <a:ext cx="2678696" cy="23491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500"/>
                                        <p:tgtEl>
                                          <p:spTgt spid="1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18288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システムの概要</a:t>
            </a:r>
            <a:endParaRPr lang="ja-JP" sz="3200"/>
          </a:p>
        </p:txBody>
      </p:sp>
      <p:sp>
        <p:nvSpPr>
          <p:cNvPr id="6" name="画面1_説明"/>
          <p:cNvSpPr txBox="1"/>
          <p:nvPr/>
        </p:nvSpPr>
        <p:spPr>
          <a:xfrm>
            <a:off x="548640" y="3950370"/>
            <a:ext cx="5364328" cy="320040"/>
          </a:xfrm>
          <a:prstGeom prst="rect">
            <a:avLst/>
          </a:prstGeom>
          <a:noFill/>
          <a:ln/>
        </p:spPr>
        <p:txBody>
          <a:bodyPr wrap="square" lIns="0" tIns="0" rIns="0" bIns="0" rtlCol="0" anchor="ctr"/>
          <a:lstStyle/>
          <a:p>
            <a:pPr marL="0" indent="0">
              <a:buNone/>
            </a:pPr>
            <a:r>
              <a:rPr lang="ja-JP" altLang="en-US" sz="1200">
                <a:solidFill>
                  <a:schemeClr val="accent4"/>
                </a:solidFill>
              </a:rPr>
              <a:t>ダッシュボード：機材ごとの空き・使用中・担当者</a:t>
            </a:r>
            <a:endParaRPr lang="ja-JP" sz="1200"/>
          </a:p>
        </p:txBody>
      </p:sp>
      <p:sp>
        <p:nvSpPr>
          <p:cNvPr id="9" name="画面2_説明"/>
          <p:cNvSpPr txBox="1"/>
          <p:nvPr/>
        </p:nvSpPr>
        <p:spPr>
          <a:xfrm>
            <a:off x="6042811" y="3903243"/>
            <a:ext cx="5364328" cy="320040"/>
          </a:xfrm>
          <a:prstGeom prst="rect">
            <a:avLst/>
          </a:prstGeom>
          <a:noFill/>
          <a:ln/>
        </p:spPr>
        <p:txBody>
          <a:bodyPr wrap="square" lIns="0" tIns="0" rIns="0" bIns="0" rtlCol="0" anchor="ctr"/>
          <a:lstStyle/>
          <a:p>
            <a:pPr marL="0" indent="0">
              <a:buNone/>
            </a:pPr>
            <a:r>
              <a:rPr lang="ja-JP" altLang="en-US" sz="1200">
                <a:solidFill>
                  <a:schemeClr val="accent4"/>
                </a:solidFill>
              </a:rPr>
              <a:t>タスク一覧：各タスクの「AI 割当」ボタンと根拠の表示</a:t>
            </a:r>
            <a:endParaRPr lang="ja-JP" sz="1200"/>
          </a:p>
        </p:txBody>
      </p:sp>
      <p:sp>
        <p:nvSpPr>
          <p:cNvPr id="10" name="管理機能1"/>
          <p:cNvSpPr/>
          <p:nvPr/>
        </p:nvSpPr>
        <p:spPr>
          <a:xfrm>
            <a:off x="548640" y="4675911"/>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1" name="管理機能1_文字"/>
          <p:cNvSpPr txBox="1"/>
          <p:nvPr/>
        </p:nvSpPr>
        <p:spPr>
          <a:xfrm>
            <a:off x="777240" y="4858791"/>
            <a:ext cx="3027578" cy="1097280"/>
          </a:xfrm>
          <a:prstGeom prst="rect">
            <a:avLst/>
          </a:prstGeom>
          <a:noFill/>
          <a:ln/>
        </p:spPr>
        <p:txBody>
          <a:bodyPr wrap="square" lIns="0" tIns="0" rIns="0" bIns="0" rtlCol="0" anchor="t"/>
          <a:lstStyle/>
          <a:p>
            <a:pPr marL="0" indent="0">
              <a:buNone/>
            </a:pPr>
            <a:r>
              <a:rPr lang="ja-JP" altLang="en-US" sz="2000" b="1">
                <a:solidFill>
                  <a:schemeClr val="tx2"/>
                </a:solidFill>
              </a:rPr>
              <a:t>タスク登録</a:t>
            </a:r>
            <a:endParaRPr lang="ja-JP" sz="2000"/>
          </a:p>
          <a:p>
            <a:pPr marL="0" indent="0">
              <a:spcBef>
                <a:spcPts val="800"/>
              </a:spcBef>
              <a:buNone/>
            </a:pPr>
            <a:r>
              <a:rPr lang="ja-JP" altLang="en-US" sz="1600">
                <a:solidFill>
                  <a:schemeClr val="tx1"/>
                </a:solidFill>
              </a:rPr>
              <a:t>重要度・難易度・期限・数量を入力</a:t>
            </a:r>
            <a:endParaRPr lang="ja-JP" sz="2000"/>
          </a:p>
        </p:txBody>
      </p:sp>
      <p:sp>
        <p:nvSpPr>
          <p:cNvPr id="12" name="管理機能2"/>
          <p:cNvSpPr/>
          <p:nvPr/>
        </p:nvSpPr>
        <p:spPr>
          <a:xfrm>
            <a:off x="4353458" y="4675911"/>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3" name="管理機能2_文字"/>
          <p:cNvSpPr txBox="1"/>
          <p:nvPr/>
        </p:nvSpPr>
        <p:spPr>
          <a:xfrm>
            <a:off x="4582058" y="4858791"/>
            <a:ext cx="3027578" cy="1097280"/>
          </a:xfrm>
          <a:prstGeom prst="rect">
            <a:avLst/>
          </a:prstGeom>
          <a:noFill/>
          <a:ln/>
        </p:spPr>
        <p:txBody>
          <a:bodyPr wrap="square" lIns="0" tIns="0" rIns="0" bIns="0" rtlCol="0" anchor="t"/>
          <a:lstStyle/>
          <a:p>
            <a:pPr marL="0" indent="0">
              <a:buNone/>
            </a:pPr>
            <a:r>
              <a:rPr lang="ja-JP" altLang="en-US" sz="2000" b="1">
                <a:solidFill>
                  <a:schemeClr val="tx2"/>
                </a:solidFill>
              </a:rPr>
              <a:t>作業者・機材の登録</a:t>
            </a:r>
            <a:endParaRPr lang="ja-JP" sz="2000"/>
          </a:p>
          <a:p>
            <a:pPr marL="0" indent="0">
              <a:spcBef>
                <a:spcPts val="800"/>
              </a:spcBef>
              <a:buNone/>
            </a:pPr>
            <a:r>
              <a:rPr lang="ja-JP" altLang="en-US" sz="1600">
                <a:solidFill>
                  <a:schemeClr val="tx1"/>
                </a:solidFill>
              </a:rPr>
              <a:t>腕輪・モジュールはタッチで登録</a:t>
            </a:r>
            <a:endParaRPr lang="ja-JP" sz="2000"/>
          </a:p>
        </p:txBody>
      </p:sp>
      <p:sp>
        <p:nvSpPr>
          <p:cNvPr id="14" name="管理機能3"/>
          <p:cNvSpPr/>
          <p:nvPr/>
        </p:nvSpPr>
        <p:spPr>
          <a:xfrm>
            <a:off x="8158277" y="4675911"/>
            <a:ext cx="3484778" cy="1212874"/>
          </a:xfrm>
          <a:prstGeom prst="roundRect">
            <a:avLst>
              <a:gd name="adj" fmla="val 5000"/>
            </a:avLst>
          </a:prstGeom>
          <a:solidFill>
            <a:schemeClr val="bg2"/>
          </a:solidFill>
          <a:ln w="12700">
            <a:solidFill>
              <a:schemeClr val="bg2"/>
            </a:solidFill>
            <a:prstDash val="solid"/>
          </a:ln>
        </p:spPr>
        <p:txBody>
          <a:bodyPr/>
          <a:lstStyle/>
          <a:p>
            <a:endParaRPr lang="ja-JP" altLang="en-US"/>
          </a:p>
        </p:txBody>
      </p:sp>
      <p:sp>
        <p:nvSpPr>
          <p:cNvPr id="15" name="管理機能3_文字"/>
          <p:cNvSpPr txBox="1"/>
          <p:nvPr/>
        </p:nvSpPr>
        <p:spPr>
          <a:xfrm>
            <a:off x="8386877" y="4858791"/>
            <a:ext cx="3027578" cy="1097280"/>
          </a:xfrm>
          <a:prstGeom prst="rect">
            <a:avLst/>
          </a:prstGeom>
          <a:noFill/>
          <a:ln/>
        </p:spPr>
        <p:txBody>
          <a:bodyPr wrap="square" lIns="0" tIns="0" rIns="0" bIns="0" rtlCol="0" anchor="t"/>
          <a:lstStyle/>
          <a:p>
            <a:pPr marL="0" indent="0">
              <a:buNone/>
            </a:pPr>
            <a:r>
              <a:rPr lang="ja-JP" altLang="en-US" sz="2000" b="1">
                <a:solidFill>
                  <a:schemeClr val="tx2"/>
                </a:solidFill>
              </a:rPr>
              <a:t>稼働状況</a:t>
            </a:r>
            <a:endParaRPr lang="ja-JP" sz="2000"/>
          </a:p>
          <a:p>
            <a:pPr marL="0" indent="0">
              <a:spcBef>
                <a:spcPts val="800"/>
              </a:spcBef>
              <a:buNone/>
            </a:pPr>
            <a:r>
              <a:rPr lang="ja-JP" altLang="en-US" sz="1600">
                <a:solidFill>
                  <a:schemeClr val="tx1"/>
                </a:solidFill>
              </a:rPr>
              <a:t>通信が切れたモジュールも分かる</a:t>
            </a:r>
            <a:endParaRPr lang="ja-JP" sz="20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5</a:t>
            </a:fld>
            <a:endParaRPr lang="en-US"/>
          </a:p>
        </p:txBody>
      </p:sp>
      <p:sp>
        <p:nvSpPr>
          <p:cNvPr id="19" name="Text 0">
            <a:extLst>
              <a:ext uri="{FF2B5EF4-FFF2-40B4-BE49-F238E27FC236}">
                <a16:creationId xmlns:a16="http://schemas.microsoft.com/office/drawing/2014/main" id="{D6B5BC7F-1861-87B3-2F6A-A960EA8502B7}"/>
              </a:ext>
            </a:extLst>
          </p:cNvPr>
          <p:cNvSpPr txBox="1">
            <a:spLocks/>
          </p:cNvSpPr>
          <p:nvPr/>
        </p:nvSpPr>
        <p:spPr>
          <a:xfrm>
            <a:off x="548640" y="795528"/>
            <a:ext cx="11094415" cy="73152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2"/>
                </a:solidFill>
                <a:latin typeface="+mj-lt"/>
                <a:ea typeface="+mj-ea"/>
                <a:cs typeface="+mj-cs"/>
              </a:defRPr>
            </a:lvl1pPr>
          </a:lstStyle>
          <a:p>
            <a:r>
              <a:rPr lang="ja-JP" altLang="en-US" sz="2400"/>
              <a:t>管理者はブラウザで情報を一目で確認できる</a:t>
            </a:r>
            <a:endParaRPr lang="ja-JP" sz="2400"/>
          </a:p>
        </p:txBody>
      </p:sp>
      <p:pic>
        <p:nvPicPr>
          <p:cNvPr id="21" name="図 20">
            <a:extLst>
              <a:ext uri="{FF2B5EF4-FFF2-40B4-BE49-F238E27FC236}">
                <a16:creationId xmlns:a16="http://schemas.microsoft.com/office/drawing/2014/main" id="{20BF1076-B43B-6670-721D-59D4581E640B}"/>
              </a:ext>
            </a:extLst>
          </p:cNvPr>
          <p:cNvPicPr>
            <a:picLocks noChangeAspect="1"/>
          </p:cNvPicPr>
          <p:nvPr/>
        </p:nvPicPr>
        <p:blipFill>
          <a:blip r:embed="rId3"/>
          <a:stretch>
            <a:fillRect/>
          </a:stretch>
        </p:blipFill>
        <p:spPr>
          <a:xfrm>
            <a:off x="548640" y="1487471"/>
            <a:ext cx="3873866" cy="2394320"/>
          </a:xfrm>
          <a:prstGeom prst="rect">
            <a:avLst/>
          </a:prstGeom>
        </p:spPr>
      </p:pic>
      <p:pic>
        <p:nvPicPr>
          <p:cNvPr id="23" name="図 22">
            <a:extLst>
              <a:ext uri="{FF2B5EF4-FFF2-40B4-BE49-F238E27FC236}">
                <a16:creationId xmlns:a16="http://schemas.microsoft.com/office/drawing/2014/main" id="{8915F73B-ACA8-3EE2-8487-E6D205291396}"/>
              </a:ext>
            </a:extLst>
          </p:cNvPr>
          <p:cNvPicPr>
            <a:picLocks noChangeAspect="1"/>
          </p:cNvPicPr>
          <p:nvPr/>
        </p:nvPicPr>
        <p:blipFill>
          <a:blip r:embed="rId4"/>
          <a:stretch>
            <a:fillRect/>
          </a:stretch>
        </p:blipFill>
        <p:spPr>
          <a:xfrm>
            <a:off x="4870782" y="1607292"/>
            <a:ext cx="6323997" cy="211676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3657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独創的な点：記録・割当・学習を 1 回のタッチでつなぐ</a:t>
            </a:r>
            <a:endParaRPr lang="ja-JP" sz="3200"/>
          </a:p>
        </p:txBody>
      </p:sp>
      <p:sp>
        <p:nvSpPr>
          <p:cNvPr id="4" name="独創1_枠"/>
          <p:cNvSpPr/>
          <p:nvPr/>
        </p:nvSpPr>
        <p:spPr>
          <a:xfrm>
            <a:off x="548640" y="1554480"/>
            <a:ext cx="3515258" cy="3474720"/>
          </a:xfrm>
          <a:prstGeom prst="roundRect">
            <a:avLst>
              <a:gd name="adj" fmla="val 3404"/>
            </a:avLst>
          </a:prstGeom>
          <a:solidFill>
            <a:schemeClr val="bg2"/>
          </a:solidFill>
          <a:ln w="12700">
            <a:solidFill>
              <a:schemeClr val="bg2"/>
            </a:solidFill>
          </a:ln>
        </p:spPr>
        <p:txBody>
          <a:bodyPr/>
          <a:lstStyle/>
          <a:p>
            <a:endParaRPr lang="ja-JP" altLang="en-US"/>
          </a:p>
        </p:txBody>
      </p:sp>
      <p:sp>
        <p:nvSpPr>
          <p:cNvPr id="5" name="独創1_番号"/>
          <p:cNvSpPr/>
          <p:nvPr/>
        </p:nvSpPr>
        <p:spPr>
          <a:xfrm>
            <a:off x="777240" y="1783080"/>
            <a:ext cx="502920" cy="502920"/>
          </a:xfrm>
          <a:prstGeom prst="ellipse">
            <a:avLst/>
          </a:prstGeom>
          <a:solidFill>
            <a:schemeClr val="accent1"/>
          </a:solidFill>
          <a:ln w="12700">
            <a:solidFill>
              <a:schemeClr val="accent1"/>
            </a:solidFill>
          </a:ln>
        </p:spPr>
        <p:txBody>
          <a:bodyPr/>
          <a:lstStyle/>
          <a:p>
            <a:endParaRPr lang="ja-JP" altLang="en-US"/>
          </a:p>
        </p:txBody>
      </p:sp>
      <p:sp>
        <p:nvSpPr>
          <p:cNvPr id="6" name="独創1_番号_文字"/>
          <p:cNvSpPr txBox="1"/>
          <p:nvPr/>
        </p:nvSpPr>
        <p:spPr>
          <a:xfrm>
            <a:off x="777240" y="1783080"/>
            <a:ext cx="502920" cy="502920"/>
          </a:xfrm>
          <a:prstGeom prst="rect">
            <a:avLst/>
          </a:prstGeom>
          <a:noFill/>
          <a:ln/>
        </p:spPr>
        <p:txBody>
          <a:bodyPr wrap="square" lIns="0" tIns="0" rIns="0" bIns="0" rtlCol="0" anchor="ctr"/>
          <a:lstStyle/>
          <a:p>
            <a:pPr marL="0" indent="0" algn="ctr">
              <a:buNone/>
            </a:pPr>
            <a:r>
              <a:rPr lang="ja-JP" altLang="en-US" sz="2000" b="1">
                <a:solidFill>
                  <a:schemeClr val="bg1"/>
                </a:solidFill>
              </a:rPr>
              <a:t>1</a:t>
            </a:r>
            <a:endParaRPr lang="ja-JP" sz="2000"/>
          </a:p>
        </p:txBody>
      </p:sp>
      <p:sp>
        <p:nvSpPr>
          <p:cNvPr id="7" name="独創1_見出し"/>
          <p:cNvSpPr txBox="1"/>
          <p:nvPr/>
        </p:nvSpPr>
        <p:spPr>
          <a:xfrm>
            <a:off x="777240" y="2423160"/>
            <a:ext cx="3058058" cy="640080"/>
          </a:xfrm>
          <a:prstGeom prst="rect">
            <a:avLst/>
          </a:prstGeom>
          <a:noFill/>
          <a:ln/>
        </p:spPr>
        <p:txBody>
          <a:bodyPr wrap="square" lIns="0" tIns="0" rIns="0" bIns="0" rtlCol="0" anchor="t"/>
          <a:lstStyle/>
          <a:p>
            <a:pPr marL="0" indent="0" algn="l">
              <a:buNone/>
            </a:pPr>
            <a:r>
              <a:rPr lang="ja-JP" altLang="en-US" sz="1800" b="1">
                <a:solidFill>
                  <a:schemeClr val="tx2"/>
                </a:solidFill>
              </a:rPr>
              <a:t>予約ではなく、</a:t>
            </a:r>
            <a:endParaRPr lang="ja-JP" sz="1800"/>
          </a:p>
          <a:p>
            <a:pPr marL="0" indent="0" algn="l">
              <a:buNone/>
            </a:pPr>
            <a:r>
              <a:rPr lang="ja-JP" altLang="en-US" sz="1800" b="1">
                <a:solidFill>
                  <a:schemeClr val="tx2"/>
                </a:solidFill>
              </a:rPr>
              <a:t>タッチで使う人を決める</a:t>
            </a:r>
            <a:endParaRPr lang="ja-JP" sz="1800"/>
          </a:p>
        </p:txBody>
      </p:sp>
      <p:sp>
        <p:nvSpPr>
          <p:cNvPr id="8" name="独創1_説明"/>
          <p:cNvSpPr txBox="1"/>
          <p:nvPr/>
        </p:nvSpPr>
        <p:spPr>
          <a:xfrm>
            <a:off x="777240" y="3154680"/>
            <a:ext cx="3058058" cy="1737360"/>
          </a:xfrm>
          <a:prstGeom prst="rect">
            <a:avLst/>
          </a:prstGeom>
          <a:noFill/>
          <a:ln/>
        </p:spPr>
        <p:txBody>
          <a:bodyPr wrap="square" lIns="0" tIns="0" rIns="0" bIns="0" rtlCol="0" anchor="t"/>
          <a:lstStyle/>
          <a:p>
            <a:pPr marL="203200" indent="-203200" algn="l">
              <a:buSzPct val="100000"/>
              <a:buChar char="•"/>
            </a:pPr>
            <a:r>
              <a:rPr lang="ja-JP" altLang="en-US" sz="1600">
                <a:solidFill>
                  <a:schemeClr val="tx1"/>
                </a:solidFill>
              </a:rPr>
              <a:t>タッチした人だけが使える</a:t>
            </a:r>
            <a:endParaRPr lang="ja-JP" sz="1600"/>
          </a:p>
          <a:p>
            <a:pPr marL="203200" indent="-203200" algn="l">
              <a:spcBef>
                <a:spcPts val="800"/>
              </a:spcBef>
              <a:buSzPct val="100000"/>
              <a:buChar char="•"/>
            </a:pPr>
            <a:r>
              <a:rPr lang="ja-JP" altLang="en-US" sz="1600">
                <a:solidFill>
                  <a:schemeClr val="tx1"/>
                </a:solidFill>
              </a:rPr>
              <a:t>画面と現場の状態がずれない</a:t>
            </a:r>
            <a:endParaRPr lang="ja-JP" sz="1600"/>
          </a:p>
          <a:p>
            <a:pPr marL="203200" indent="-203200" algn="l">
              <a:spcBef>
                <a:spcPts val="800"/>
              </a:spcBef>
              <a:buSzPct val="100000"/>
              <a:buChar char="•"/>
            </a:pPr>
            <a:r>
              <a:rPr lang="ja-JP" altLang="en-US" sz="1600">
                <a:solidFill>
                  <a:schemeClr val="tx1"/>
                </a:solidFill>
              </a:rPr>
              <a:t>記録も同じタッチで済む</a:t>
            </a:r>
            <a:endParaRPr lang="ja-JP" sz="1600"/>
          </a:p>
        </p:txBody>
      </p:sp>
      <p:sp>
        <p:nvSpPr>
          <p:cNvPr id="9" name="独創2_枠"/>
          <p:cNvSpPr/>
          <p:nvPr/>
        </p:nvSpPr>
        <p:spPr>
          <a:xfrm>
            <a:off x="4338218" y="1554480"/>
            <a:ext cx="3515258" cy="3474720"/>
          </a:xfrm>
          <a:prstGeom prst="roundRect">
            <a:avLst>
              <a:gd name="adj" fmla="val 3404"/>
            </a:avLst>
          </a:prstGeom>
          <a:solidFill>
            <a:schemeClr val="bg2"/>
          </a:solidFill>
          <a:ln w="12700">
            <a:solidFill>
              <a:schemeClr val="bg2"/>
            </a:solidFill>
          </a:ln>
        </p:spPr>
        <p:txBody>
          <a:bodyPr/>
          <a:lstStyle/>
          <a:p>
            <a:endParaRPr lang="ja-JP" altLang="en-US"/>
          </a:p>
        </p:txBody>
      </p:sp>
      <p:sp>
        <p:nvSpPr>
          <p:cNvPr id="10" name="独創2_番号"/>
          <p:cNvSpPr/>
          <p:nvPr/>
        </p:nvSpPr>
        <p:spPr>
          <a:xfrm>
            <a:off x="4566818" y="1783080"/>
            <a:ext cx="502920" cy="502920"/>
          </a:xfrm>
          <a:prstGeom prst="ellipse">
            <a:avLst/>
          </a:prstGeom>
          <a:solidFill>
            <a:schemeClr val="accent1"/>
          </a:solidFill>
          <a:ln w="12700">
            <a:solidFill>
              <a:schemeClr val="accent1"/>
            </a:solidFill>
          </a:ln>
        </p:spPr>
        <p:txBody>
          <a:bodyPr/>
          <a:lstStyle/>
          <a:p>
            <a:endParaRPr lang="ja-JP" altLang="en-US"/>
          </a:p>
        </p:txBody>
      </p:sp>
      <p:sp>
        <p:nvSpPr>
          <p:cNvPr id="11" name="独創2_番号_文字"/>
          <p:cNvSpPr txBox="1"/>
          <p:nvPr/>
        </p:nvSpPr>
        <p:spPr>
          <a:xfrm>
            <a:off x="4566818" y="1783080"/>
            <a:ext cx="502920" cy="502920"/>
          </a:xfrm>
          <a:prstGeom prst="rect">
            <a:avLst/>
          </a:prstGeom>
          <a:noFill/>
          <a:ln/>
        </p:spPr>
        <p:txBody>
          <a:bodyPr wrap="square" lIns="0" tIns="0" rIns="0" bIns="0" rtlCol="0" anchor="ctr"/>
          <a:lstStyle/>
          <a:p>
            <a:pPr marL="0" indent="0" algn="ctr">
              <a:buNone/>
            </a:pPr>
            <a:r>
              <a:rPr lang="ja-JP" altLang="en-US" sz="2000" b="1">
                <a:solidFill>
                  <a:schemeClr val="bg1"/>
                </a:solidFill>
              </a:rPr>
              <a:t>2</a:t>
            </a:r>
            <a:endParaRPr lang="ja-JP" sz="2000"/>
          </a:p>
        </p:txBody>
      </p:sp>
      <p:sp>
        <p:nvSpPr>
          <p:cNvPr id="12" name="独創2_見出し"/>
          <p:cNvSpPr txBox="1"/>
          <p:nvPr/>
        </p:nvSpPr>
        <p:spPr>
          <a:xfrm>
            <a:off x="4566818" y="2423160"/>
            <a:ext cx="3058058" cy="640080"/>
          </a:xfrm>
          <a:prstGeom prst="rect">
            <a:avLst/>
          </a:prstGeom>
          <a:noFill/>
          <a:ln/>
        </p:spPr>
        <p:txBody>
          <a:bodyPr wrap="square" lIns="0" tIns="0" rIns="0" bIns="0" rtlCol="0" anchor="t"/>
          <a:lstStyle/>
          <a:p>
            <a:pPr marL="0" indent="0" algn="l">
              <a:buNone/>
            </a:pPr>
            <a:r>
              <a:rPr lang="ja-JP" altLang="en-US" sz="1800" b="1">
                <a:solidFill>
                  <a:schemeClr val="tx2"/>
                </a:solidFill>
              </a:rPr>
              <a:t>来た人に、</a:t>
            </a:r>
            <a:endParaRPr lang="ja-JP" sz="1800"/>
          </a:p>
          <a:p>
            <a:pPr marL="0" indent="0" algn="l">
              <a:buNone/>
            </a:pPr>
            <a:r>
              <a:rPr lang="ja-JP" altLang="en-US" sz="1800" b="1">
                <a:solidFill>
                  <a:schemeClr val="tx2"/>
                </a:solidFill>
              </a:rPr>
              <a:t>その場で仕事を選ぶ</a:t>
            </a:r>
            <a:endParaRPr lang="ja-JP" sz="1800"/>
          </a:p>
        </p:txBody>
      </p:sp>
      <p:sp>
        <p:nvSpPr>
          <p:cNvPr id="13" name="独創2_説明"/>
          <p:cNvSpPr txBox="1"/>
          <p:nvPr/>
        </p:nvSpPr>
        <p:spPr>
          <a:xfrm>
            <a:off x="4566818" y="3154680"/>
            <a:ext cx="3058058" cy="1737360"/>
          </a:xfrm>
          <a:prstGeom prst="rect">
            <a:avLst/>
          </a:prstGeom>
          <a:noFill/>
          <a:ln/>
        </p:spPr>
        <p:txBody>
          <a:bodyPr wrap="square" lIns="0" tIns="0" rIns="0" bIns="0" rtlCol="0" anchor="t"/>
          <a:lstStyle/>
          <a:p>
            <a:pPr marL="203200" indent="-203200" algn="l">
              <a:buSzPct val="100000"/>
              <a:buChar char="•"/>
            </a:pPr>
            <a:r>
              <a:rPr lang="ja-JP" altLang="en-US" sz="1600">
                <a:solidFill>
                  <a:schemeClr val="tx1"/>
                </a:solidFill>
              </a:rPr>
              <a:t>計画表を前もって組まない</a:t>
            </a:r>
            <a:endParaRPr lang="ja-JP" sz="1600"/>
          </a:p>
          <a:p>
            <a:pPr marL="203200" indent="-203200" algn="l">
              <a:spcBef>
                <a:spcPts val="800"/>
              </a:spcBef>
              <a:buSzPct val="100000"/>
              <a:buChar char="•"/>
            </a:pPr>
            <a:r>
              <a:rPr lang="ja-JP" altLang="en-US" sz="1600">
                <a:solidFill>
                  <a:schemeClr val="tx1"/>
                </a:solidFill>
              </a:rPr>
              <a:t>タッチした瞬間に割り当てる</a:t>
            </a:r>
            <a:endParaRPr lang="ja-JP" sz="1600"/>
          </a:p>
          <a:p>
            <a:pPr marL="203200" indent="-203200" algn="l">
              <a:spcBef>
                <a:spcPts val="800"/>
              </a:spcBef>
              <a:buSzPct val="100000"/>
              <a:buChar char="•"/>
            </a:pPr>
            <a:r>
              <a:rPr lang="ja-JP" altLang="en-US" sz="1600">
                <a:solidFill>
                  <a:schemeClr val="tx1"/>
                </a:solidFill>
              </a:rPr>
              <a:t>急ぎの仕事もすぐ</a:t>
            </a:r>
            <a:r>
              <a:rPr lang="ja-JP" altLang="en-US" sz="1600"/>
              <a:t>確認できる</a:t>
            </a:r>
            <a:endParaRPr lang="ja-JP" sz="1600"/>
          </a:p>
          <a:p>
            <a:pPr marL="203200" indent="-203200" algn="l">
              <a:spcBef>
                <a:spcPts val="800"/>
              </a:spcBef>
              <a:buSzPct val="100000"/>
              <a:buChar char="•"/>
            </a:pPr>
            <a:r>
              <a:rPr lang="ja-JP" altLang="en-US" sz="1600">
                <a:solidFill>
                  <a:schemeClr val="tx1"/>
                </a:solidFill>
              </a:rPr>
              <a:t>重要な仕事が他にあれば案内</a:t>
            </a:r>
            <a:endParaRPr lang="ja-JP" sz="1600"/>
          </a:p>
        </p:txBody>
      </p:sp>
      <p:sp>
        <p:nvSpPr>
          <p:cNvPr id="14" name="独創3_枠"/>
          <p:cNvSpPr/>
          <p:nvPr/>
        </p:nvSpPr>
        <p:spPr>
          <a:xfrm>
            <a:off x="8127796" y="1554480"/>
            <a:ext cx="3515258" cy="3474720"/>
          </a:xfrm>
          <a:prstGeom prst="roundRect">
            <a:avLst>
              <a:gd name="adj" fmla="val 3404"/>
            </a:avLst>
          </a:prstGeom>
          <a:solidFill>
            <a:schemeClr val="bg2"/>
          </a:solidFill>
          <a:ln w="12700">
            <a:solidFill>
              <a:schemeClr val="bg2"/>
            </a:solidFill>
          </a:ln>
        </p:spPr>
        <p:txBody>
          <a:bodyPr/>
          <a:lstStyle/>
          <a:p>
            <a:endParaRPr lang="ja-JP" altLang="en-US"/>
          </a:p>
        </p:txBody>
      </p:sp>
      <p:sp>
        <p:nvSpPr>
          <p:cNvPr id="15" name="独創3_番号"/>
          <p:cNvSpPr/>
          <p:nvPr/>
        </p:nvSpPr>
        <p:spPr>
          <a:xfrm>
            <a:off x="8356396" y="1783080"/>
            <a:ext cx="502920" cy="502920"/>
          </a:xfrm>
          <a:prstGeom prst="ellipse">
            <a:avLst/>
          </a:prstGeom>
          <a:solidFill>
            <a:schemeClr val="accent1"/>
          </a:solidFill>
          <a:ln w="12700">
            <a:solidFill>
              <a:schemeClr val="accent1"/>
            </a:solidFill>
          </a:ln>
        </p:spPr>
        <p:txBody>
          <a:bodyPr/>
          <a:lstStyle/>
          <a:p>
            <a:endParaRPr lang="ja-JP" altLang="en-US"/>
          </a:p>
        </p:txBody>
      </p:sp>
      <p:sp>
        <p:nvSpPr>
          <p:cNvPr id="16" name="独創3_番号_文字"/>
          <p:cNvSpPr txBox="1"/>
          <p:nvPr/>
        </p:nvSpPr>
        <p:spPr>
          <a:xfrm>
            <a:off x="8356396" y="1783080"/>
            <a:ext cx="502920" cy="502920"/>
          </a:xfrm>
          <a:prstGeom prst="rect">
            <a:avLst/>
          </a:prstGeom>
          <a:noFill/>
          <a:ln/>
        </p:spPr>
        <p:txBody>
          <a:bodyPr wrap="square" lIns="0" tIns="0" rIns="0" bIns="0" rtlCol="0" anchor="ctr"/>
          <a:lstStyle/>
          <a:p>
            <a:pPr marL="0" indent="0" algn="ctr">
              <a:buNone/>
            </a:pPr>
            <a:r>
              <a:rPr lang="ja-JP" altLang="en-US" sz="2000" b="1">
                <a:solidFill>
                  <a:schemeClr val="bg1"/>
                </a:solidFill>
              </a:rPr>
              <a:t>3</a:t>
            </a:r>
            <a:endParaRPr lang="ja-JP" sz="2000"/>
          </a:p>
        </p:txBody>
      </p:sp>
      <p:sp>
        <p:nvSpPr>
          <p:cNvPr id="17" name="独創3_見出し"/>
          <p:cNvSpPr txBox="1"/>
          <p:nvPr/>
        </p:nvSpPr>
        <p:spPr>
          <a:xfrm>
            <a:off x="8356396" y="2423160"/>
            <a:ext cx="3058058" cy="640080"/>
          </a:xfrm>
          <a:prstGeom prst="rect">
            <a:avLst/>
          </a:prstGeom>
          <a:noFill/>
          <a:ln/>
        </p:spPr>
        <p:txBody>
          <a:bodyPr wrap="square" lIns="0" tIns="0" rIns="0" bIns="0" rtlCol="0" anchor="t"/>
          <a:lstStyle/>
          <a:p>
            <a:pPr marL="0" indent="0" algn="l">
              <a:buNone/>
            </a:pPr>
            <a:r>
              <a:rPr lang="ja-JP" altLang="en-US" sz="1800" b="1">
                <a:solidFill>
                  <a:schemeClr val="tx2"/>
                </a:solidFill>
              </a:rPr>
              <a:t>実績から</a:t>
            </a:r>
            <a:endParaRPr lang="ja-JP" sz="1800"/>
          </a:p>
          <a:p>
            <a:pPr marL="0" indent="0" algn="l">
              <a:buNone/>
            </a:pPr>
            <a:r>
              <a:rPr lang="ja-JP" altLang="en-US" sz="1800" b="1">
                <a:solidFill>
                  <a:schemeClr val="tx2"/>
                </a:solidFill>
              </a:rPr>
              <a:t>得意・不得意を学ぶ</a:t>
            </a:r>
            <a:endParaRPr lang="ja-JP" sz="1800"/>
          </a:p>
        </p:txBody>
      </p:sp>
      <p:sp>
        <p:nvSpPr>
          <p:cNvPr id="18" name="独創3_説明"/>
          <p:cNvSpPr txBox="1"/>
          <p:nvPr/>
        </p:nvSpPr>
        <p:spPr>
          <a:xfrm>
            <a:off x="8356396" y="3154680"/>
            <a:ext cx="3058058" cy="1737360"/>
          </a:xfrm>
          <a:prstGeom prst="rect">
            <a:avLst/>
          </a:prstGeom>
          <a:noFill/>
          <a:ln/>
        </p:spPr>
        <p:txBody>
          <a:bodyPr wrap="square" lIns="0" tIns="0" rIns="0" bIns="0" rtlCol="0" anchor="t"/>
          <a:lstStyle/>
          <a:p>
            <a:pPr marL="203200" indent="-203200" algn="l">
              <a:buSzPct val="100000"/>
              <a:buChar char="•"/>
            </a:pPr>
            <a:r>
              <a:rPr lang="ja-JP" altLang="en-US" sz="1600">
                <a:solidFill>
                  <a:schemeClr val="tx1"/>
                </a:solidFill>
              </a:rPr>
              <a:t>作業時間と難しさから学ぶ</a:t>
            </a:r>
            <a:endParaRPr lang="ja-JP" sz="1600"/>
          </a:p>
          <a:p>
            <a:pPr marL="203200" indent="-203200" algn="l">
              <a:spcBef>
                <a:spcPts val="800"/>
              </a:spcBef>
              <a:buSzPct val="100000"/>
              <a:buChar char="•"/>
            </a:pPr>
            <a:r>
              <a:rPr lang="ja-JP" altLang="en-US" sz="1600">
                <a:solidFill>
                  <a:schemeClr val="tx1"/>
                </a:solidFill>
              </a:rPr>
              <a:t>新人にも試しに任せる</a:t>
            </a:r>
            <a:endParaRPr lang="ja-JP" sz="1600"/>
          </a:p>
          <a:p>
            <a:pPr marL="203200" indent="-203200" algn="l">
              <a:spcBef>
                <a:spcPts val="800"/>
              </a:spcBef>
              <a:buSzPct val="100000"/>
              <a:buChar char="•"/>
            </a:pPr>
            <a:r>
              <a:rPr lang="ja-JP" altLang="en-US" sz="1600">
                <a:solidFill>
                  <a:schemeClr val="tx1"/>
                </a:solidFill>
              </a:rPr>
              <a:t>隠れた得意分野を見つける</a:t>
            </a:r>
            <a:endParaRPr lang="ja-JP" sz="1600"/>
          </a:p>
          <a:p>
            <a:pPr marL="203200" indent="-203200" algn="l">
              <a:spcBef>
                <a:spcPts val="800"/>
              </a:spcBef>
              <a:buSzPct val="100000"/>
              <a:buChar char="•"/>
            </a:pPr>
            <a:r>
              <a:rPr lang="ja-JP" altLang="en-US" sz="1600">
                <a:solidFill>
                  <a:schemeClr val="tx1"/>
                </a:solidFill>
              </a:rPr>
              <a:t>割当の理由を画面に示す</a:t>
            </a:r>
            <a:endParaRPr lang="ja-JP" sz="1600"/>
          </a:p>
        </p:txBody>
      </p:sp>
      <p:sp>
        <p:nvSpPr>
          <p:cNvPr id="19" name="独創_まとめ"/>
          <p:cNvSpPr/>
          <p:nvPr/>
        </p:nvSpPr>
        <p:spPr>
          <a:xfrm>
            <a:off x="548640" y="5303520"/>
            <a:ext cx="11094415" cy="640080"/>
          </a:xfrm>
          <a:prstGeom prst="roundRect">
            <a:avLst>
              <a:gd name="adj" fmla="val 12000"/>
            </a:avLst>
          </a:prstGeom>
          <a:solidFill>
            <a:schemeClr val="accent5"/>
          </a:solidFill>
          <a:ln w="12700">
            <a:solidFill>
              <a:schemeClr val="accent5"/>
            </a:solidFill>
          </a:ln>
        </p:spPr>
        <p:txBody>
          <a:bodyPr/>
          <a:lstStyle/>
          <a:p>
            <a:endParaRPr lang="ja-JP" altLang="en-US"/>
          </a:p>
        </p:txBody>
      </p:sp>
      <p:sp>
        <p:nvSpPr>
          <p:cNvPr id="20" name="独創_まとめ_文字"/>
          <p:cNvSpPr txBox="1"/>
          <p:nvPr/>
        </p:nvSpPr>
        <p:spPr>
          <a:xfrm>
            <a:off x="822960" y="5303520"/>
            <a:ext cx="10545775" cy="640080"/>
          </a:xfrm>
          <a:prstGeom prst="rect">
            <a:avLst/>
          </a:prstGeom>
          <a:noFill/>
          <a:ln/>
        </p:spPr>
        <p:txBody>
          <a:bodyPr wrap="square" lIns="0" tIns="0" rIns="0" bIns="0" rtlCol="0" anchor="ctr"/>
          <a:lstStyle/>
          <a:p>
            <a:pPr marL="0" indent="0" algn="l">
              <a:buNone/>
            </a:pPr>
            <a:r>
              <a:rPr lang="ja-JP" altLang="en-US" sz="1700" b="1">
                <a:solidFill>
                  <a:schemeClr val="tx2"/>
                </a:solidFill>
              </a:rPr>
              <a:t>→ 記録したデータがそのまま次の割当に使われる。使うほど、その工場に合った割当になる</a:t>
            </a:r>
            <a:endParaRPr lang="ja-JP" sz="1700"/>
          </a:p>
        </p:txBody>
      </p:sp>
      <p:sp>
        <p:nvSpPr>
          <p:cNvPr id="21" name="Slide Number Placeholder 0"/>
          <p:cNvSpPr>
            <a:spLocks noGrp="1"/>
          </p:cNvSpPr>
          <p:nvPr>
            <p:ph type="sldNum" sz="quarter" idx="4294967295"/>
          </p:nvPr>
        </p:nvSpPr>
        <p:spPr>
          <a:xfrm>
            <a:off x="10911535" y="6400800"/>
            <a:ext cx="731520" cy="274320"/>
          </a:xfrm>
          <a:prstGeom prst="rect">
            <a:avLst/>
          </a:prstGeom>
        </p:spPr>
        <p:txBody>
          <a:bodyPr lIns="0" tIns="0" rIns="0" bIns="0"/>
          <a:lstStyle>
            <a:lvl1pPr>
              <a:defRPr sz="1100">
                <a:solidFill>
                  <a:schemeClr val="accent3"/>
                </a:solidFill>
              </a:defRPr>
            </a:lvl1pPr>
          </a:lstStyle>
          <a:p>
            <a:pPr algn="r"/>
            <a:fld id="{F7021451-1387-4CA6-816F-3879F97B5CBC}" type="slidenum">
              <a:rPr lang="en-US" b="0"/>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39" y="32004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既存の製品との比較</a:t>
            </a:r>
            <a:endParaRPr lang="ja-JP" sz="3200"/>
          </a:p>
        </p:txBody>
      </p:sp>
      <p:graphicFrame>
        <p:nvGraphicFramePr>
          <p:cNvPr id="4" name="製品比較表"/>
          <p:cNvGraphicFramePr>
            <a:graphicFrameLocks noGrp="1"/>
          </p:cNvGraphicFramePr>
          <p:nvPr/>
        </p:nvGraphicFramePr>
        <p:xfrm>
          <a:off x="548640" y="1463040"/>
          <a:ext cx="11094415" cy="3672840"/>
        </p:xfrm>
        <a:graphic>
          <a:graphicData uri="http://schemas.openxmlformats.org/drawingml/2006/table">
            <a:tbl>
              <a:tblPr/>
              <a:tblGrid>
                <a:gridCol w="22860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2224735">
                  <a:extLst>
                    <a:ext uri="{9D8B030D-6E8A-4147-A177-3AD203B41FA5}">
                      <a16:colId xmlns:a16="http://schemas.microsoft.com/office/drawing/2014/main" val="20005"/>
                    </a:ext>
                  </a:extLst>
                </a:gridCol>
              </a:tblGrid>
              <a:tr h="777240">
                <a:tc>
                  <a:txBody>
                    <a:bodyPr/>
                    <a:lstStyle/>
                    <a:p>
                      <a:pPr marL="0" indent="0" algn="l">
                        <a:buNone/>
                      </a:pPr>
                      <a:endParaRP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ja-JP" altLang="en-US" sz="1500" b="1">
                          <a:solidFill>
                            <a:schemeClr val="bg1"/>
                          </a:solidFill>
                          <a:latin typeface="BIZ UDPGothic" pitchFamily="34" charset="0"/>
                          <a:ea typeface="BIZ UDPGothic" pitchFamily="34" charset="-122"/>
                          <a:cs typeface="BIZ UDPGothic" pitchFamily="34" charset="-120"/>
                        </a:rPr>
                        <a:t>Asprova</a:t>
                      </a:r>
                    </a:p>
                    <a:p>
                      <a:pPr marL="0" indent="0" algn="ctr">
                        <a:buNone/>
                      </a:pPr>
                      <a:r>
                        <a:rPr lang="ja-JP" altLang="en-US" sz="1100">
                          <a:solidFill>
                            <a:schemeClr val="bg1"/>
                          </a:solidFill>
                          <a:latin typeface="BIZ UDPGothic" pitchFamily="34" charset="0"/>
                          <a:ea typeface="BIZ UDPGothic" pitchFamily="34" charset="-122"/>
                          <a:cs typeface="BIZ UDPGothic" pitchFamily="34" charset="-120"/>
                        </a:rPr>
                        <a:t>生産計画を立てる</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ja-JP" altLang="en-US" sz="1500" b="1">
                          <a:solidFill>
                            <a:schemeClr val="bg1"/>
                          </a:solidFill>
                          <a:latin typeface="BIZ UDPGothic" pitchFamily="34" charset="0"/>
                          <a:ea typeface="BIZ UDPGothic" pitchFamily="34" charset="-122"/>
                          <a:cs typeface="BIZ UDPGothic" pitchFamily="34" charset="-120"/>
                        </a:rPr>
                        <a:t>iXacs</a:t>
                      </a:r>
                    </a:p>
                    <a:p>
                      <a:pPr marL="0" indent="0" algn="ctr">
                        <a:buNone/>
                      </a:pPr>
                      <a:r>
                        <a:rPr lang="ja-JP" altLang="en-US" sz="1100">
                          <a:solidFill>
                            <a:schemeClr val="bg1"/>
                          </a:solidFill>
                          <a:latin typeface="BIZ UDPGothic" pitchFamily="34" charset="0"/>
                          <a:ea typeface="BIZ UDPGothic" pitchFamily="34" charset="-122"/>
                          <a:cs typeface="BIZ UDPGothic" pitchFamily="34" charset="-120"/>
                        </a:rPr>
                        <a:t>設備の稼働を監視</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ja-JP" altLang="en-US" sz="1500" b="1">
                          <a:solidFill>
                            <a:schemeClr val="bg1"/>
                          </a:solidFill>
                          <a:latin typeface="BIZ UDPGothic" pitchFamily="34" charset="0"/>
                          <a:ea typeface="BIZ UDPGothic" pitchFamily="34" charset="-122"/>
                          <a:cs typeface="BIZ UDPGothic" pitchFamily="34" charset="-120"/>
                        </a:rPr>
                        <a:t>WMステーション for NFC</a:t>
                      </a:r>
                    </a:p>
                    <a:p>
                      <a:pPr marL="0" indent="0" algn="ctr">
                        <a:buNone/>
                      </a:pPr>
                      <a:r>
                        <a:rPr lang="ja-JP" altLang="en-US" sz="1100">
                          <a:solidFill>
                            <a:schemeClr val="bg1"/>
                          </a:solidFill>
                          <a:latin typeface="BIZ UDPGothic" pitchFamily="34" charset="0"/>
                          <a:ea typeface="BIZ UDPGothic" pitchFamily="34" charset="-122"/>
                          <a:cs typeface="BIZ UDPGothic" pitchFamily="34" charset="-120"/>
                        </a:rPr>
                        <a:t>作業の実績を集める</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ja-JP" altLang="en-US" sz="1500" b="1">
                          <a:solidFill>
                            <a:schemeClr val="bg1"/>
                          </a:solidFill>
                          <a:latin typeface="BIZ UDPGothic" pitchFamily="34" charset="0"/>
                          <a:ea typeface="BIZ UDPGothic" pitchFamily="34" charset="-122"/>
                          <a:cs typeface="BIZ UDPGothic" pitchFamily="34" charset="-120"/>
                        </a:rPr>
                        <a:t>カミナシ</a:t>
                      </a:r>
                    </a:p>
                    <a:p>
                      <a:pPr marL="0" indent="0" algn="ctr">
                        <a:buNone/>
                      </a:pPr>
                      <a:r>
                        <a:rPr lang="ja-JP" altLang="en-US" sz="1100">
                          <a:solidFill>
                            <a:schemeClr val="bg1"/>
                          </a:solidFill>
                          <a:latin typeface="BIZ UDPGothic" pitchFamily="34" charset="0"/>
                          <a:ea typeface="BIZ UDPGothic" pitchFamily="34" charset="-122"/>
                          <a:cs typeface="BIZ UDPGothic" pitchFamily="34" charset="-120"/>
                        </a:rPr>
                        <a:t>現場の記録をアプリ化</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ja-JP" altLang="en-US" sz="1700" b="1">
                          <a:solidFill>
                            <a:schemeClr val="bg1"/>
                          </a:solidFill>
                          <a:latin typeface="BIZ UDPGothic" pitchFamily="34" charset="0"/>
                          <a:ea typeface="BIZ UDPGothic" pitchFamily="34" charset="-122"/>
                          <a:cs typeface="BIZ UDPGothic" pitchFamily="34" charset="-120"/>
                        </a:rPr>
                        <a:t>Gemmba</a:t>
                      </a:r>
                    </a:p>
                    <a:p>
                      <a:pPr marL="0" indent="0" algn="ctr">
                        <a:buNone/>
                      </a:pPr>
                      <a:r>
                        <a:rPr lang="ja-JP" altLang="en-US" sz="1100">
                          <a:solidFill>
                            <a:schemeClr val="bg1"/>
                          </a:solidFill>
                          <a:latin typeface="BIZ UDPGothic" pitchFamily="34" charset="0"/>
                          <a:ea typeface="BIZ UDPGothic" pitchFamily="34" charset="-122"/>
                          <a:cs typeface="BIZ UDPGothic" pitchFamily="34" charset="-120"/>
                        </a:rPr>
                        <a:t>本システム</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566928">
                <a:tc>
                  <a:txBody>
                    <a:bodyPr/>
                    <a:lstStyle/>
                    <a:p>
                      <a:pPr marL="0" indent="0" algn="l">
                        <a:buNone/>
                      </a:pPr>
                      <a:r>
                        <a:rPr lang="ja-JP" altLang="en-US" sz="1500" b="1">
                          <a:solidFill>
                            <a:schemeClr val="tx2"/>
                          </a:solidFill>
                          <a:latin typeface="BIZ UDPGothic" pitchFamily="34" charset="0"/>
                          <a:ea typeface="BIZ UDPGothic" pitchFamily="34" charset="-122"/>
                          <a:cs typeface="BIZ UDPGothic" pitchFamily="34" charset="-120"/>
                        </a:rPr>
                        <a:t>誰が使用中か分かる</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実績は別に集める</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主に機械の稼働</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IC カードで記録</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手で入力</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200" b="1">
                          <a:solidFill>
                            <a:schemeClr val="tx2"/>
                          </a:solidFill>
                          <a:latin typeface="BIZ UDPGothic" pitchFamily="34" charset="0"/>
                          <a:ea typeface="BIZ UDPGothic" pitchFamily="34" charset="-122"/>
                          <a:cs typeface="BIZ UDPGothic" pitchFamily="34" charset="-120"/>
                        </a:rPr>
                        <a:t>タッチで記録</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1"/>
                  </a:ext>
                </a:extLst>
              </a:tr>
              <a:tr h="566928">
                <a:tc>
                  <a:txBody>
                    <a:bodyPr/>
                    <a:lstStyle/>
                    <a:p>
                      <a:pPr marL="0" indent="0" algn="l">
                        <a:buNone/>
                      </a:pPr>
                      <a:r>
                        <a:rPr lang="ja-JP" altLang="en-US" sz="1500" b="1">
                          <a:solidFill>
                            <a:schemeClr val="tx2"/>
                          </a:solidFill>
                          <a:latin typeface="BIZ UDPGothic" pitchFamily="34" charset="0"/>
                          <a:ea typeface="BIZ UDPGothic" pitchFamily="34" charset="-122"/>
                          <a:cs typeface="BIZ UDPGothic" pitchFamily="34" charset="-120"/>
                        </a:rPr>
                        <a:t>作業時間の自動記録</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計画を作る製品</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センサーで自動</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かざして自動</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手で入力</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200" b="1">
                          <a:solidFill>
                            <a:schemeClr val="tx2"/>
                          </a:solidFill>
                          <a:latin typeface="BIZ UDPGothic" pitchFamily="34" charset="0"/>
                          <a:ea typeface="BIZ UDPGothic" pitchFamily="34" charset="-122"/>
                          <a:cs typeface="BIZ UDPGothic" pitchFamily="34" charset="-120"/>
                        </a:rPr>
                        <a:t>タッチで自動</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2"/>
                  </a:ext>
                </a:extLst>
              </a:tr>
              <a:tr h="566928">
                <a:tc>
                  <a:txBody>
                    <a:bodyPr/>
                    <a:lstStyle/>
                    <a:p>
                      <a:pPr marL="0" indent="0" algn="l">
                        <a:buNone/>
                      </a:pPr>
                      <a:r>
                        <a:rPr lang="ja-JP" altLang="en-US" sz="1500" b="1">
                          <a:solidFill>
                            <a:schemeClr val="tx2"/>
                          </a:solidFill>
                          <a:latin typeface="BIZ UDPGothic" pitchFamily="34" charset="0"/>
                          <a:ea typeface="BIZ UDPGothic" pitchFamily="34" charset="-122"/>
                          <a:cs typeface="BIZ UDPGothic" pitchFamily="34" charset="-120"/>
                        </a:rPr>
                        <a:t>その場で次の仕事を示す</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事前の計画表で指示</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200" b="1">
                          <a:solidFill>
                            <a:schemeClr val="tx2"/>
                          </a:solidFill>
                          <a:latin typeface="BIZ UDPGothic" pitchFamily="34" charset="0"/>
                          <a:ea typeface="BIZ UDPGothic" pitchFamily="34" charset="-122"/>
                          <a:cs typeface="BIZ UDPGothic" pitchFamily="34" charset="-120"/>
                        </a:rPr>
                        <a:t>タッチした瞬間に表示</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3"/>
                  </a:ext>
                </a:extLst>
              </a:tr>
              <a:tr h="566928">
                <a:tc>
                  <a:txBody>
                    <a:bodyPr/>
                    <a:lstStyle/>
                    <a:p>
                      <a:pPr marL="0" indent="0" algn="l">
                        <a:buNone/>
                      </a:pPr>
                      <a:r>
                        <a:rPr lang="ja-JP" altLang="en-US" sz="1500" b="1">
                          <a:solidFill>
                            <a:schemeClr val="tx2"/>
                          </a:solidFill>
                          <a:latin typeface="BIZ UDPGothic" pitchFamily="34" charset="0"/>
                          <a:ea typeface="BIZ UDPGothic" pitchFamily="34" charset="-122"/>
                          <a:cs typeface="BIZ UDPGothic" pitchFamily="34" charset="-120"/>
                        </a:rPr>
                        <a:t>得意・不得意を学ぶ</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能力は人が事前に設定</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200" b="1">
                          <a:solidFill>
                            <a:schemeClr val="tx2"/>
                          </a:solidFill>
                          <a:latin typeface="BIZ UDPGothic" pitchFamily="34" charset="0"/>
                          <a:ea typeface="BIZ UDPGothic" pitchFamily="34" charset="-122"/>
                          <a:cs typeface="BIZ UDPGothic" pitchFamily="34" charset="-120"/>
                        </a:rPr>
                        <a:t>割当の理由も示す</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4"/>
                  </a:ext>
                </a:extLst>
              </a:tr>
              <a:tr h="566928">
                <a:tc>
                  <a:txBody>
                    <a:bodyPr/>
                    <a:lstStyle/>
                    <a:p>
                      <a:pPr marL="0" indent="0" algn="l">
                        <a:buNone/>
                      </a:pPr>
                      <a:r>
                        <a:rPr lang="ja-JP" altLang="en-US" sz="1500" b="1">
                          <a:solidFill>
                            <a:schemeClr val="tx2"/>
                          </a:solidFill>
                          <a:latin typeface="BIZ UDPGothic" pitchFamily="34" charset="0"/>
                          <a:ea typeface="BIZ UDPGothic" pitchFamily="34" charset="-122"/>
                          <a:cs typeface="BIZ UDPGothic" pitchFamily="34" charset="-120"/>
                        </a:rPr>
                        <a:t>導入の手軽さ</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lgn="ctr">
                        <a:buNone/>
                      </a:pPr>
                      <a:r>
                        <a:rPr lang="ja-JP" altLang="en-US" sz="2000" b="1">
                          <a:solidFill>
                            <a:schemeClr val="accent3"/>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事前の設定が多い</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センサーを後付け</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端末にかざすだけ</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100">
                          <a:solidFill>
                            <a:schemeClr val="tx1"/>
                          </a:solidFill>
                          <a:latin typeface="BIZ UDPGothic" pitchFamily="34" charset="0"/>
                          <a:ea typeface="BIZ UDPGothic" pitchFamily="34" charset="-122"/>
                          <a:cs typeface="BIZ UDPGothic" pitchFamily="34" charset="-120"/>
                        </a:rPr>
                        <a:t>ノーコードで作れる</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lgn="ctr">
                        <a:buNone/>
                      </a:pPr>
                      <a:r>
                        <a:rPr lang="ja-JP" altLang="en-US" sz="2000" b="1">
                          <a:solidFill>
                            <a:schemeClr val="accent1"/>
                          </a:solidFill>
                          <a:latin typeface="BIZ UDPGothic" pitchFamily="34" charset="0"/>
                          <a:ea typeface="BIZ UDPGothic" pitchFamily="34" charset="-122"/>
                          <a:cs typeface="BIZ UDPGothic" pitchFamily="34" charset="-120"/>
                        </a:rPr>
                        <a:t>○</a:t>
                      </a:r>
                    </a:p>
                    <a:p>
                      <a:pPr marL="0" indent="0" algn="ctr">
                        <a:buNone/>
                      </a:pPr>
                      <a:r>
                        <a:rPr lang="ja-JP" altLang="en-US" sz="1200" b="1">
                          <a:solidFill>
                            <a:schemeClr val="tx2"/>
                          </a:solidFill>
                          <a:latin typeface="BIZ UDPGothic" pitchFamily="34" charset="0"/>
                          <a:ea typeface="BIZ UDPGothic" pitchFamily="34" charset="-122"/>
                          <a:cs typeface="BIZ UDPGothic" pitchFamily="34" charset="-120"/>
                        </a:rPr>
                        <a:t>汎用部品を後付け</a:t>
                      </a:r>
                    </a:p>
                  </a:txBody>
                  <a:tcPr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5"/>
                  </a:ext>
                </a:extLst>
              </a:tr>
            </a:tbl>
          </a:graphicData>
        </a:graphic>
      </p:graphicFrame>
      <p:sp>
        <p:nvSpPr>
          <p:cNvPr id="5" name="比較_結論"/>
          <p:cNvSpPr txBox="1"/>
          <p:nvPr/>
        </p:nvSpPr>
        <p:spPr>
          <a:xfrm>
            <a:off x="548640" y="5257800"/>
            <a:ext cx="11094415" cy="365760"/>
          </a:xfrm>
          <a:prstGeom prst="rect">
            <a:avLst/>
          </a:prstGeom>
          <a:noFill/>
          <a:ln/>
        </p:spPr>
        <p:txBody>
          <a:bodyPr wrap="square" lIns="0" tIns="0" rIns="0" bIns="0" rtlCol="0" anchor="ctr"/>
          <a:lstStyle/>
          <a:p>
            <a:pPr marL="0" indent="0" algn="l">
              <a:buNone/>
            </a:pPr>
            <a:r>
              <a:rPr lang="ja-JP" altLang="en-US" sz="1500" b="1">
                <a:solidFill>
                  <a:schemeClr val="tx2"/>
                </a:solidFill>
              </a:rPr>
              <a:t>→ 既存の製品は「計画」「監視」「記録」のどれか一つが中心。Gemmba は記録から割当までを一つにつなぐ</a:t>
            </a:r>
            <a:endParaRPr lang="ja-JP" sz="1500"/>
          </a:p>
        </p:txBody>
      </p:sp>
      <p:sp>
        <p:nvSpPr>
          <p:cNvPr id="6" name="比較_注記"/>
          <p:cNvSpPr txBox="1"/>
          <p:nvPr/>
        </p:nvSpPr>
        <p:spPr>
          <a:xfrm>
            <a:off x="548640" y="5650992"/>
            <a:ext cx="10241280" cy="228600"/>
          </a:xfrm>
          <a:prstGeom prst="rect">
            <a:avLst/>
          </a:prstGeom>
          <a:noFill/>
          <a:ln/>
        </p:spPr>
        <p:txBody>
          <a:bodyPr wrap="square" lIns="0" tIns="0" rIns="0" bIns="0" rtlCol="0" anchor="ctr"/>
          <a:lstStyle/>
          <a:p>
            <a:pPr marL="0" indent="0" algn="l">
              <a:buNone/>
            </a:pPr>
            <a:r>
              <a:rPr lang="ja-JP" altLang="en-US" sz="1000">
                <a:solidFill>
                  <a:schemeClr val="accent3"/>
                </a:solidFill>
              </a:rPr>
              <a:t>○：できる　△：一部・条件付き　×：主な機能にない　　※ 各社の公開情報をもとに作成（2026 年 10 月時点）</a:t>
            </a:r>
            <a:endParaRPr lang="ja-JP" sz="1000"/>
          </a:p>
        </p:txBody>
      </p:sp>
      <p:sp>
        <p:nvSpPr>
          <p:cNvPr id="7" name="Slide Number Placeholder 0"/>
          <p:cNvSpPr>
            <a:spLocks noGrp="1"/>
          </p:cNvSpPr>
          <p:nvPr>
            <p:ph type="sldNum" sz="quarter" idx="4294967295"/>
          </p:nvPr>
        </p:nvSpPr>
        <p:spPr>
          <a:xfrm>
            <a:off x="10911535" y="6400800"/>
            <a:ext cx="731520" cy="274320"/>
          </a:xfrm>
          <a:prstGeom prst="rect">
            <a:avLst/>
          </a:prstGeom>
        </p:spPr>
        <p:txBody>
          <a:bodyPr lIns="0" tIns="0" rIns="0" bIns="0"/>
          <a:lstStyle>
            <a:lvl1pPr>
              <a:defRPr sz="1100">
                <a:solidFill>
                  <a:schemeClr val="accent3"/>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792" y="38862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導入のメリット ①　現場の作業者</a:t>
            </a:r>
            <a:endParaRPr lang="ja-JP" sz="3200"/>
          </a:p>
        </p:txBody>
      </p:sp>
      <p:sp>
        <p:nvSpPr>
          <p:cNvPr id="4" name="作業者メリット1"/>
          <p:cNvSpPr/>
          <p:nvPr/>
        </p:nvSpPr>
        <p:spPr>
          <a:xfrm>
            <a:off x="548640"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5" name="作業者メリット1_印"/>
          <p:cNvSpPr/>
          <p:nvPr/>
        </p:nvSpPr>
        <p:spPr>
          <a:xfrm>
            <a:off x="822960"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6" name="作業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7" name="作業者メリット1_文字"/>
          <p:cNvSpPr txBox="1"/>
          <p:nvPr/>
        </p:nvSpPr>
        <p:spPr>
          <a:xfrm>
            <a:off x="1554480" y="1920240"/>
            <a:ext cx="4107028" cy="1280160"/>
          </a:xfrm>
          <a:prstGeom prst="rect">
            <a:avLst/>
          </a:prstGeom>
          <a:noFill/>
          <a:ln/>
        </p:spPr>
        <p:txBody>
          <a:bodyPr wrap="square" lIns="0" tIns="0" rIns="0" bIns="0" rtlCol="0" anchor="t"/>
          <a:lstStyle/>
          <a:p>
            <a:pPr marL="0" indent="0">
              <a:buNone/>
            </a:pPr>
            <a:r>
              <a:rPr lang="ja-JP" altLang="en-US" sz="2100" b="1">
                <a:solidFill>
                  <a:schemeClr val="tx2"/>
                </a:solidFill>
              </a:rPr>
              <a:t>報告に行かなくてよい</a:t>
            </a:r>
            <a:endParaRPr lang="ja-JP" sz="2100"/>
          </a:p>
          <a:p>
            <a:pPr marL="0" indent="0">
              <a:spcBef>
                <a:spcPts val="800"/>
              </a:spcBef>
              <a:buNone/>
            </a:pPr>
            <a:r>
              <a:rPr lang="ja-JP" altLang="en-US" sz="1600">
                <a:solidFill>
                  <a:schemeClr val="tx1"/>
                </a:solidFill>
              </a:rPr>
              <a:t>開始・完了はタッチで自動的に記録。</a:t>
            </a:r>
            <a:endParaRPr lang="en-US" altLang="ja-JP" sz="1600">
              <a:solidFill>
                <a:schemeClr val="tx1"/>
              </a:solidFill>
            </a:endParaRPr>
          </a:p>
          <a:p>
            <a:pPr marL="0" indent="0">
              <a:spcBef>
                <a:spcPts val="800"/>
              </a:spcBef>
              <a:buNone/>
            </a:pPr>
            <a:r>
              <a:rPr lang="ja-JP" altLang="en-US" sz="1600">
                <a:solidFill>
                  <a:schemeClr val="tx1"/>
                </a:solidFill>
              </a:rPr>
              <a:t>管理者のところへ報告しに行く必要がない</a:t>
            </a:r>
            <a:endParaRPr lang="ja-JP" sz="2100"/>
          </a:p>
        </p:txBody>
      </p:sp>
      <p:sp>
        <p:nvSpPr>
          <p:cNvPr id="8" name="作業者メリット2"/>
          <p:cNvSpPr/>
          <p:nvPr/>
        </p:nvSpPr>
        <p:spPr>
          <a:xfrm>
            <a:off x="6255868" y="16459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9" name="作業者メリット2_印"/>
          <p:cNvSpPr/>
          <p:nvPr/>
        </p:nvSpPr>
        <p:spPr>
          <a:xfrm>
            <a:off x="6530188" y="19659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作業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11" name="作業者メリット2_文字"/>
          <p:cNvSpPr txBox="1"/>
          <p:nvPr/>
        </p:nvSpPr>
        <p:spPr>
          <a:xfrm>
            <a:off x="7261707" y="1920240"/>
            <a:ext cx="4381347" cy="1280160"/>
          </a:xfrm>
          <a:prstGeom prst="rect">
            <a:avLst/>
          </a:prstGeom>
          <a:noFill/>
          <a:ln/>
        </p:spPr>
        <p:txBody>
          <a:bodyPr wrap="square" lIns="0" tIns="0" rIns="0" bIns="0" rtlCol="0" anchor="t"/>
          <a:lstStyle/>
          <a:p>
            <a:pPr marL="0" indent="0">
              <a:buNone/>
            </a:pPr>
            <a:r>
              <a:rPr lang="ja-JP" altLang="en-US" sz="2100" b="1">
                <a:solidFill>
                  <a:schemeClr val="tx2"/>
                </a:solidFill>
              </a:rPr>
              <a:t>次の仕事を聞かなくてよい</a:t>
            </a:r>
            <a:endParaRPr lang="ja-JP" sz="2100"/>
          </a:p>
          <a:p>
            <a:pPr marL="0" indent="0">
              <a:spcBef>
                <a:spcPts val="800"/>
              </a:spcBef>
              <a:buNone/>
            </a:pPr>
            <a:r>
              <a:rPr lang="ja-JP" altLang="en-US" sz="1600">
                <a:solidFill>
                  <a:schemeClr val="tx1"/>
                </a:solidFill>
              </a:rPr>
              <a:t>タッチした瞬間にその場でやるべき仕事が出る。指示待ちの時間がなくなる</a:t>
            </a:r>
            <a:endParaRPr lang="ja-JP" sz="2100"/>
          </a:p>
        </p:txBody>
      </p:sp>
      <p:sp>
        <p:nvSpPr>
          <p:cNvPr id="12" name="作業者メリット3"/>
          <p:cNvSpPr/>
          <p:nvPr/>
        </p:nvSpPr>
        <p:spPr>
          <a:xfrm>
            <a:off x="548640"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3" name="作業者メリット3_印"/>
          <p:cNvSpPr/>
          <p:nvPr/>
        </p:nvSpPr>
        <p:spPr>
          <a:xfrm>
            <a:off x="822960"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作業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15" name="作業者メリット3_文字"/>
          <p:cNvSpPr txBox="1"/>
          <p:nvPr/>
        </p:nvSpPr>
        <p:spPr>
          <a:xfrm>
            <a:off x="1554479" y="3977640"/>
            <a:ext cx="4276977" cy="1280160"/>
          </a:xfrm>
          <a:prstGeom prst="rect">
            <a:avLst/>
          </a:prstGeom>
          <a:noFill/>
          <a:ln/>
        </p:spPr>
        <p:txBody>
          <a:bodyPr wrap="square" lIns="0" tIns="0" rIns="0" bIns="0" rtlCol="0" anchor="t"/>
          <a:lstStyle/>
          <a:p>
            <a:pPr marL="0" indent="0">
              <a:buNone/>
            </a:pPr>
            <a:r>
              <a:rPr lang="ja-JP" altLang="en-US" sz="2100" b="1">
                <a:solidFill>
                  <a:schemeClr val="tx2"/>
                </a:solidFill>
              </a:rPr>
              <a:t>機材を探して歩かなくてよい</a:t>
            </a:r>
            <a:endParaRPr lang="ja-JP" sz="2100"/>
          </a:p>
          <a:p>
            <a:pPr marL="0" indent="0">
              <a:spcBef>
                <a:spcPts val="800"/>
              </a:spcBef>
              <a:buNone/>
            </a:pPr>
            <a:r>
              <a:rPr lang="ja-JP" altLang="en-US" sz="1600">
                <a:solidFill>
                  <a:schemeClr val="tx1"/>
                </a:solidFill>
              </a:rPr>
              <a:t>より重要な仕事がある機材へはシステムが</a:t>
            </a:r>
            <a:endParaRPr lang="en-US" altLang="ja-JP" sz="1600">
              <a:solidFill>
                <a:schemeClr val="tx1"/>
              </a:solidFill>
            </a:endParaRPr>
          </a:p>
          <a:p>
            <a:pPr marL="0" indent="0">
              <a:spcBef>
                <a:spcPts val="800"/>
              </a:spcBef>
              <a:buNone/>
            </a:pPr>
            <a:r>
              <a:rPr lang="ja-JP" altLang="en-US" sz="1600">
                <a:solidFill>
                  <a:schemeClr val="tx1"/>
                </a:solidFill>
              </a:rPr>
              <a:t>案内してくれる</a:t>
            </a:r>
            <a:endParaRPr lang="ja-JP" sz="2100"/>
          </a:p>
        </p:txBody>
      </p:sp>
      <p:sp>
        <p:nvSpPr>
          <p:cNvPr id="16" name="作業者メリット4"/>
          <p:cNvSpPr/>
          <p:nvPr/>
        </p:nvSpPr>
        <p:spPr>
          <a:xfrm>
            <a:off x="6255868" y="3703320"/>
            <a:ext cx="5387188" cy="1737360"/>
          </a:xfrm>
          <a:prstGeom prst="roundRect">
            <a:avLst>
              <a:gd name="adj" fmla="val 4211"/>
            </a:avLst>
          </a:prstGeom>
          <a:solidFill>
            <a:schemeClr val="bg2"/>
          </a:solidFill>
          <a:ln w="12700">
            <a:solidFill>
              <a:schemeClr val="bg2"/>
            </a:solidFill>
            <a:prstDash val="solid"/>
          </a:ln>
        </p:spPr>
        <p:txBody>
          <a:bodyPr/>
          <a:lstStyle/>
          <a:p>
            <a:endParaRPr lang="ja-JP" altLang="en-US"/>
          </a:p>
        </p:txBody>
      </p:sp>
      <p:sp>
        <p:nvSpPr>
          <p:cNvPr id="17" name="作業者メリット4_印"/>
          <p:cNvSpPr/>
          <p:nvPr/>
        </p:nvSpPr>
        <p:spPr>
          <a:xfrm>
            <a:off x="6530188" y="4023360"/>
            <a:ext cx="502920" cy="50292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作業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19" name="作業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a:solidFill>
                  <a:schemeClr val="tx2"/>
                </a:solidFill>
              </a:rPr>
              <a:t>向いた仕事・新しい仕事が回る</a:t>
            </a:r>
            <a:endParaRPr lang="ja-JP" sz="2100"/>
          </a:p>
          <a:p>
            <a:pPr marL="0" indent="0">
              <a:spcBef>
                <a:spcPts val="800"/>
              </a:spcBef>
              <a:buNone/>
            </a:pPr>
            <a:r>
              <a:rPr lang="ja-JP" altLang="en-US" sz="1600">
                <a:solidFill>
                  <a:schemeClr val="tx1"/>
                </a:solidFill>
              </a:rPr>
              <a:t>向いている仕事を任されやすく、</a:t>
            </a:r>
            <a:endParaRPr lang="en-US" altLang="ja-JP" sz="1600">
              <a:solidFill>
                <a:schemeClr val="tx1"/>
              </a:solidFill>
            </a:endParaRPr>
          </a:p>
          <a:p>
            <a:pPr marL="0" indent="0">
              <a:spcBef>
                <a:spcPts val="800"/>
              </a:spcBef>
              <a:buNone/>
            </a:pPr>
            <a:r>
              <a:rPr lang="ja-JP" altLang="en-US" sz="1600">
                <a:solidFill>
                  <a:schemeClr val="tx1"/>
                </a:solidFill>
              </a:rPr>
              <a:t>新人にも経験を積む機会が回る</a:t>
            </a:r>
            <a:endParaRPr lang="ja-JP" sz="21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40" y="38862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導入のメリット ②　管理者</a:t>
            </a:r>
            <a:endParaRPr lang="ja-JP" sz="3200"/>
          </a:p>
        </p:txBody>
      </p:sp>
      <p:sp>
        <p:nvSpPr>
          <p:cNvPr id="4" name="管理者メリット1"/>
          <p:cNvSpPr/>
          <p:nvPr/>
        </p:nvSpPr>
        <p:spPr>
          <a:xfrm>
            <a:off x="548640"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5" name="管理者メリット1_印"/>
          <p:cNvSpPr/>
          <p:nvPr/>
        </p:nvSpPr>
        <p:spPr>
          <a:xfrm>
            <a:off x="822960"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6" name="管理者メリット1_印_文字"/>
          <p:cNvSpPr txBox="1"/>
          <p:nvPr/>
        </p:nvSpPr>
        <p:spPr>
          <a:xfrm>
            <a:off x="822960"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7" name="管理者メリット1_文字"/>
          <p:cNvSpPr txBox="1"/>
          <p:nvPr/>
        </p:nvSpPr>
        <p:spPr>
          <a:xfrm>
            <a:off x="1554480" y="1920240"/>
            <a:ext cx="4268350" cy="1280160"/>
          </a:xfrm>
          <a:prstGeom prst="rect">
            <a:avLst/>
          </a:prstGeom>
          <a:noFill/>
          <a:ln/>
        </p:spPr>
        <p:txBody>
          <a:bodyPr wrap="square" lIns="0" tIns="0" rIns="0" bIns="0" rtlCol="0" anchor="t"/>
          <a:lstStyle/>
          <a:p>
            <a:pPr marL="0" indent="0">
              <a:buNone/>
            </a:pPr>
            <a:r>
              <a:rPr lang="ja-JP" altLang="en-US" sz="2100" b="1">
                <a:solidFill>
                  <a:schemeClr val="tx2"/>
                </a:solidFill>
              </a:rPr>
              <a:t>今の状況がリアルタイムに分かる</a:t>
            </a:r>
            <a:endParaRPr lang="ja-JP" sz="2100"/>
          </a:p>
          <a:p>
            <a:pPr marL="0" indent="0">
              <a:spcBef>
                <a:spcPts val="800"/>
              </a:spcBef>
              <a:buNone/>
            </a:pPr>
            <a:r>
              <a:rPr lang="ja-JP" altLang="en-US" sz="1600">
                <a:solidFill>
                  <a:schemeClr val="tx1"/>
                </a:solidFill>
              </a:rPr>
              <a:t>どの機材を誰が使い、</a:t>
            </a:r>
            <a:endParaRPr lang="en-US" altLang="ja-JP" sz="1600">
              <a:solidFill>
                <a:schemeClr val="tx1"/>
              </a:solidFill>
            </a:endParaRPr>
          </a:p>
          <a:p>
            <a:pPr marL="0" indent="0">
              <a:spcBef>
                <a:spcPts val="800"/>
              </a:spcBef>
              <a:buNone/>
            </a:pPr>
            <a:r>
              <a:rPr lang="ja-JP" altLang="en-US" sz="1600">
                <a:solidFill>
                  <a:schemeClr val="tx1"/>
                </a:solidFill>
              </a:rPr>
              <a:t>何の仕事をしているかを画面で確認できる</a:t>
            </a:r>
            <a:endParaRPr lang="ja-JP" sz="2100"/>
          </a:p>
        </p:txBody>
      </p:sp>
      <p:sp>
        <p:nvSpPr>
          <p:cNvPr id="8" name="管理者メリット2"/>
          <p:cNvSpPr/>
          <p:nvPr/>
        </p:nvSpPr>
        <p:spPr>
          <a:xfrm>
            <a:off x="6255868" y="16459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9" name="管理者メリット2_印"/>
          <p:cNvSpPr/>
          <p:nvPr/>
        </p:nvSpPr>
        <p:spPr>
          <a:xfrm>
            <a:off x="6530188" y="19659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0" name="管理者メリット2_印_文字"/>
          <p:cNvSpPr txBox="1"/>
          <p:nvPr/>
        </p:nvSpPr>
        <p:spPr>
          <a:xfrm>
            <a:off x="6530188" y="19659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11" name="管理者メリット2_文字"/>
          <p:cNvSpPr txBox="1"/>
          <p:nvPr/>
        </p:nvSpPr>
        <p:spPr>
          <a:xfrm>
            <a:off x="7261708" y="1920240"/>
            <a:ext cx="4242720" cy="1280160"/>
          </a:xfrm>
          <a:prstGeom prst="rect">
            <a:avLst/>
          </a:prstGeom>
          <a:noFill/>
          <a:ln/>
        </p:spPr>
        <p:txBody>
          <a:bodyPr wrap="square" lIns="0" tIns="0" rIns="0" bIns="0" rtlCol="0" anchor="t"/>
          <a:lstStyle/>
          <a:p>
            <a:pPr marL="0" indent="0">
              <a:buNone/>
            </a:pPr>
            <a:r>
              <a:rPr lang="ja-JP" altLang="en-US" sz="2100" b="1">
                <a:solidFill>
                  <a:schemeClr val="tx2"/>
                </a:solidFill>
              </a:rPr>
              <a:t>得意・不得意がデータで分かる</a:t>
            </a:r>
            <a:endParaRPr lang="ja-JP" sz="2100"/>
          </a:p>
          <a:p>
            <a:pPr marL="0" indent="0">
              <a:spcBef>
                <a:spcPts val="800"/>
              </a:spcBef>
              <a:buNone/>
            </a:pPr>
            <a:r>
              <a:rPr lang="ja-JP" altLang="en-US" sz="1600">
                <a:solidFill>
                  <a:schemeClr val="tx1"/>
                </a:solidFill>
              </a:rPr>
              <a:t>作業ログから一人ひとりの向き・不向きが見え、教育や配置の参考になる</a:t>
            </a:r>
            <a:endParaRPr lang="ja-JP" sz="2100"/>
          </a:p>
        </p:txBody>
      </p:sp>
      <p:sp>
        <p:nvSpPr>
          <p:cNvPr id="12" name="管理者メリット3"/>
          <p:cNvSpPr/>
          <p:nvPr/>
        </p:nvSpPr>
        <p:spPr>
          <a:xfrm>
            <a:off x="548640"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3" name="管理者メリット3_印"/>
          <p:cNvSpPr/>
          <p:nvPr/>
        </p:nvSpPr>
        <p:spPr>
          <a:xfrm>
            <a:off x="822960"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4" name="管理者メリット3_印_文字"/>
          <p:cNvSpPr txBox="1"/>
          <p:nvPr/>
        </p:nvSpPr>
        <p:spPr>
          <a:xfrm>
            <a:off x="822960"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15" name="管理者メリット3_文字"/>
          <p:cNvSpPr txBox="1"/>
          <p:nvPr/>
        </p:nvSpPr>
        <p:spPr>
          <a:xfrm>
            <a:off x="1394460" y="3931920"/>
            <a:ext cx="4472788" cy="1280160"/>
          </a:xfrm>
          <a:prstGeom prst="rect">
            <a:avLst/>
          </a:prstGeom>
          <a:noFill/>
          <a:ln/>
        </p:spPr>
        <p:txBody>
          <a:bodyPr wrap="square" lIns="0" tIns="0" rIns="0" bIns="0" rtlCol="0" anchor="t"/>
          <a:lstStyle/>
          <a:p>
            <a:pPr marL="0" indent="0">
              <a:buNone/>
            </a:pPr>
            <a:r>
              <a:rPr lang="ja-JP" altLang="en-US" sz="2100" b="1">
                <a:solidFill>
                  <a:schemeClr val="tx2"/>
                </a:solidFill>
              </a:rPr>
              <a:t>割当を考える手間が減る</a:t>
            </a:r>
            <a:endParaRPr lang="ja-JP" sz="2100"/>
          </a:p>
          <a:p>
            <a:pPr marL="0" indent="0">
              <a:spcBef>
                <a:spcPts val="800"/>
              </a:spcBef>
              <a:buNone/>
            </a:pPr>
            <a:r>
              <a:rPr lang="ja-JP" altLang="en-US" sz="1600">
                <a:solidFill>
                  <a:schemeClr val="tx1"/>
                </a:solidFill>
              </a:rPr>
              <a:t>「AI 割当」ボタンで候補が出る。</a:t>
            </a:r>
            <a:endParaRPr lang="en-US" altLang="ja-JP" sz="1600">
              <a:solidFill>
                <a:schemeClr val="tx1"/>
              </a:solidFill>
            </a:endParaRPr>
          </a:p>
          <a:p>
            <a:pPr marL="0" indent="0">
              <a:spcBef>
                <a:spcPts val="800"/>
              </a:spcBef>
              <a:buNone/>
            </a:pPr>
            <a:r>
              <a:rPr lang="ja-JP" altLang="en-US" sz="1600">
                <a:solidFill>
                  <a:schemeClr val="tx1"/>
                </a:solidFill>
              </a:rPr>
              <a:t>決めた理由も表示されるので納得して任せられる</a:t>
            </a:r>
            <a:endParaRPr lang="ja-JP" sz="2100"/>
          </a:p>
        </p:txBody>
      </p:sp>
      <p:sp>
        <p:nvSpPr>
          <p:cNvPr id="16" name="管理者メリット4"/>
          <p:cNvSpPr/>
          <p:nvPr/>
        </p:nvSpPr>
        <p:spPr>
          <a:xfrm>
            <a:off x="6255868" y="3703320"/>
            <a:ext cx="5387188" cy="1737360"/>
          </a:xfrm>
          <a:prstGeom prst="roundRect">
            <a:avLst>
              <a:gd name="adj" fmla="val 4211"/>
            </a:avLst>
          </a:prstGeom>
          <a:solidFill>
            <a:schemeClr val="bg1"/>
          </a:solidFill>
          <a:ln w="19050">
            <a:solidFill>
              <a:schemeClr val="tx2"/>
            </a:solidFill>
            <a:prstDash val="solid"/>
          </a:ln>
        </p:spPr>
        <p:txBody>
          <a:bodyPr/>
          <a:lstStyle/>
          <a:p>
            <a:endParaRPr lang="ja-JP" altLang="en-US"/>
          </a:p>
        </p:txBody>
      </p:sp>
      <p:sp>
        <p:nvSpPr>
          <p:cNvPr id="17" name="管理者メリット4_印"/>
          <p:cNvSpPr/>
          <p:nvPr/>
        </p:nvSpPr>
        <p:spPr>
          <a:xfrm>
            <a:off x="6530188" y="4023360"/>
            <a:ext cx="502920" cy="502920"/>
          </a:xfrm>
          <a:prstGeom prst="ellipse">
            <a:avLst/>
          </a:prstGeom>
          <a:solidFill>
            <a:schemeClr val="tx2"/>
          </a:solidFill>
          <a:ln w="12700">
            <a:solidFill>
              <a:schemeClr val="tx2"/>
            </a:solidFill>
            <a:prstDash val="solid"/>
          </a:ln>
        </p:spPr>
        <p:txBody>
          <a:bodyPr/>
          <a:lstStyle/>
          <a:p>
            <a:endParaRPr lang="ja-JP" altLang="en-US"/>
          </a:p>
        </p:txBody>
      </p:sp>
      <p:sp>
        <p:nvSpPr>
          <p:cNvPr id="18" name="管理者メリット4_印_文字"/>
          <p:cNvSpPr txBox="1"/>
          <p:nvPr/>
        </p:nvSpPr>
        <p:spPr>
          <a:xfrm>
            <a:off x="6530188" y="4023360"/>
            <a:ext cx="502920" cy="502920"/>
          </a:xfrm>
          <a:prstGeom prst="rect">
            <a:avLst/>
          </a:prstGeom>
          <a:noFill/>
          <a:ln/>
        </p:spPr>
        <p:txBody>
          <a:bodyPr wrap="square" lIns="0" tIns="0" rIns="0" bIns="0" rtlCol="0" anchor="ctr"/>
          <a:lstStyle/>
          <a:p>
            <a:pPr marL="0" indent="0" algn="ctr">
              <a:buNone/>
            </a:pPr>
            <a:r>
              <a:rPr lang="ja-JP" altLang="en-US" sz="1430" b="1">
                <a:solidFill>
                  <a:schemeClr val="bg1"/>
                </a:solidFill>
              </a:rPr>
              <a:t>✓</a:t>
            </a:r>
            <a:endParaRPr lang="ja-JP" sz="1430"/>
          </a:p>
        </p:txBody>
      </p:sp>
      <p:sp>
        <p:nvSpPr>
          <p:cNvPr id="19" name="管理者メリット4_文字"/>
          <p:cNvSpPr txBox="1"/>
          <p:nvPr/>
        </p:nvSpPr>
        <p:spPr>
          <a:xfrm>
            <a:off x="7261708" y="3977640"/>
            <a:ext cx="4107028" cy="1280160"/>
          </a:xfrm>
          <a:prstGeom prst="rect">
            <a:avLst/>
          </a:prstGeom>
          <a:noFill/>
          <a:ln/>
        </p:spPr>
        <p:txBody>
          <a:bodyPr wrap="square" lIns="0" tIns="0" rIns="0" bIns="0" rtlCol="0" anchor="t"/>
          <a:lstStyle/>
          <a:p>
            <a:pPr marL="0" indent="0">
              <a:buNone/>
            </a:pPr>
            <a:r>
              <a:rPr lang="ja-JP" altLang="en-US" sz="2100" b="1">
                <a:solidFill>
                  <a:schemeClr val="tx2"/>
                </a:solidFill>
              </a:rPr>
              <a:t>機材をまとめて管理できる</a:t>
            </a:r>
            <a:endParaRPr lang="ja-JP" sz="2100"/>
          </a:p>
          <a:p>
            <a:pPr marL="0" indent="0">
              <a:spcBef>
                <a:spcPts val="800"/>
              </a:spcBef>
              <a:buNone/>
            </a:pPr>
            <a:r>
              <a:rPr lang="ja-JP" altLang="en-US" sz="1600">
                <a:solidFill>
                  <a:schemeClr val="tx1"/>
                </a:solidFill>
              </a:rPr>
              <a:t>機材の登録・状態・通信の切断まで、</a:t>
            </a:r>
            <a:endParaRPr lang="en-US" altLang="ja-JP" sz="1600">
              <a:solidFill>
                <a:schemeClr val="tx1"/>
              </a:solidFill>
            </a:endParaRPr>
          </a:p>
          <a:p>
            <a:pPr marL="0" indent="0">
              <a:spcBef>
                <a:spcPts val="800"/>
              </a:spcBef>
              <a:buNone/>
            </a:pPr>
            <a:r>
              <a:rPr lang="ja-JP" altLang="en-US" sz="1600">
                <a:solidFill>
                  <a:schemeClr val="tx1"/>
                </a:solidFill>
              </a:rPr>
              <a:t>一つの画面で把握できる</a:t>
            </a:r>
            <a:endParaRPr lang="ja-JP" sz="21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title" idx="101" hasCustomPrompt="1"/>
          </p:nvPr>
        </p:nvSpPr>
        <p:spPr>
          <a:xfrm>
            <a:off x="548639" y="374904"/>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導入のメリット ③　工場全体</a:t>
            </a:r>
            <a:endParaRPr lang="ja-JP" sz="3200"/>
          </a:p>
        </p:txBody>
      </p:sp>
      <p:graphicFrame>
        <p:nvGraphicFramePr>
          <p:cNvPr id="9" name="比較表"/>
          <p:cNvGraphicFramePr>
            <a:graphicFrameLocks noGrp="1"/>
          </p:cNvGraphicFramePr>
          <p:nvPr>
            <p:extLst>
              <p:ext uri="{D42A27DB-BD31-4B8C-83A1-F6EECF244321}">
                <p14:modId xmlns:p14="http://schemas.microsoft.com/office/powerpoint/2010/main" val="455411667"/>
              </p:ext>
            </p:extLst>
          </p:nvPr>
        </p:nvGraphicFramePr>
        <p:xfrm>
          <a:off x="548640" y="1554480"/>
          <a:ext cx="11094415" cy="4279392"/>
        </p:xfrm>
        <a:graphic>
          <a:graphicData uri="http://schemas.openxmlformats.org/drawingml/2006/table">
            <a:tbl>
              <a:tblPr/>
              <a:tblGrid>
                <a:gridCol w="219456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76495">
                  <a:extLst>
                    <a:ext uri="{9D8B030D-6E8A-4147-A177-3AD203B41FA5}">
                      <a16:colId xmlns:a16="http://schemas.microsoft.com/office/drawing/2014/main" val="20002"/>
                    </a:ext>
                  </a:extLst>
                </a:gridCol>
              </a:tblGrid>
              <a:tr h="713232">
                <a:tc>
                  <a:txBody>
                    <a:bodyPr/>
                    <a:lstStyle/>
                    <a:p>
                      <a:pPr marL="0" indent="0" algn="ctr">
                        <a:buNone/>
                      </a:pPr>
                      <a:endParaRPr lang="en-US" sz="18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800" b="1">
                          <a:solidFill>
                            <a:schemeClr val="bg1"/>
                          </a:solidFill>
                          <a:latin typeface="BIZ UDPGothic" pitchFamily="34" charset="0"/>
                          <a:ea typeface="BIZ UDPGothic" pitchFamily="34" charset="-122"/>
                          <a:cs typeface="BIZ UDPGothic" pitchFamily="34" charset="-120"/>
                        </a:rPr>
                        <a:t>これまで</a:t>
                      </a:r>
                      <a:endParaRPr lang="en-US" sz="18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3"/>
                    </a:solidFill>
                  </a:tcPr>
                </a:tc>
                <a:tc>
                  <a:txBody>
                    <a:bodyPr/>
                    <a:lstStyle/>
                    <a:p>
                      <a:pPr marL="0" indent="0" algn="ctr">
                        <a:buNone/>
                      </a:pPr>
                      <a:r>
                        <a:rPr lang="en-US" sz="1800" b="1">
                          <a:solidFill>
                            <a:schemeClr val="bg1"/>
                          </a:solidFill>
                          <a:latin typeface="BIZ UDPGothic" pitchFamily="34" charset="0"/>
                          <a:ea typeface="BIZ UDPGothic" pitchFamily="34" charset="-122"/>
                          <a:cs typeface="BIZ UDPGothic" pitchFamily="34" charset="-120"/>
                        </a:rPr>
                        <a:t>Gemmba 導入後</a:t>
                      </a:r>
                      <a:endParaRPr lang="en-US" sz="18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713232">
                <a:tc>
                  <a:txBody>
                    <a:bodyPr/>
                    <a:lstStyle/>
                    <a:p>
                      <a:pPr marL="0" indent="0">
                        <a:buNone/>
                      </a:pPr>
                      <a:r>
                        <a:rPr lang="en-US" sz="1700" b="1">
                          <a:solidFill>
                            <a:schemeClr val="tx2"/>
                          </a:solidFill>
                          <a:latin typeface="BIZ UDPGothic" pitchFamily="34" charset="0"/>
                          <a:ea typeface="BIZ UDPGothic" pitchFamily="34" charset="-122"/>
                          <a:cs typeface="BIZ UDPGothic" pitchFamily="34" charset="-120"/>
                        </a:rPr>
                        <a:t>機材の予約</a:t>
                      </a:r>
                      <a:endParaRPr lang="en-US" sz="17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予約だけして来ない</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a:solidFill>
                            <a:schemeClr val="tx2"/>
                          </a:solidFill>
                          <a:latin typeface="BIZ UDPGothic" pitchFamily="34" charset="0"/>
                          <a:ea typeface="BIZ UDPGothic" pitchFamily="34" charset="-122"/>
                          <a:cs typeface="BIZ UDPGothic" pitchFamily="34" charset="-120"/>
                        </a:rPr>
                        <a:t>遠隔予約がないので起きない</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buNone/>
                      </a:pPr>
                      <a:r>
                        <a:rPr lang="en-US" sz="1700" b="1">
                          <a:solidFill>
                            <a:schemeClr val="tx2"/>
                          </a:solidFill>
                          <a:latin typeface="BIZ UDPGothic" pitchFamily="34" charset="0"/>
                          <a:ea typeface="BIZ UDPGothic" pitchFamily="34" charset="-122"/>
                          <a:cs typeface="BIZ UDPGothic" pitchFamily="34" charset="-120"/>
                        </a:rPr>
                        <a:t>仕事の割り振り</a:t>
                      </a:r>
                      <a:endParaRPr lang="en-US" sz="17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ベテランに集中・急ぎの仕事を忘れる</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a:solidFill>
                            <a:schemeClr val="tx2"/>
                          </a:solidFill>
                          <a:latin typeface="BIZ UDPGothic" pitchFamily="34" charset="0"/>
                          <a:ea typeface="BIZ UDPGothic" pitchFamily="34" charset="-122"/>
                          <a:cs typeface="BIZ UDPGothic" pitchFamily="34" charset="-120"/>
                        </a:rPr>
                        <a:t>負荷を見て分散。重要な仕事から提示</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buNone/>
                      </a:pPr>
                      <a:r>
                        <a:rPr lang="en-US" sz="1700" b="1">
                          <a:solidFill>
                            <a:schemeClr val="tx2"/>
                          </a:solidFill>
                          <a:latin typeface="BIZ UDPGothic" pitchFamily="34" charset="0"/>
                          <a:ea typeface="BIZ UDPGothic" pitchFamily="34" charset="-122"/>
                          <a:cs typeface="BIZ UDPGothic" pitchFamily="34" charset="-120"/>
                        </a:rPr>
                        <a:t>全体の作業時間</a:t>
                      </a:r>
                      <a:endParaRPr lang="en-US" sz="17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一部の人が終わるまで全体が待つ</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a:solidFill>
                            <a:schemeClr val="tx2"/>
                          </a:solidFill>
                          <a:latin typeface="BIZ UDPGothic" pitchFamily="34" charset="0"/>
                          <a:ea typeface="BIZ UDPGothic" pitchFamily="34" charset="-122"/>
                          <a:cs typeface="BIZ UDPGothic" pitchFamily="34" charset="-120"/>
                        </a:rPr>
                        <a:t>シミュレーションで 27〜60% 短縮</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3"/>
                  </a:ext>
                </a:extLst>
              </a:tr>
              <a:tr h="713232">
                <a:tc>
                  <a:txBody>
                    <a:bodyPr/>
                    <a:lstStyle/>
                    <a:p>
                      <a:pPr marL="0" indent="0">
                        <a:buNone/>
                      </a:pPr>
                      <a:r>
                        <a:rPr lang="en-US" sz="1700" b="1">
                          <a:solidFill>
                            <a:schemeClr val="tx2"/>
                          </a:solidFill>
                          <a:latin typeface="BIZ UDPGothic" pitchFamily="34" charset="0"/>
                          <a:ea typeface="BIZ UDPGothic" pitchFamily="34" charset="-122"/>
                          <a:cs typeface="BIZ UDPGothic" pitchFamily="34" charset="-120"/>
                        </a:rPr>
                        <a:t>技能の継承</a:t>
                      </a:r>
                      <a:endParaRPr lang="en-US" sz="17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得意・不得意が勘と記憶頼み</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a:solidFill>
                            <a:schemeClr val="tx2"/>
                          </a:solidFill>
                          <a:latin typeface="BIZ UDPGothic" pitchFamily="34" charset="0"/>
                          <a:ea typeface="BIZ UDPGothic" pitchFamily="34" charset="-122"/>
                          <a:cs typeface="BIZ UDPGothic" pitchFamily="34" charset="-120"/>
                        </a:rPr>
                        <a:t>作業ログとして記録が残る</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4"/>
                  </a:ext>
                </a:extLst>
              </a:tr>
              <a:tr h="713232">
                <a:tc>
                  <a:txBody>
                    <a:bodyPr/>
                    <a:lstStyle/>
                    <a:p>
                      <a:pPr marL="0" indent="0">
                        <a:buNone/>
                      </a:pPr>
                      <a:r>
                        <a:rPr lang="en-US" sz="1700" b="1">
                          <a:solidFill>
                            <a:schemeClr val="tx2"/>
                          </a:solidFill>
                          <a:latin typeface="BIZ UDPGothic" pitchFamily="34" charset="0"/>
                          <a:ea typeface="BIZ UDPGothic" pitchFamily="34" charset="-122"/>
                          <a:cs typeface="BIZ UDPGothic" pitchFamily="34" charset="-120"/>
                        </a:rPr>
                        <a:t>導入・運用</a:t>
                      </a:r>
                      <a:endParaRPr lang="en-US" sz="17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2"/>
                    </a:solidFill>
                  </a:tcPr>
                </a:tc>
                <a:tc>
                  <a:txBody>
                    <a:bodyPr/>
                    <a:lstStyle/>
                    <a:p>
                      <a:pPr marL="0" indent="0">
                        <a:buNone/>
                      </a:pPr>
                      <a:r>
                        <a:rPr lang="en-US" sz="1600">
                          <a:solidFill>
                            <a:schemeClr val="tx1"/>
                          </a:solidFill>
                          <a:latin typeface="BIZ UDPGothic" pitchFamily="34" charset="0"/>
                          <a:ea typeface="BIZ UDPGothic" pitchFamily="34" charset="-122"/>
                          <a:cs typeface="BIZ UDPGothic" pitchFamily="34" charset="-120"/>
                        </a:rPr>
                        <a:t>専任の IT 担当者が必要になりがち</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tc>
                  <a:txBody>
                    <a:bodyPr/>
                    <a:lstStyle/>
                    <a:p>
                      <a:pPr marL="0" indent="0">
                        <a:buNone/>
                      </a:pPr>
                      <a:r>
                        <a:rPr lang="en-US" sz="1600" b="1">
                          <a:solidFill>
                            <a:schemeClr val="tx2"/>
                          </a:solidFill>
                          <a:latin typeface="BIZ UDPGothic" pitchFamily="34" charset="0"/>
                          <a:ea typeface="BIZ UDPGothic" pitchFamily="34" charset="-122"/>
                          <a:cs typeface="BIZ UDPGothic" pitchFamily="34" charset="-120"/>
                        </a:rPr>
                        <a:t>タッチだけ</a:t>
                      </a:r>
                      <a:r>
                        <a:rPr lang="ja-JP" altLang="en-US" sz="1600" b="1">
                          <a:solidFill>
                            <a:schemeClr val="tx2"/>
                          </a:solidFill>
                          <a:latin typeface="BIZ UDPGothic" pitchFamily="34" charset="0"/>
                          <a:ea typeface="BIZ UDPGothic" pitchFamily="34" charset="-122"/>
                          <a:cs typeface="BIZ UDPGothic" pitchFamily="34" charset="-120"/>
                        </a:rPr>
                        <a:t>で済む</a:t>
                      </a:r>
                      <a:r>
                        <a:rPr lang="en-US" sz="1600" b="1">
                          <a:solidFill>
                            <a:schemeClr val="tx2"/>
                          </a:solidFill>
                          <a:latin typeface="BIZ UDPGothic" pitchFamily="34" charset="0"/>
                          <a:ea typeface="BIZ UDPGothic" pitchFamily="34" charset="-122"/>
                          <a:cs typeface="BIZ UDPGothic" pitchFamily="34" charset="-120"/>
                        </a:rPr>
                        <a:t>。既存の機材に後付け</a:t>
                      </a:r>
                      <a:endParaRPr lang="en-US" sz="1600">
                        <a:latin typeface="BIZ UDPGothic" charset="0"/>
                        <a:ea typeface="BIZ UDPGothic" charset="0"/>
                        <a:cs typeface="BIZ UDPGothic" charset="0"/>
                      </a:endParaRPr>
                    </a:p>
                  </a:txBody>
                  <a:tcPr marL="137160" marR="137160"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5. ユースケース</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ユースケース：ある日の現場の流れ</a:t>
            </a:r>
            <a:endParaRPr lang="ja-JP" sz="3200"/>
          </a:p>
        </p:txBody>
      </p:sp>
      <p:graphicFrame>
        <p:nvGraphicFramePr>
          <p:cNvPr id="10" name="ユースケース表"/>
          <p:cNvGraphicFramePr>
            <a:graphicFrameLocks noGrp="1"/>
          </p:cNvGraphicFramePr>
          <p:nvPr>
            <p:extLst>
              <p:ext uri="{D42A27DB-BD31-4B8C-83A1-F6EECF244321}">
                <p14:modId xmlns:p14="http://schemas.microsoft.com/office/powerpoint/2010/main" val="3981590745"/>
              </p:ext>
            </p:extLst>
          </p:nvPr>
        </p:nvGraphicFramePr>
        <p:xfrm>
          <a:off x="548640" y="1508760"/>
          <a:ext cx="11094415" cy="4032504"/>
        </p:xfrm>
        <a:graphic>
          <a:graphicData uri="http://schemas.openxmlformats.org/drawingml/2006/table">
            <a:tbl>
              <a:tblPr/>
              <a:tblGrid>
                <a:gridCol w="5486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5150815">
                  <a:extLst>
                    <a:ext uri="{9D8B030D-6E8A-4147-A177-3AD203B41FA5}">
                      <a16:colId xmlns:a16="http://schemas.microsoft.com/office/drawing/2014/main" val="20003"/>
                    </a:ext>
                  </a:extLst>
                </a:gridCol>
              </a:tblGrid>
              <a:tr h="411480">
                <a:tc>
                  <a:txBody>
                    <a:bodyPr/>
                    <a:lstStyle/>
                    <a:p>
                      <a:pPr marL="0" indent="0">
                        <a:buNone/>
                      </a:pPr>
                      <a:endParaRPr lang="en-US" sz="14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a:solidFill>
                            <a:schemeClr val="accent4"/>
                          </a:solidFill>
                          <a:latin typeface="BIZ UDPGothic" pitchFamily="34" charset="0"/>
                          <a:ea typeface="BIZ UDPGothic" pitchFamily="34" charset="-122"/>
                          <a:cs typeface="BIZ UDPGothic" pitchFamily="34" charset="-120"/>
                        </a:rPr>
                        <a:t>誰が</a:t>
                      </a:r>
                      <a:endParaRPr lang="en-US" sz="14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a:solidFill>
                            <a:schemeClr val="accent4"/>
                          </a:solidFill>
                          <a:latin typeface="BIZ UDPGothic" pitchFamily="34" charset="0"/>
                          <a:ea typeface="BIZ UDPGothic" pitchFamily="34" charset="-122"/>
                          <a:cs typeface="BIZ UDPGothic" pitchFamily="34" charset="-120"/>
                        </a:rPr>
                        <a:t>すること</a:t>
                      </a:r>
                      <a:endParaRPr lang="en-US" sz="14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400" b="1">
                          <a:solidFill>
                            <a:schemeClr val="accent4"/>
                          </a:solidFill>
                          <a:latin typeface="BIZ UDPGothic" pitchFamily="34" charset="0"/>
                          <a:ea typeface="BIZ UDPGothic" pitchFamily="34" charset="-122"/>
                          <a:cs typeface="BIZ UDPGothic" pitchFamily="34" charset="-120"/>
                        </a:rPr>
                        <a:t>Gemmba の動き</a:t>
                      </a:r>
                      <a:endParaRPr lang="en-US" sz="14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0"/>
                  </a:ext>
                </a:extLst>
              </a:tr>
              <a:tr h="603504">
                <a:tc>
                  <a:txBody>
                    <a:bodyPr/>
                    <a:lstStyle/>
                    <a:p>
                      <a:pPr marL="0" indent="0" algn="ctr">
                        <a:buNone/>
                      </a:pPr>
                      <a:r>
                        <a:rPr lang="en-US" sz="1800" b="1">
                          <a:solidFill>
                            <a:schemeClr val="tx2"/>
                          </a:solidFill>
                          <a:latin typeface="BIZ UDPGothic" pitchFamily="34" charset="0"/>
                          <a:ea typeface="BIZ UDPGothic" pitchFamily="34" charset="-122"/>
                          <a:cs typeface="BIZ UDPGothic" pitchFamily="34" charset="-120"/>
                        </a:rPr>
                        <a:t>1</a:t>
                      </a:r>
                      <a:endParaRPr lang="en-US" sz="18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a:solidFill>
                            <a:schemeClr val="bg1"/>
                          </a:solidFill>
                          <a:latin typeface="BIZ UDPGothic" pitchFamily="34" charset="0"/>
                          <a:ea typeface="BIZ UDPGothic" pitchFamily="34" charset="-122"/>
                          <a:cs typeface="BIZ UDPGothic" pitchFamily="34" charset="-120"/>
                        </a:rPr>
                        <a:t>管理者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朝、今日のタスクを管理画面で登録</a:t>
                      </a:r>
                      <a:endParaRPr lang="en-US" sz="16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a:solidFill>
                            <a:schemeClr val="tx1"/>
                          </a:solidFill>
                          <a:latin typeface="BIZ UDPGothic" pitchFamily="34" charset="0"/>
                          <a:ea typeface="BIZ UDPGothic" pitchFamily="34" charset="-122"/>
                          <a:cs typeface="BIZ UDPGothic" pitchFamily="34" charset="-120"/>
                        </a:rPr>
                        <a:t>重要度・難易度・期限・数量を保存</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03504">
                <a:tc>
                  <a:txBody>
                    <a:bodyPr/>
                    <a:lstStyle/>
                    <a:p>
                      <a:pPr marL="0" indent="0" algn="ctr">
                        <a:buNone/>
                      </a:pPr>
                      <a:r>
                        <a:rPr lang="en-US" sz="1800" b="1">
                          <a:solidFill>
                            <a:schemeClr val="tx2"/>
                          </a:solidFill>
                          <a:latin typeface="BIZ UDPGothic" pitchFamily="34" charset="0"/>
                          <a:ea typeface="BIZ UDPGothic" pitchFamily="34" charset="-122"/>
                          <a:cs typeface="BIZ UDPGothic" pitchFamily="34" charset="-120"/>
                        </a:rPr>
                        <a:t>2</a:t>
                      </a:r>
                      <a:endParaRPr lang="en-US" sz="18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a:solidFill>
                            <a:schemeClr val="bg1"/>
                          </a:solidFill>
                          <a:latin typeface="BIZ UDPGothic" pitchFamily="34" charset="0"/>
                          <a:ea typeface="BIZ UDPGothic" pitchFamily="34" charset="-122"/>
                          <a:cs typeface="BIZ UDPGothic" pitchFamily="34" charset="-120"/>
                        </a:rPr>
                        <a:t>作業者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空いている旋盤で</a:t>
                      </a:r>
                      <a:r>
                        <a:rPr lang="ja-JP" altLang="en-US" sz="1600" b="1">
                          <a:solidFill>
                            <a:schemeClr val="tx1"/>
                          </a:solidFill>
                          <a:latin typeface="BIZ UDPGothic" pitchFamily="34" charset="0"/>
                          <a:ea typeface="BIZ UDPGothic" pitchFamily="34" charset="-122"/>
                          <a:cs typeface="BIZ UDPGothic" pitchFamily="34" charset="-120"/>
                        </a:rPr>
                        <a:t>腕輪</a:t>
                      </a:r>
                      <a:r>
                        <a:rPr lang="en-US" sz="1600" b="1">
                          <a:solidFill>
                            <a:schemeClr val="tx1"/>
                          </a:solidFill>
                          <a:latin typeface="BIZ UDPGothic" pitchFamily="34" charset="0"/>
                          <a:ea typeface="BIZ UDPGothic" pitchFamily="34" charset="-122"/>
                          <a:cs typeface="BIZ UDPGothic" pitchFamily="34" charset="-120"/>
                        </a:rPr>
                        <a:t>をタッチ</a:t>
                      </a:r>
                      <a:endParaRPr lang="en-US" sz="16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a:solidFill>
                            <a:schemeClr val="tx1"/>
                          </a:solidFill>
                          <a:latin typeface="BIZ UDPGothic" pitchFamily="34" charset="0"/>
                          <a:ea typeface="BIZ UDPGothic" pitchFamily="34" charset="-122"/>
                          <a:cs typeface="BIZ UDPGothic" pitchFamily="34" charset="-120"/>
                        </a:rPr>
                        <a:t>割当 AI がこの人に向く仕事を選び、画面に表示</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lgn="ctr">
                        <a:buNone/>
                      </a:pPr>
                      <a:r>
                        <a:rPr lang="en-US" sz="1800" b="1">
                          <a:solidFill>
                            <a:schemeClr val="tx2"/>
                          </a:solidFill>
                          <a:latin typeface="BIZ UDPGothic" pitchFamily="34" charset="0"/>
                          <a:ea typeface="BIZ UDPGothic" pitchFamily="34" charset="-122"/>
                          <a:cs typeface="BIZ UDPGothic" pitchFamily="34" charset="-120"/>
                        </a:rPr>
                        <a:t>3</a:t>
                      </a:r>
                      <a:endParaRPr lang="en-US" sz="18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a:solidFill>
                            <a:schemeClr val="bg1"/>
                          </a:solidFill>
                          <a:latin typeface="BIZ UDPGothic" pitchFamily="34" charset="0"/>
                          <a:ea typeface="BIZ UDPGothic" pitchFamily="34" charset="-122"/>
                          <a:cs typeface="BIZ UDPGothic" pitchFamily="34" charset="-120"/>
                        </a:rPr>
                        <a:t>作業者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ボタンで承認して作業を始める</a:t>
                      </a:r>
                      <a:endParaRPr lang="en-US" sz="16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a:solidFill>
                            <a:schemeClr val="tx1"/>
                          </a:solidFill>
                          <a:latin typeface="BIZ UDPGothic" pitchFamily="34" charset="0"/>
                          <a:ea typeface="BIZ UDPGothic" pitchFamily="34" charset="-122"/>
                          <a:cs typeface="BIZ UDPGothic" pitchFamily="34" charset="-120"/>
                        </a:rPr>
                        <a:t>旋盤をロック。管理画面に「使用中・担当者」を表示</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03504">
                <a:tc>
                  <a:txBody>
                    <a:bodyPr/>
                    <a:lstStyle/>
                    <a:p>
                      <a:pPr marL="0" indent="0" algn="ctr">
                        <a:buNone/>
                      </a:pPr>
                      <a:r>
                        <a:rPr lang="en-US" sz="1800" b="1">
                          <a:solidFill>
                            <a:schemeClr val="tx2"/>
                          </a:solidFill>
                          <a:latin typeface="BIZ UDPGothic" pitchFamily="34" charset="0"/>
                          <a:ea typeface="BIZ UDPGothic" pitchFamily="34" charset="-122"/>
                          <a:cs typeface="BIZ UDPGothic" pitchFamily="34" charset="-120"/>
                        </a:rPr>
                        <a:t>4</a:t>
                      </a:r>
                      <a:endParaRPr lang="en-US" sz="18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a:solidFill>
                            <a:schemeClr val="bg1"/>
                          </a:solidFill>
                          <a:latin typeface="BIZ UDPGothic" pitchFamily="34" charset="0"/>
                          <a:ea typeface="BIZ UDPGothic" pitchFamily="34" charset="-122"/>
                          <a:cs typeface="BIZ UDPGothic" pitchFamily="34" charset="-120"/>
                        </a:rPr>
                        <a:t>作業者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別の機材への移動を提案される</a:t>
                      </a:r>
                      <a:endParaRPr lang="en-US" sz="16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a:solidFill>
                            <a:schemeClr val="tx1"/>
                          </a:solidFill>
                          <a:latin typeface="BIZ UDPGothic" pitchFamily="34" charset="0"/>
                          <a:ea typeface="BIZ UDPGothic" pitchFamily="34" charset="-122"/>
                          <a:cs typeface="BIZ UDPGothic" pitchFamily="34" charset="-120"/>
                        </a:rPr>
                        <a:t>本人宛のより重要な仕事が他の機材にあれば案内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lgn="ctr">
                        <a:buNone/>
                      </a:pPr>
                      <a:r>
                        <a:rPr lang="en-US" sz="1800" b="1">
                          <a:solidFill>
                            <a:schemeClr val="tx2"/>
                          </a:solidFill>
                          <a:latin typeface="BIZ UDPGothic" pitchFamily="34" charset="0"/>
                          <a:ea typeface="BIZ UDPGothic" pitchFamily="34" charset="-122"/>
                          <a:cs typeface="BIZ UDPGothic" pitchFamily="34" charset="-120"/>
                        </a:rPr>
                        <a:t>5</a:t>
                      </a:r>
                      <a:endParaRPr lang="en-US" sz="18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a:solidFill>
                            <a:schemeClr val="bg1"/>
                          </a:solidFill>
                          <a:latin typeface="BIZ UDPGothic" pitchFamily="34" charset="0"/>
                          <a:ea typeface="BIZ UDPGothic" pitchFamily="34" charset="-122"/>
                          <a:cs typeface="BIZ UDPGothic" pitchFamily="34" charset="-120"/>
                        </a:rPr>
                        <a:t>作業者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accent1"/>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終わったら再タッチし、難しさを答える</a:t>
                      </a:r>
                      <a:endParaRPr lang="en-US" sz="16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a:solidFill>
                            <a:schemeClr val="tx1"/>
                          </a:solidFill>
                          <a:latin typeface="BIZ UDPGothic" pitchFamily="34" charset="0"/>
                          <a:ea typeface="BIZ UDPGothic" pitchFamily="34" charset="-122"/>
                          <a:cs typeface="BIZ UDPGothic" pitchFamily="34" charset="-120"/>
                        </a:rPr>
                        <a:t>所要時間を記録し、AI が得意・不得意を学習</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603504">
                <a:tc>
                  <a:txBody>
                    <a:bodyPr/>
                    <a:lstStyle/>
                    <a:p>
                      <a:pPr marL="0" indent="0" algn="ctr">
                        <a:buNone/>
                      </a:pPr>
                      <a:r>
                        <a:rPr lang="en-US" sz="1800" b="1">
                          <a:solidFill>
                            <a:schemeClr val="tx2"/>
                          </a:solidFill>
                          <a:latin typeface="BIZ UDPGothic" pitchFamily="34" charset="0"/>
                          <a:ea typeface="BIZ UDPGothic" pitchFamily="34" charset="-122"/>
                          <a:cs typeface="BIZ UDPGothic" pitchFamily="34" charset="-120"/>
                        </a:rPr>
                        <a:t>6</a:t>
                      </a:r>
                      <a:endParaRPr lang="en-US" sz="18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lgn="ctr">
                        <a:buNone/>
                      </a:pPr>
                      <a:r>
                        <a:rPr lang="en-US" sz="1500" b="1">
                          <a:solidFill>
                            <a:schemeClr val="bg1"/>
                          </a:solidFill>
                          <a:latin typeface="BIZ UDPGothic" pitchFamily="34" charset="0"/>
                          <a:ea typeface="BIZ UDPGothic" pitchFamily="34" charset="-122"/>
                          <a:cs typeface="BIZ UDPGothic" pitchFamily="34" charset="-120"/>
                        </a:rPr>
                        <a:t>管理者</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600" b="1">
                          <a:solidFill>
                            <a:schemeClr val="tx1"/>
                          </a:solidFill>
                          <a:latin typeface="BIZ UDPGothic" pitchFamily="34" charset="0"/>
                          <a:ea typeface="BIZ UDPGothic" pitchFamily="34" charset="-122"/>
                          <a:cs typeface="BIZ UDPGothic" pitchFamily="34" charset="-120"/>
                        </a:rPr>
                        <a:t>画面で進捗と実績を確認</a:t>
                      </a:r>
                      <a:endParaRPr lang="en-US" sz="16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tcPr>
                </a:tc>
                <a:tc>
                  <a:txBody>
                    <a:bodyPr/>
                    <a:lstStyle/>
                    <a:p>
                      <a:pPr marL="0" indent="0">
                        <a:buNone/>
                      </a:pPr>
                      <a:r>
                        <a:rPr lang="en-US" sz="1500">
                          <a:solidFill>
                            <a:schemeClr val="tx1"/>
                          </a:solidFill>
                          <a:latin typeface="BIZ UDPGothic" pitchFamily="34" charset="0"/>
                          <a:ea typeface="BIZ UDPGothic" pitchFamily="34" charset="-122"/>
                          <a:cs typeface="BIZ UDPGothic" pitchFamily="34" charset="-120"/>
                        </a:rPr>
                        <a:t>偏りや遅れがあれば「AI 割当」で割り振り直し</a:t>
                      </a:r>
                      <a:endParaRPr lang="en-US" sz="1500">
                        <a:latin typeface="BIZ UDPGothic" charset="0"/>
                        <a:ea typeface="BIZ UDPGothic" charset="0"/>
                        <a:cs typeface="BIZ UDPGothic" charset="0"/>
                      </a:endParaRPr>
                    </a:p>
                  </a:txBody>
                  <a:tcPr marL="137160" marR="137160" marT="0" marB="0" anchor="ctr">
                    <a:lnL w="38100" cap="flat" cmpd="sng" algn="ctr">
                      <a:solidFill>
                        <a:srgbClr val="FFFFFF"/>
                      </a:solidFill>
                      <a:prstDash val="solid"/>
                      <a:round/>
                      <a:headEnd type="none" w="med" len="med"/>
                      <a:tailEnd type="none" w="med" len="med"/>
                    </a:lnL>
                    <a:lnR w="381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ユースケース_まとめ"/>
          <p:cNvSpPr txBox="1"/>
          <p:nvPr/>
        </p:nvSpPr>
        <p:spPr>
          <a:xfrm>
            <a:off x="548640" y="5760720"/>
            <a:ext cx="11094415" cy="411480"/>
          </a:xfrm>
          <a:prstGeom prst="rect">
            <a:avLst/>
          </a:prstGeom>
          <a:noFill/>
          <a:ln/>
        </p:spPr>
        <p:txBody>
          <a:bodyPr wrap="square" lIns="0" tIns="0" rIns="0" bIns="0" rtlCol="0" anchor="ctr"/>
          <a:lstStyle/>
          <a:p>
            <a:pPr marL="0" indent="0">
              <a:buNone/>
            </a:pPr>
            <a:r>
              <a:rPr lang="ja-JP" altLang="en-US" sz="1800" b="1">
                <a:solidFill>
                  <a:schemeClr val="accent1"/>
                </a:solidFill>
              </a:rPr>
              <a:t>作業者は機材の前で「タッチ」と「ボタン」だけ。報告・確認・次の仕事探しのために歩き回らなくてよい</a:t>
            </a:r>
            <a:endParaRPr lang="ja-JP" sz="18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11</a:t>
            </a:fld>
            <a:endParaRPr lang="en-US"/>
          </a:p>
        </p:txBody>
      </p:sp>
      <p:sp>
        <p:nvSpPr>
          <p:cNvPr id="4" name="矢印: 右 3">
            <a:extLst>
              <a:ext uri="{FF2B5EF4-FFF2-40B4-BE49-F238E27FC236}">
                <a16:creationId xmlns:a16="http://schemas.microsoft.com/office/drawing/2014/main" id="{E92710AF-4856-DBA7-F6CC-AA5625514229}"/>
              </a:ext>
            </a:extLst>
          </p:cNvPr>
          <p:cNvSpPr/>
          <p:nvPr/>
        </p:nvSpPr>
        <p:spPr>
          <a:xfrm>
            <a:off x="86184" y="2039007"/>
            <a:ext cx="641132" cy="41148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42" presetClass="path" presetSubtype="0" accel="50000" decel="50000" fill="hold" grpId="1" nodeType="clickEffect">
                                  <p:stCondLst>
                                    <p:cond delay="0"/>
                                  </p:stCondLst>
                                  <p:childTnLst>
                                    <p:animMotion origin="layout" path="M -3.33333E-6 -4.81481E-6 L -0.00143 0.08959 " pathEditMode="relative" rAng="0" ptsTypes="AA">
                                      <p:cBhvr>
                                        <p:cTn id="11" dur="2000" fill="hold"/>
                                        <p:tgtEl>
                                          <p:spTgt spid="4"/>
                                        </p:tgtEl>
                                        <p:attrNameLst>
                                          <p:attrName>ppt_x</p:attrName>
                                          <p:attrName>ppt_y</p:attrName>
                                        </p:attrNameLst>
                                      </p:cBhvr>
                                      <p:rCtr x="-78" y="4468"/>
                                    </p:animMotion>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2" nodeType="clickEffect">
                                  <p:stCondLst>
                                    <p:cond delay="0"/>
                                  </p:stCondLst>
                                  <p:childTnLst>
                                    <p:animMotion origin="layout" path="M -0.00143 0.08958 L -0.00052 0.17269 " pathEditMode="relative" rAng="0" ptsTypes="AA">
                                      <p:cBhvr>
                                        <p:cTn id="15" dur="2000" fill="hold"/>
                                        <p:tgtEl>
                                          <p:spTgt spid="4"/>
                                        </p:tgtEl>
                                        <p:attrNameLst>
                                          <p:attrName>ppt_x</p:attrName>
                                          <p:attrName>ppt_y</p:attrName>
                                        </p:attrNameLst>
                                      </p:cBhvr>
                                      <p:rCtr x="-91" y="4375"/>
                                    </p:animMotion>
                                  </p:childTnLst>
                                </p:cTn>
                              </p:par>
                            </p:childTnLst>
                          </p:cTn>
                        </p:par>
                      </p:childTnLst>
                    </p:cTn>
                  </p:par>
                  <p:par>
                    <p:cTn id="16" fill="hold">
                      <p:stCondLst>
                        <p:cond delay="indefinite"/>
                      </p:stCondLst>
                      <p:childTnLst>
                        <p:par>
                          <p:cTn id="17" fill="hold">
                            <p:stCondLst>
                              <p:cond delay="0"/>
                            </p:stCondLst>
                            <p:childTnLst>
                              <p:par>
                                <p:cTn id="18" presetID="42" presetClass="path" presetSubtype="0" accel="50000" decel="50000" fill="hold" grpId="3" nodeType="clickEffect">
                                  <p:stCondLst>
                                    <p:cond delay="0"/>
                                  </p:stCondLst>
                                  <p:childTnLst>
                                    <p:animMotion origin="layout" path="M -0.00052 0.17269 L -0.00052 0.26737 " pathEditMode="relative" rAng="0" ptsTypes="AA">
                                      <p:cBhvr>
                                        <p:cTn id="19" dur="2000" fill="hold"/>
                                        <p:tgtEl>
                                          <p:spTgt spid="4"/>
                                        </p:tgtEl>
                                        <p:attrNameLst>
                                          <p:attrName>ppt_x</p:attrName>
                                          <p:attrName>ppt_y</p:attrName>
                                        </p:attrNameLst>
                                      </p:cBhvr>
                                      <p:rCtr x="0" y="4722"/>
                                    </p:animMotion>
                                  </p:childTnLst>
                                </p:cTn>
                              </p:par>
                            </p:childTnLst>
                          </p:cTn>
                        </p:par>
                      </p:childTnLst>
                    </p:cTn>
                  </p:par>
                  <p:par>
                    <p:cTn id="20" fill="hold">
                      <p:stCondLst>
                        <p:cond delay="indefinite"/>
                      </p:stCondLst>
                      <p:childTnLst>
                        <p:par>
                          <p:cTn id="21" fill="hold">
                            <p:stCondLst>
                              <p:cond delay="0"/>
                            </p:stCondLst>
                            <p:childTnLst>
                              <p:par>
                                <p:cTn id="22" presetID="42" presetClass="path" presetSubtype="0" accel="50000" decel="50000" fill="hold" grpId="4" nodeType="clickEffect">
                                  <p:stCondLst>
                                    <p:cond delay="0"/>
                                  </p:stCondLst>
                                  <p:childTnLst>
                                    <p:animMotion origin="layout" path="M -0.00052 0.26736 L 0.00026 0.35463 " pathEditMode="relative" rAng="0" ptsTypes="AA">
                                      <p:cBhvr>
                                        <p:cTn id="23" dur="2000" fill="hold"/>
                                        <p:tgtEl>
                                          <p:spTgt spid="4"/>
                                        </p:tgtEl>
                                        <p:attrNameLst>
                                          <p:attrName>ppt_x</p:attrName>
                                          <p:attrName>ppt_y</p:attrName>
                                        </p:attrNameLst>
                                      </p:cBhvr>
                                      <p:rCtr x="-52" y="4907"/>
                                    </p:animMotion>
                                  </p:childTnLst>
                                </p:cTn>
                              </p:par>
                            </p:childTnLst>
                          </p:cTn>
                        </p:par>
                      </p:childTnLst>
                    </p:cTn>
                  </p:par>
                  <p:par>
                    <p:cTn id="24" fill="hold">
                      <p:stCondLst>
                        <p:cond delay="indefinite"/>
                      </p:stCondLst>
                      <p:childTnLst>
                        <p:par>
                          <p:cTn id="25" fill="hold">
                            <p:stCondLst>
                              <p:cond delay="0"/>
                            </p:stCondLst>
                            <p:childTnLst>
                              <p:par>
                                <p:cTn id="26" presetID="42" presetClass="path" presetSubtype="0" accel="50000" decel="50000" fill="hold" grpId="5" nodeType="clickEffect">
                                  <p:stCondLst>
                                    <p:cond delay="0"/>
                                  </p:stCondLst>
                                  <p:childTnLst>
                                    <p:animMotion origin="layout" path="M 0.00026 0.35463 L -0.00052 0.4375 " pathEditMode="relative" rAng="0" ptsTypes="AA">
                                      <p:cBhvr>
                                        <p:cTn id="27" dur="2000" fill="hold"/>
                                        <p:tgtEl>
                                          <p:spTgt spid="4"/>
                                        </p:tgtEl>
                                        <p:attrNameLst>
                                          <p:attrName>ppt_x</p:attrName>
                                          <p:attrName>ppt_y</p:attrName>
                                        </p:attrNameLst>
                                      </p:cBhvr>
                                      <p:rCtr x="0" y="44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4" grpId="2" animBg="1"/>
      <p:bldP spid="4" grpId="3" animBg="1"/>
      <p:bldP spid="4" grpId="4" animBg="1"/>
      <p:bldP spid="4" grpId="5"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6. AI の妥当性</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AI の仕組み：実績から学び、割当の理由を示す</a:t>
            </a:r>
            <a:endParaRPr lang="ja-JP" sz="3200"/>
          </a:p>
        </p:txBody>
      </p:sp>
      <p:sp>
        <p:nvSpPr>
          <p:cNvPr id="4" name="AI特徴1"/>
          <p:cNvSpPr/>
          <p:nvPr/>
        </p:nvSpPr>
        <p:spPr>
          <a:xfrm>
            <a:off x="548640" y="155448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5" name="AI特徴1_文字"/>
          <p:cNvSpPr txBox="1"/>
          <p:nvPr/>
        </p:nvSpPr>
        <p:spPr>
          <a:xfrm>
            <a:off x="777240" y="1737360"/>
            <a:ext cx="4389120" cy="914400"/>
          </a:xfrm>
          <a:prstGeom prst="rect">
            <a:avLst/>
          </a:prstGeom>
          <a:noFill/>
          <a:ln/>
        </p:spPr>
        <p:txBody>
          <a:bodyPr wrap="square" lIns="0" tIns="0" rIns="0" bIns="0" rtlCol="0" anchor="t"/>
          <a:lstStyle/>
          <a:p>
            <a:pPr marL="0" indent="0">
              <a:buNone/>
            </a:pPr>
            <a:r>
              <a:rPr lang="ja-JP" altLang="en-US" sz="1800" b="1">
                <a:solidFill>
                  <a:schemeClr val="tx2"/>
                </a:solidFill>
              </a:rPr>
              <a:t>隠れた得意分野を見つける</a:t>
            </a:r>
            <a:endParaRPr lang="ja-JP" sz="1800"/>
          </a:p>
          <a:p>
            <a:pPr marL="0" indent="0">
              <a:spcBef>
                <a:spcPts val="800"/>
              </a:spcBef>
              <a:buNone/>
            </a:pPr>
            <a:r>
              <a:rPr lang="ja-JP" altLang="en-US" sz="1500">
                <a:solidFill>
                  <a:schemeClr val="tx1"/>
                </a:solidFill>
              </a:rPr>
              <a:t>経験年数だけでなく、実際の作業時間から一人ひとりの向き・不向きを学ぶ</a:t>
            </a:r>
            <a:endParaRPr lang="ja-JP" sz="1800"/>
          </a:p>
        </p:txBody>
      </p:sp>
      <p:sp>
        <p:nvSpPr>
          <p:cNvPr id="6" name="AI特徴2"/>
          <p:cNvSpPr/>
          <p:nvPr/>
        </p:nvSpPr>
        <p:spPr>
          <a:xfrm>
            <a:off x="548640" y="301752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7" name="AI特徴2_文字"/>
          <p:cNvSpPr txBox="1"/>
          <p:nvPr/>
        </p:nvSpPr>
        <p:spPr>
          <a:xfrm>
            <a:off x="777240" y="3200400"/>
            <a:ext cx="4389120" cy="914400"/>
          </a:xfrm>
          <a:prstGeom prst="rect">
            <a:avLst/>
          </a:prstGeom>
          <a:noFill/>
          <a:ln/>
        </p:spPr>
        <p:txBody>
          <a:bodyPr wrap="square" lIns="0" tIns="0" rIns="0" bIns="0" rtlCol="0" anchor="t"/>
          <a:lstStyle/>
          <a:p>
            <a:pPr marL="0" indent="0">
              <a:buNone/>
            </a:pPr>
            <a:r>
              <a:rPr lang="ja-JP" altLang="en-US" sz="1800" b="1">
                <a:solidFill>
                  <a:schemeClr val="tx2"/>
                </a:solidFill>
              </a:rPr>
              <a:t>新人にも機会を回す</a:t>
            </a:r>
            <a:endParaRPr lang="ja-JP" sz="1800"/>
          </a:p>
          <a:p>
            <a:pPr marL="0" indent="0">
              <a:spcBef>
                <a:spcPts val="800"/>
              </a:spcBef>
              <a:buNone/>
            </a:pPr>
            <a:r>
              <a:rPr lang="ja-JP" altLang="en-US" sz="1500">
                <a:solidFill>
                  <a:schemeClr val="tx1"/>
                </a:solidFill>
              </a:rPr>
              <a:t>実績の少ない人にも試しに任せ、得意かどうかを確かめる</a:t>
            </a:r>
            <a:endParaRPr lang="ja-JP" sz="1800"/>
          </a:p>
        </p:txBody>
      </p:sp>
      <p:sp>
        <p:nvSpPr>
          <p:cNvPr id="8" name="AI特徴3"/>
          <p:cNvSpPr/>
          <p:nvPr/>
        </p:nvSpPr>
        <p:spPr>
          <a:xfrm>
            <a:off x="548640" y="4480560"/>
            <a:ext cx="4846320" cy="1280160"/>
          </a:xfrm>
          <a:prstGeom prst="roundRect">
            <a:avLst>
              <a:gd name="adj" fmla="val 5714"/>
            </a:avLst>
          </a:prstGeom>
          <a:solidFill>
            <a:schemeClr val="bg2"/>
          </a:solidFill>
          <a:ln w="12700">
            <a:solidFill>
              <a:schemeClr val="bg2"/>
            </a:solidFill>
            <a:prstDash val="solid"/>
          </a:ln>
        </p:spPr>
        <p:txBody>
          <a:bodyPr/>
          <a:lstStyle/>
          <a:p>
            <a:endParaRPr lang="ja-JP" altLang="en-US"/>
          </a:p>
        </p:txBody>
      </p:sp>
      <p:sp>
        <p:nvSpPr>
          <p:cNvPr id="9" name="AI特徴3_文字"/>
          <p:cNvSpPr txBox="1"/>
          <p:nvPr/>
        </p:nvSpPr>
        <p:spPr>
          <a:xfrm>
            <a:off x="777240" y="4663440"/>
            <a:ext cx="4389120" cy="914400"/>
          </a:xfrm>
          <a:prstGeom prst="rect">
            <a:avLst/>
          </a:prstGeom>
          <a:noFill/>
          <a:ln/>
        </p:spPr>
        <p:txBody>
          <a:bodyPr wrap="square" lIns="0" tIns="0" rIns="0" bIns="0" rtlCol="0" anchor="t"/>
          <a:lstStyle/>
          <a:p>
            <a:pPr marL="0" indent="0">
              <a:buNone/>
            </a:pPr>
            <a:r>
              <a:rPr lang="ja-JP" altLang="en-US" sz="1800" b="1">
                <a:solidFill>
                  <a:schemeClr val="tx2"/>
                </a:solidFill>
              </a:rPr>
              <a:t>一人に仕事を集中させない</a:t>
            </a:r>
            <a:endParaRPr lang="ja-JP" sz="1800"/>
          </a:p>
          <a:p>
            <a:pPr marL="0" indent="0">
              <a:spcBef>
                <a:spcPts val="800"/>
              </a:spcBef>
              <a:buNone/>
            </a:pPr>
            <a:r>
              <a:rPr lang="ja-JP" altLang="en-US" sz="1500">
                <a:solidFill>
                  <a:schemeClr val="tx1"/>
                </a:solidFill>
              </a:rPr>
              <a:t>手持ちの仕事が多い人は点数を下げ、</a:t>
            </a:r>
            <a:endParaRPr lang="en-US" altLang="ja-JP" sz="1500">
              <a:solidFill>
                <a:schemeClr val="tx1"/>
              </a:solidFill>
            </a:endParaRPr>
          </a:p>
          <a:p>
            <a:pPr marL="0" indent="0">
              <a:spcBef>
                <a:spcPts val="800"/>
              </a:spcBef>
              <a:buNone/>
            </a:pPr>
            <a:r>
              <a:rPr lang="ja-JP" altLang="en-US" sz="1500">
                <a:solidFill>
                  <a:schemeClr val="tx1"/>
                </a:solidFill>
              </a:rPr>
              <a:t>次に向く人へ回す</a:t>
            </a:r>
            <a:endParaRPr lang="ja-JP" sz="1800"/>
          </a:p>
        </p:txBody>
      </p:sp>
      <p:sp>
        <p:nvSpPr>
          <p:cNvPr id="10" name="根拠_見出し"/>
          <p:cNvSpPr txBox="1"/>
          <p:nvPr/>
        </p:nvSpPr>
        <p:spPr>
          <a:xfrm>
            <a:off x="5852160" y="1554480"/>
            <a:ext cx="5790895" cy="365760"/>
          </a:xfrm>
          <a:prstGeom prst="rect">
            <a:avLst/>
          </a:prstGeom>
          <a:noFill/>
          <a:ln/>
        </p:spPr>
        <p:txBody>
          <a:bodyPr wrap="square" lIns="0" tIns="0" rIns="0" bIns="0" rtlCol="0" anchor="ctr"/>
          <a:lstStyle/>
          <a:p>
            <a:pPr marL="0" indent="0">
              <a:buNone/>
            </a:pPr>
            <a:r>
              <a:rPr lang="ja-JP" altLang="en-US" sz="1800" b="1">
                <a:solidFill>
                  <a:schemeClr val="tx2"/>
                </a:solidFill>
              </a:rPr>
              <a:t>割当の根拠の表示例：溶接・難易度 3 のタスク</a:t>
            </a:r>
            <a:endParaRPr lang="ja-JP" sz="1800"/>
          </a:p>
        </p:txBody>
      </p:sp>
      <p:graphicFrame>
        <p:nvGraphicFramePr>
          <p:cNvPr id="11" name="根拠_表"/>
          <p:cNvGraphicFramePr>
            <a:graphicFrameLocks noGrp="1"/>
          </p:cNvGraphicFramePr>
          <p:nvPr>
            <p:extLst>
              <p:ext uri="{D42A27DB-BD31-4B8C-83A1-F6EECF244321}">
                <p14:modId xmlns:p14="http://schemas.microsoft.com/office/powerpoint/2010/main" val="1579011935"/>
              </p:ext>
            </p:extLst>
          </p:nvPr>
        </p:nvGraphicFramePr>
        <p:xfrm>
          <a:off x="5852160" y="2011680"/>
          <a:ext cx="5790895" cy="2304288"/>
        </p:xfrm>
        <a:graphic>
          <a:graphicData uri="http://schemas.openxmlformats.org/drawingml/2006/table">
            <a:tbl>
              <a:tblPr/>
              <a:tblGrid>
                <a:gridCol w="1950415">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84048">
                <a:tc>
                  <a:txBody>
                    <a:bodyPr/>
                    <a:lstStyle/>
                    <a:p>
                      <a:pPr marL="0" indent="0" algn="ctr">
                        <a:buNone/>
                      </a:pPr>
                      <a:r>
                        <a:rPr lang="en-US" sz="1400" b="1">
                          <a:solidFill>
                            <a:schemeClr val="bg1"/>
                          </a:solidFill>
                          <a:latin typeface="BIZ UDPGothic" pitchFamily="34" charset="0"/>
                          <a:ea typeface="BIZ UDPGothic" pitchFamily="34" charset="-122"/>
                          <a:cs typeface="BIZ UDPGothic" pitchFamily="34" charset="-120"/>
                        </a:rPr>
                        <a:t>作業者</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a:solidFill>
                            <a:schemeClr val="bg1"/>
                          </a:solidFill>
                          <a:latin typeface="BIZ UDPGothic" pitchFamily="34" charset="0"/>
                          <a:ea typeface="BIZ UDPGothic" pitchFamily="34" charset="-122"/>
                          <a:cs typeface="BIZ UDPGothic" pitchFamily="34" charset="-120"/>
                        </a:rPr>
                        <a:t>期待値</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a:solidFill>
                            <a:schemeClr val="bg1"/>
                          </a:solidFill>
                          <a:latin typeface="BIZ UDPGothic" pitchFamily="34" charset="0"/>
                          <a:ea typeface="BIZ UDPGothic" pitchFamily="34" charset="-122"/>
                          <a:cs typeface="BIZ UDPGothic" pitchFamily="34" charset="-120"/>
                        </a:rPr>
                        <a:t>手持ち [分]</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tc>
                  <a:txBody>
                    <a:bodyPr/>
                    <a:lstStyle/>
                    <a:p>
                      <a:pPr marL="0" indent="0" algn="ctr">
                        <a:buNone/>
                      </a:pPr>
                      <a:r>
                        <a:rPr lang="en-US" sz="1400" b="1">
                          <a:solidFill>
                            <a:schemeClr val="bg1"/>
                          </a:solidFill>
                          <a:latin typeface="BIZ UDPGothic" pitchFamily="34" charset="0"/>
                          <a:ea typeface="BIZ UDPGothic" pitchFamily="34" charset="-122"/>
                          <a:cs typeface="BIZ UDPGothic" pitchFamily="34" charset="-120"/>
                        </a:rPr>
                        <a:t>点数</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lgn="l">
                        <a:buNone/>
                      </a:pPr>
                      <a:r>
                        <a:rPr lang="en-US" sz="1400" b="1">
                          <a:solidFill>
                            <a:schemeClr val="accent1"/>
                          </a:solidFill>
                          <a:latin typeface="BIZ UDPGothic" pitchFamily="34" charset="0"/>
                          <a:ea typeface="BIZ UDPGothic" pitchFamily="34" charset="-122"/>
                          <a:cs typeface="BIZ UDPGothic" pitchFamily="34" charset="-120"/>
                        </a:rPr>
                        <a:t>勤続 8 年</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a:solidFill>
                            <a:schemeClr val="accent1"/>
                          </a:solidFill>
                          <a:latin typeface="BIZ UDPGothic" pitchFamily="34" charset="0"/>
                          <a:ea typeface="BIZ UDPGothic" pitchFamily="34" charset="-122"/>
                          <a:cs typeface="BIZ UDPGothic" pitchFamily="34" charset="-120"/>
                        </a:rPr>
                        <a:t>1.58</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a:solidFill>
                            <a:schemeClr val="accent1"/>
                          </a:solidFill>
                          <a:latin typeface="BIZ UDPGothic" pitchFamily="34" charset="0"/>
                          <a:ea typeface="BIZ UDPGothic" pitchFamily="34" charset="-122"/>
                          <a:cs typeface="BIZ UDPGothic" pitchFamily="34" charset="-120"/>
                        </a:rPr>
                        <a:t>0</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tc>
                  <a:txBody>
                    <a:bodyPr/>
                    <a:lstStyle/>
                    <a:p>
                      <a:pPr marL="0" indent="0" algn="r">
                        <a:buNone/>
                      </a:pPr>
                      <a:r>
                        <a:rPr lang="en-US" sz="1400" b="1">
                          <a:solidFill>
                            <a:schemeClr val="accent1"/>
                          </a:solidFill>
                          <a:latin typeface="BIZ UDPGothic" pitchFamily="34" charset="0"/>
                          <a:ea typeface="BIZ UDPGothic" pitchFamily="34" charset="-122"/>
                          <a:cs typeface="BIZ UDPGothic" pitchFamily="34" charset="-120"/>
                        </a:rPr>
                        <a:t>1.61</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accent5"/>
                    </a:solidFill>
                  </a:tcPr>
                </a:tc>
                <a:extLst>
                  <a:ext uri="{0D108BD9-81ED-4DB2-BD59-A6C34878D82A}">
                    <a16:rowId xmlns:a16="http://schemas.microsoft.com/office/drawing/2014/main" val="10001"/>
                  </a:ext>
                </a:extLst>
              </a:tr>
              <a:tr h="384048">
                <a:tc>
                  <a:txBody>
                    <a:bodyPr/>
                    <a:lstStyle/>
                    <a:p>
                      <a:pPr marL="0" indent="0" algn="l">
                        <a:buNone/>
                      </a:pPr>
                      <a:r>
                        <a:rPr lang="en-US" sz="1400">
                          <a:solidFill>
                            <a:schemeClr val="tx1"/>
                          </a:solidFill>
                          <a:latin typeface="BIZ UDPGothic" pitchFamily="34" charset="0"/>
                          <a:ea typeface="BIZ UDPGothic" pitchFamily="34" charset="-122"/>
                          <a:cs typeface="BIZ UDPGothic" pitchFamily="34" charset="-120"/>
                        </a:rPr>
                        <a:t>勤続 25 年</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0.78</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1.14</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400">
                          <a:solidFill>
                            <a:schemeClr val="tx1"/>
                          </a:solidFill>
                          <a:latin typeface="BIZ UDPGothic" pitchFamily="34" charset="0"/>
                          <a:ea typeface="BIZ UDPGothic" pitchFamily="34" charset="-122"/>
                          <a:cs typeface="BIZ UDPGothic" pitchFamily="34" charset="-120"/>
                        </a:rPr>
                        <a:t>勤続 30 年</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2.31</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22.9</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0.97</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84048">
                <a:tc>
                  <a:txBody>
                    <a:bodyPr/>
                    <a:lstStyle/>
                    <a:p>
                      <a:pPr marL="0" indent="0" algn="l">
                        <a:buNone/>
                      </a:pPr>
                      <a:r>
                        <a:rPr lang="en-US" sz="1400">
                          <a:solidFill>
                            <a:schemeClr val="tx1"/>
                          </a:solidFill>
                          <a:latin typeface="BIZ UDPGothic" pitchFamily="34" charset="0"/>
                          <a:ea typeface="BIZ UDPGothic" pitchFamily="34" charset="-122"/>
                          <a:cs typeface="BIZ UDPGothic" pitchFamily="34" charset="-120"/>
                        </a:rPr>
                        <a:t>勤続 3 年</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0.64</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0.47</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84048">
                <a:tc>
                  <a:txBody>
                    <a:bodyPr/>
                    <a:lstStyle/>
                    <a:p>
                      <a:pPr marL="0" indent="0" algn="l">
                        <a:buNone/>
                      </a:pPr>
                      <a:r>
                        <a:rPr lang="en-US" sz="1400">
                          <a:solidFill>
                            <a:schemeClr val="tx1"/>
                          </a:solidFill>
                          <a:latin typeface="BIZ UDPGothic" pitchFamily="34" charset="0"/>
                          <a:ea typeface="BIZ UDPGothic" pitchFamily="34" charset="-122"/>
                          <a:cs typeface="BIZ UDPGothic" pitchFamily="34" charset="-120"/>
                        </a:rPr>
                        <a:t>勤続 1 年</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0.19</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tc>
                  <a:txBody>
                    <a:bodyPr/>
                    <a:lstStyle/>
                    <a:p>
                      <a:pPr marL="0" indent="0" algn="r">
                        <a:buNone/>
                      </a:pPr>
                      <a:r>
                        <a:rPr lang="en-US" sz="1400">
                          <a:solidFill>
                            <a:schemeClr val="tx1"/>
                          </a:solidFill>
                          <a:latin typeface="BIZ UDPGothic" pitchFamily="34" charset="0"/>
                          <a:ea typeface="BIZ UDPGothic" pitchFamily="34" charset="-122"/>
                          <a:cs typeface="BIZ UDPGothic" pitchFamily="34" charset="-120"/>
                        </a:rPr>
                        <a:t>0.18</a:t>
                      </a:r>
                      <a:endParaRPr lang="en-US" sz="1400">
                        <a:latin typeface="BIZ UDPGothic" charset="0"/>
                        <a:ea typeface="BIZ UDPGothic" charset="0"/>
                        <a:cs typeface="BIZ UDPGothic" charset="0"/>
                      </a:endParaRPr>
                    </a:p>
                  </a:txBody>
                  <a:tcPr marL="109728" marR="109728" marT="0" marB="0" anchor="ctr">
                    <a:lnL w="12700" cap="flat" cmpd="sng" algn="ctr">
                      <a:solidFill>
                        <a:srgbClr val="D5D9E0"/>
                      </a:solidFill>
                      <a:prstDash val="solid"/>
                      <a:round/>
                      <a:headEnd type="none" w="med" len="med"/>
                      <a:tailEnd type="none" w="med" len="med"/>
                    </a:lnL>
                    <a:lnR w="12700" cap="flat" cmpd="sng" algn="ctr">
                      <a:solidFill>
                        <a:srgbClr val="D5D9E0"/>
                      </a:solidFill>
                      <a:prstDash val="solid"/>
                      <a:round/>
                      <a:headEnd type="none" w="med" len="med"/>
                      <a:tailEnd type="none" w="med" len="med"/>
                    </a:lnR>
                    <a:lnT w="12700" cap="flat" cmpd="sng" algn="ctr">
                      <a:solidFill>
                        <a:srgbClr val="D5D9E0"/>
                      </a:solidFill>
                      <a:prstDash val="solid"/>
                      <a:round/>
                      <a:headEnd type="none" w="med" len="med"/>
                      <a:tailEnd type="none" w="med" len="med"/>
                    </a:lnT>
                    <a:lnB w="12700" cap="flat" cmpd="sng" algn="ctr">
                      <a:solidFill>
                        <a:srgbClr val="D5D9E0"/>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12" name="根拠_説明"/>
          <p:cNvSpPr txBox="1"/>
          <p:nvPr/>
        </p:nvSpPr>
        <p:spPr>
          <a:xfrm>
            <a:off x="5852160" y="4480560"/>
            <a:ext cx="5790895" cy="1280160"/>
          </a:xfrm>
          <a:prstGeom prst="rect">
            <a:avLst/>
          </a:prstGeom>
          <a:noFill/>
          <a:ln/>
        </p:spPr>
        <p:txBody>
          <a:bodyPr wrap="square" lIns="0" tIns="0" rIns="0" bIns="0" rtlCol="0" anchor="t"/>
          <a:lstStyle/>
          <a:p>
            <a:pPr marL="203200" indent="-203200">
              <a:buSzPct val="100000"/>
              <a:buChar char="•"/>
            </a:pPr>
            <a:r>
              <a:rPr lang="ja-JP" altLang="en-US" sz="1500">
                <a:solidFill>
                  <a:schemeClr val="tx1"/>
                </a:solidFill>
              </a:rPr>
              <a:t>期待値が最も高いのは勤続 30 年の人。</a:t>
            </a:r>
            <a:endParaRPr lang="en-US" altLang="ja-JP" sz="1500">
              <a:solidFill>
                <a:schemeClr val="tx1"/>
              </a:solidFill>
            </a:endParaRPr>
          </a:p>
          <a:p>
            <a:pPr>
              <a:buSzPct val="100000"/>
            </a:pPr>
            <a:r>
              <a:rPr lang="ja-JP" altLang="en-US" sz="1500">
                <a:solidFill>
                  <a:schemeClr val="tx1"/>
                </a:solidFill>
              </a:rPr>
              <a:t>ただし手持ちが 23 分あるため点数は 0.97</a:t>
            </a:r>
            <a:endParaRPr lang="ja-JP" sz="1500"/>
          </a:p>
          <a:p>
            <a:pPr marL="203200" indent="-203200">
              <a:spcBef>
                <a:spcPts val="600"/>
              </a:spcBef>
              <a:buSzPct val="100000"/>
              <a:buChar char="•"/>
            </a:pPr>
            <a:r>
              <a:rPr lang="ja-JP" altLang="en-US" sz="1500">
                <a:solidFill>
                  <a:schemeClr val="tx1"/>
                </a:solidFill>
              </a:rPr>
              <a:t>手持ちがなく、溶接が 2 番目に得意な勤続 8 年の人に任せる</a:t>
            </a:r>
            <a:endParaRPr lang="ja-JP" sz="1500"/>
          </a:p>
          <a:p>
            <a:pPr marL="0" indent="0">
              <a:spcBef>
                <a:spcPts val="600"/>
              </a:spcBef>
              <a:buNone/>
            </a:pPr>
            <a:r>
              <a:rPr lang="ja-JP" altLang="en-US" sz="1500" b="1">
                <a:solidFill>
                  <a:schemeClr val="accent1"/>
                </a:solidFill>
              </a:rPr>
              <a:t>→ 「なぜこの人か」を管理者が確認できる</a:t>
            </a:r>
            <a:endParaRPr lang="ja-JP" sz="1500"/>
          </a:p>
        </p:txBody>
      </p:sp>
      <p:sp>
        <p:nvSpPr>
          <p:cNvPr id="13" name="AI_手法"/>
          <p:cNvSpPr txBox="1"/>
          <p:nvPr/>
        </p:nvSpPr>
        <p:spPr>
          <a:xfrm>
            <a:off x="548640" y="5943600"/>
            <a:ext cx="11094415" cy="320040"/>
          </a:xfrm>
          <a:prstGeom prst="rect">
            <a:avLst/>
          </a:prstGeom>
          <a:noFill/>
          <a:ln/>
        </p:spPr>
        <p:txBody>
          <a:bodyPr wrap="square" lIns="0" tIns="0" rIns="0" bIns="0" rtlCol="0" anchor="ctr"/>
          <a:lstStyle/>
          <a:p>
            <a:pPr marL="0" indent="0">
              <a:buNone/>
            </a:pPr>
            <a:r>
              <a:rPr lang="ja-JP" altLang="en-US" sz="1200">
                <a:solidFill>
                  <a:schemeClr val="accent4"/>
                </a:solidFill>
              </a:rPr>
              <a:t>手法：文脈付きバンディット（ベイズ線形回帰＋Thompson Sampling）。表は評価シミュレーションで実際に出た根拠（抜粋）</a:t>
            </a:r>
            <a:endParaRPr lang="ja-JP" sz="12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6. AI の妥当性</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評価：シミュレーションで他の割当方法と比較</a:t>
            </a:r>
            <a:endParaRPr lang="ja-JP" sz="3200"/>
          </a:p>
        </p:txBody>
      </p:sp>
      <p:graphicFrame>
        <p:nvGraphicFramePr>
          <p:cNvPr id="4" name="評価_グラフ"/>
          <p:cNvGraphicFramePr/>
          <p:nvPr/>
        </p:nvGraphicFramePr>
        <p:xfrm>
          <a:off x="548640" y="1463040"/>
          <a:ext cx="69494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評価_条件"/>
          <p:cNvSpPr txBox="1"/>
          <p:nvPr/>
        </p:nvSpPr>
        <p:spPr>
          <a:xfrm>
            <a:off x="548640" y="5669280"/>
            <a:ext cx="6949440" cy="457200"/>
          </a:xfrm>
          <a:prstGeom prst="rect">
            <a:avLst/>
          </a:prstGeom>
          <a:noFill/>
          <a:ln/>
        </p:spPr>
        <p:txBody>
          <a:bodyPr wrap="square" lIns="0" tIns="0" rIns="0" bIns="0" rtlCol="0" anchor="ctr"/>
          <a:lstStyle/>
          <a:p>
            <a:pPr marL="0" indent="0">
              <a:buNone/>
            </a:pPr>
            <a:r>
              <a:rPr lang="ja-JP" altLang="en-US" sz="1200">
                <a:solidFill>
                  <a:schemeClr val="accent4"/>
                </a:solidFill>
              </a:rPr>
              <a:t>作業者 6 名・仕事 6 件 × 150 ラウンド × 20 試行の平均。学習後（51 ラウンド目以降）で測定</a:t>
            </a:r>
            <a:endParaRPr lang="ja-JP" sz="1200"/>
          </a:p>
        </p:txBody>
      </p:sp>
      <p:sp>
        <p:nvSpPr>
          <p:cNvPr id="6" name="評価_数字1"/>
          <p:cNvSpPr txBox="1"/>
          <p:nvPr/>
        </p:nvSpPr>
        <p:spPr>
          <a:xfrm>
            <a:off x="7863840" y="1463040"/>
            <a:ext cx="3779215" cy="1280160"/>
          </a:xfrm>
          <a:prstGeom prst="rect">
            <a:avLst/>
          </a:prstGeom>
          <a:noFill/>
          <a:ln/>
        </p:spPr>
        <p:txBody>
          <a:bodyPr wrap="square" lIns="0" tIns="0" rIns="0" bIns="0" rtlCol="0" anchor="t"/>
          <a:lstStyle/>
          <a:p>
            <a:pPr marL="0" indent="0">
              <a:buNone/>
            </a:pPr>
            <a:r>
              <a:rPr lang="ja-JP" altLang="en-US" sz="4400" b="1">
                <a:solidFill>
                  <a:schemeClr val="accent1"/>
                </a:solidFill>
              </a:rPr>
              <a:t>−60%</a:t>
            </a:r>
            <a:endParaRPr lang="ja-JP" sz="4400"/>
          </a:p>
          <a:p>
            <a:pPr marL="0" indent="0">
              <a:buNone/>
            </a:pPr>
            <a:r>
              <a:rPr lang="ja-JP" altLang="en-US" sz="1500">
                <a:solidFill>
                  <a:schemeClr val="accent4"/>
                </a:solidFill>
              </a:rPr>
              <a:t>経験年数で選ぶ割当と比べた完了時間</a:t>
            </a:r>
            <a:endParaRPr lang="ja-JP" sz="4400"/>
          </a:p>
        </p:txBody>
      </p:sp>
      <p:sp>
        <p:nvSpPr>
          <p:cNvPr id="7" name="評価_数字2"/>
          <p:cNvSpPr txBox="1"/>
          <p:nvPr/>
        </p:nvSpPr>
        <p:spPr>
          <a:xfrm>
            <a:off x="7863840" y="2926080"/>
            <a:ext cx="3779215" cy="1280160"/>
          </a:xfrm>
          <a:prstGeom prst="rect">
            <a:avLst/>
          </a:prstGeom>
          <a:noFill/>
          <a:ln/>
        </p:spPr>
        <p:txBody>
          <a:bodyPr wrap="square" lIns="0" tIns="0" rIns="0" bIns="0" rtlCol="0" anchor="t"/>
          <a:lstStyle/>
          <a:p>
            <a:pPr marL="0" indent="0">
              <a:buNone/>
            </a:pPr>
            <a:r>
              <a:rPr lang="ja-JP" altLang="en-US" sz="4400" b="1">
                <a:solidFill>
                  <a:schemeClr val="accent1"/>
                </a:solidFill>
              </a:rPr>
              <a:t>−27%</a:t>
            </a:r>
            <a:endParaRPr lang="ja-JP" sz="4400"/>
          </a:p>
          <a:p>
            <a:pPr marL="0" indent="0">
              <a:buNone/>
            </a:pPr>
            <a:r>
              <a:rPr lang="ja-JP" altLang="en-US" sz="1500">
                <a:solidFill>
                  <a:schemeClr val="accent4"/>
                </a:solidFill>
              </a:rPr>
              <a:t>順番に回す割当と比べた完了時間</a:t>
            </a:r>
            <a:endParaRPr lang="ja-JP" sz="4400"/>
          </a:p>
        </p:txBody>
      </p:sp>
      <p:sp>
        <p:nvSpPr>
          <p:cNvPr id="8" name="評価_数字3"/>
          <p:cNvSpPr txBox="1"/>
          <p:nvPr/>
        </p:nvSpPr>
        <p:spPr>
          <a:xfrm>
            <a:off x="7863840" y="4389120"/>
            <a:ext cx="3779215" cy="1280160"/>
          </a:xfrm>
          <a:prstGeom prst="rect">
            <a:avLst/>
          </a:prstGeom>
          <a:noFill/>
          <a:ln/>
        </p:spPr>
        <p:txBody>
          <a:bodyPr wrap="square" lIns="0" tIns="0" rIns="0" bIns="0" rtlCol="0" anchor="t"/>
          <a:lstStyle/>
          <a:p>
            <a:pPr marL="0" indent="0">
              <a:buNone/>
            </a:pPr>
            <a:r>
              <a:rPr lang="ja-JP" altLang="en-US" sz="4400" b="1">
                <a:solidFill>
                  <a:schemeClr val="tx2"/>
                </a:solidFill>
              </a:rPr>
              <a:t>8%</a:t>
            </a:r>
            <a:endParaRPr lang="ja-JP" sz="4400"/>
          </a:p>
          <a:p>
            <a:pPr marL="0" indent="0">
              <a:buNone/>
            </a:pPr>
            <a:r>
              <a:rPr lang="ja-JP" altLang="en-US" sz="1500">
                <a:solidFill>
                  <a:schemeClr val="accent4"/>
                </a:solidFill>
              </a:rPr>
              <a:t>理想（真の適性を知る割当）との差</a:t>
            </a:r>
            <a:endParaRPr lang="ja-JP" sz="44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5"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2000"/>
                                        <p:tgtEl>
                                          <p:spTgt spid="7"/>
                                        </p:tgtEl>
                                      </p:cBhvr>
                                    </p:animEffect>
                                    <p:anim calcmode="lin" valueType="num">
                                      <p:cBhvr>
                                        <p:cTn id="26" dur="2000" fill="hold"/>
                                        <p:tgtEl>
                                          <p:spTgt spid="7"/>
                                        </p:tgtEl>
                                        <p:attrNameLst>
                                          <p:attrName>ppt_w</p:attrName>
                                        </p:attrNameLst>
                                      </p:cBhvr>
                                      <p:tavLst>
                                        <p:tav tm="0" fmla="#ppt_w*sin(2.5*pi*$)">
                                          <p:val>
                                            <p:fltVal val="0"/>
                                          </p:val>
                                        </p:tav>
                                        <p:tav tm="100000">
                                          <p:val>
                                            <p:fltVal val="1"/>
                                          </p:val>
                                        </p:tav>
                                      </p:tavLst>
                                    </p:anim>
                                    <p:anim calcmode="lin" valueType="num">
                                      <p:cBhvr>
                                        <p:cTn id="27" dur="2000" fill="hold"/>
                                        <p:tgtEl>
                                          <p:spTgt spid="7"/>
                                        </p:tgtEl>
                                        <p:attrNameLst>
                                          <p:attrName>ppt_h</p:attrName>
                                        </p:attrNameLst>
                                      </p:cBhvr>
                                      <p:tavLst>
                                        <p:tav tm="0">
                                          <p:val>
                                            <p:strVal val="#ppt_h"/>
                                          </p:val>
                                        </p:tav>
                                        <p:tav tm="100000">
                                          <p:val>
                                            <p:strVal val="#ppt_h"/>
                                          </p:val>
                                        </p:tav>
                                      </p:tavLst>
                                    </p:anim>
                                  </p:childTnLst>
                                </p:cTn>
                              </p:par>
                            </p:childTnLst>
                          </p:cTn>
                        </p:par>
                      </p:childTnLst>
                    </p:cTn>
                  </p:par>
                  <p:par>
                    <p:cTn id="28" fill="hold">
                      <p:stCondLst>
                        <p:cond delay="indefinite"/>
                      </p:stCondLst>
                      <p:childTnLst>
                        <p:par>
                          <p:cTn id="29" fill="hold">
                            <p:stCondLst>
                              <p:cond delay="0"/>
                            </p:stCondLst>
                            <p:childTnLst>
                              <p:par>
                                <p:cTn id="30" presetID="31"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 calcmode="lin" valueType="num">
                                      <p:cBhvr>
                                        <p:cTn id="32" dur="1000" fill="hold"/>
                                        <p:tgtEl>
                                          <p:spTgt spid="8"/>
                                        </p:tgtEl>
                                        <p:attrNameLst>
                                          <p:attrName>ppt_w</p:attrName>
                                        </p:attrNameLst>
                                      </p:cBhvr>
                                      <p:tavLst>
                                        <p:tav tm="0">
                                          <p:val>
                                            <p:fltVal val="0"/>
                                          </p:val>
                                        </p:tav>
                                        <p:tav tm="100000">
                                          <p:val>
                                            <p:strVal val="#ppt_w"/>
                                          </p:val>
                                        </p:tav>
                                      </p:tavLst>
                                    </p:anim>
                                    <p:anim calcmode="lin" valueType="num">
                                      <p:cBhvr>
                                        <p:cTn id="33" dur="1000" fill="hold"/>
                                        <p:tgtEl>
                                          <p:spTgt spid="8"/>
                                        </p:tgtEl>
                                        <p:attrNameLst>
                                          <p:attrName>ppt_h</p:attrName>
                                        </p:attrNameLst>
                                      </p:cBhvr>
                                      <p:tavLst>
                                        <p:tav tm="0">
                                          <p:val>
                                            <p:fltVal val="0"/>
                                          </p:val>
                                        </p:tav>
                                        <p:tav tm="100000">
                                          <p:val>
                                            <p:strVal val="#ppt_h"/>
                                          </p:val>
                                        </p:tav>
                                      </p:tavLst>
                                    </p:anim>
                                    <p:anim calcmode="lin" valueType="num">
                                      <p:cBhvr>
                                        <p:cTn id="34" dur="1000" fill="hold"/>
                                        <p:tgtEl>
                                          <p:spTgt spid="8"/>
                                        </p:tgtEl>
                                        <p:attrNameLst>
                                          <p:attrName>style.rotation</p:attrName>
                                        </p:attrNameLst>
                                      </p:cBhvr>
                                      <p:tavLst>
                                        <p:tav tm="0">
                                          <p:val>
                                            <p:fltVal val="90"/>
                                          </p:val>
                                        </p:tav>
                                        <p:tav tm="100000">
                                          <p:val>
                                            <p:fltVal val="0"/>
                                          </p:val>
                                        </p:tav>
                                      </p:tavLst>
                                    </p:anim>
                                    <p:animEffect transition="in" filter="fade">
                                      <p:cBhvr>
                                        <p:cTn id="3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6. AI の妥当性</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評価：工場内の動きをシミュレーション</a:t>
            </a:r>
            <a:endParaRPr lang="ja-JP" sz="3200"/>
          </a:p>
        </p:txBody>
      </p:sp>
      <p:pic>
        <p:nvPicPr>
          <p:cNvPr id="4" name="動きの比較_画像" descr="従来運用とシステム＋AI割当で、作業者の動線とムダ時間を比べたシミュレーション"/>
          <p:cNvPicPr>
            <a:picLocks noChangeAspect="1"/>
          </p:cNvPicPr>
          <p:nvPr/>
        </p:nvPicPr>
        <p:blipFill>
          <a:blip r:embed="rId3"/>
          <a:stretch>
            <a:fillRect/>
          </a:stretch>
        </p:blipFill>
        <p:spPr>
          <a:xfrm>
            <a:off x="548640" y="1417320"/>
            <a:ext cx="8046720" cy="4526280"/>
          </a:xfrm>
          <a:prstGeom prst="rect">
            <a:avLst/>
          </a:prstGeom>
        </p:spPr>
      </p:pic>
      <p:sp>
        <p:nvSpPr>
          <p:cNvPr id="5" name="動きの比較_画像枠"/>
          <p:cNvSpPr/>
          <p:nvPr/>
        </p:nvSpPr>
        <p:spPr>
          <a:xfrm>
            <a:off x="548640" y="1417320"/>
            <a:ext cx="8046720" cy="4526280"/>
          </a:xfrm>
          <a:prstGeom prst="rect">
            <a:avLst/>
          </a:prstGeom>
          <a:ln w="9525">
            <a:solidFill>
              <a:schemeClr val="accent3"/>
            </a:solidFill>
            <a:prstDash val="solid"/>
          </a:ln>
        </p:spPr>
        <p:txBody>
          <a:bodyPr/>
          <a:lstStyle/>
          <a:p>
            <a:endParaRPr lang="ja-JP" altLang="en-US"/>
          </a:p>
        </p:txBody>
      </p:sp>
      <p:sp>
        <p:nvSpPr>
          <p:cNvPr id="6" name="動きの比較_要点1"/>
          <p:cNvSpPr/>
          <p:nvPr/>
        </p:nvSpPr>
        <p:spPr>
          <a:xfrm>
            <a:off x="8869680" y="1417320"/>
            <a:ext cx="2773375" cy="1371600"/>
          </a:xfrm>
          <a:prstGeom prst="roundRect">
            <a:avLst>
              <a:gd name="adj" fmla="val 5333"/>
            </a:avLst>
          </a:prstGeom>
          <a:solidFill>
            <a:schemeClr val="accent5"/>
          </a:solidFill>
          <a:ln w="12700">
            <a:solidFill>
              <a:schemeClr val="accent5"/>
            </a:solidFill>
            <a:prstDash val="solid"/>
          </a:ln>
        </p:spPr>
        <p:txBody>
          <a:bodyPr/>
          <a:lstStyle/>
          <a:p>
            <a:endParaRPr lang="ja-JP" altLang="en-US"/>
          </a:p>
        </p:txBody>
      </p:sp>
      <p:sp>
        <p:nvSpPr>
          <p:cNvPr id="7" name="動きの比較_要点1_文字"/>
          <p:cNvSpPr txBox="1"/>
          <p:nvPr/>
        </p:nvSpPr>
        <p:spPr>
          <a:xfrm>
            <a:off x="9052560" y="1417320"/>
            <a:ext cx="2407615" cy="1371600"/>
          </a:xfrm>
          <a:prstGeom prst="rect">
            <a:avLst/>
          </a:prstGeom>
          <a:noFill/>
          <a:ln/>
        </p:spPr>
        <p:txBody>
          <a:bodyPr wrap="square" lIns="0" tIns="0" rIns="0" bIns="0" rtlCol="0" anchor="ctr"/>
          <a:lstStyle/>
          <a:p>
            <a:pPr marL="0" indent="0">
              <a:buNone/>
            </a:pPr>
            <a:r>
              <a:rPr lang="ja-JP" altLang="en-US" sz="1400">
                <a:solidFill>
                  <a:schemeClr val="accent4"/>
                </a:solidFill>
              </a:rPr>
              <a:t>全タスクの完了</a:t>
            </a:r>
            <a:endParaRPr lang="ja-JP" sz="1400"/>
          </a:p>
          <a:p>
            <a:pPr marL="0" indent="0">
              <a:spcBef>
                <a:spcPts val="400"/>
              </a:spcBef>
              <a:buNone/>
            </a:pPr>
            <a:r>
              <a:rPr lang="ja-JP" altLang="en-US" sz="2800" b="1">
                <a:solidFill>
                  <a:schemeClr val="accent1"/>
                </a:solidFill>
              </a:rPr>
              <a:t>約2時間早い</a:t>
            </a:r>
            <a:endParaRPr lang="ja-JP" sz="1400"/>
          </a:p>
          <a:p>
            <a:pPr marL="0" indent="0">
              <a:spcBef>
                <a:spcPts val="400"/>
              </a:spcBef>
              <a:buNone/>
            </a:pPr>
            <a:r>
              <a:rPr lang="ja-JP" altLang="en-US" sz="1400">
                <a:solidFill>
                  <a:schemeClr val="tx1"/>
                </a:solidFill>
              </a:rPr>
              <a:t>18:45 → 16:44</a:t>
            </a:r>
            <a:endParaRPr lang="ja-JP" sz="1400"/>
          </a:p>
        </p:txBody>
      </p:sp>
      <p:sp>
        <p:nvSpPr>
          <p:cNvPr id="8" name="動きの比較_要点2"/>
          <p:cNvSpPr/>
          <p:nvPr/>
        </p:nvSpPr>
        <p:spPr>
          <a:xfrm>
            <a:off x="8869680" y="2994660"/>
            <a:ext cx="2773375" cy="1371600"/>
          </a:xfrm>
          <a:prstGeom prst="roundRect">
            <a:avLst>
              <a:gd name="adj" fmla="val 5333"/>
            </a:avLst>
          </a:prstGeom>
          <a:solidFill>
            <a:schemeClr val="accent5"/>
          </a:solidFill>
          <a:ln w="12700">
            <a:solidFill>
              <a:schemeClr val="accent5"/>
            </a:solidFill>
            <a:prstDash val="solid"/>
          </a:ln>
        </p:spPr>
        <p:txBody>
          <a:bodyPr/>
          <a:lstStyle/>
          <a:p>
            <a:endParaRPr lang="ja-JP" altLang="en-US"/>
          </a:p>
        </p:txBody>
      </p:sp>
      <p:sp>
        <p:nvSpPr>
          <p:cNvPr id="9" name="動きの比較_要点2_文字"/>
          <p:cNvSpPr txBox="1"/>
          <p:nvPr/>
        </p:nvSpPr>
        <p:spPr>
          <a:xfrm>
            <a:off x="9052560" y="2994660"/>
            <a:ext cx="2407615" cy="1371600"/>
          </a:xfrm>
          <a:prstGeom prst="rect">
            <a:avLst/>
          </a:prstGeom>
          <a:noFill/>
          <a:ln/>
        </p:spPr>
        <p:txBody>
          <a:bodyPr wrap="square" lIns="0" tIns="0" rIns="0" bIns="0" rtlCol="0" anchor="ctr"/>
          <a:lstStyle/>
          <a:p>
            <a:pPr marL="0" indent="0">
              <a:buNone/>
            </a:pPr>
            <a:r>
              <a:rPr lang="ja-JP" altLang="en-US" sz="1400">
                <a:solidFill>
                  <a:schemeClr val="accent4"/>
                </a:solidFill>
              </a:rPr>
              <a:t>歩いた距離</a:t>
            </a:r>
            <a:endParaRPr lang="ja-JP" sz="1400"/>
          </a:p>
          <a:p>
            <a:pPr marL="0" indent="0">
              <a:spcBef>
                <a:spcPts val="400"/>
              </a:spcBef>
              <a:buNone/>
            </a:pPr>
            <a:r>
              <a:rPr lang="ja-JP" altLang="en-US" sz="2800" b="1">
                <a:solidFill>
                  <a:schemeClr val="accent1"/>
                </a:solidFill>
              </a:rPr>
              <a:t>73% 減</a:t>
            </a:r>
            <a:endParaRPr lang="ja-JP" sz="1400"/>
          </a:p>
          <a:p>
            <a:pPr marL="0" indent="0">
              <a:spcBef>
                <a:spcPts val="400"/>
              </a:spcBef>
              <a:buNone/>
            </a:pPr>
            <a:r>
              <a:rPr lang="ja-JP" altLang="en-US" sz="1400">
                <a:solidFill>
                  <a:schemeClr val="tx1"/>
                </a:solidFill>
              </a:rPr>
              <a:t>19.19 km → 5.24 km</a:t>
            </a:r>
            <a:endParaRPr lang="ja-JP" sz="1400"/>
          </a:p>
        </p:txBody>
      </p:sp>
      <p:sp>
        <p:nvSpPr>
          <p:cNvPr id="10" name="動きの比較_要点3"/>
          <p:cNvSpPr/>
          <p:nvPr/>
        </p:nvSpPr>
        <p:spPr>
          <a:xfrm>
            <a:off x="8869680" y="4572000"/>
            <a:ext cx="2773375" cy="1371600"/>
          </a:xfrm>
          <a:prstGeom prst="roundRect">
            <a:avLst>
              <a:gd name="adj" fmla="val 5333"/>
            </a:avLst>
          </a:prstGeom>
          <a:solidFill>
            <a:schemeClr val="accent5"/>
          </a:solidFill>
          <a:ln w="12700">
            <a:solidFill>
              <a:schemeClr val="accent5"/>
            </a:solidFill>
            <a:prstDash val="solid"/>
          </a:ln>
        </p:spPr>
        <p:txBody>
          <a:bodyPr/>
          <a:lstStyle/>
          <a:p>
            <a:endParaRPr lang="ja-JP" altLang="en-US"/>
          </a:p>
        </p:txBody>
      </p:sp>
      <p:sp>
        <p:nvSpPr>
          <p:cNvPr id="11" name="動きの比較_要点3_文字"/>
          <p:cNvSpPr txBox="1"/>
          <p:nvPr/>
        </p:nvSpPr>
        <p:spPr>
          <a:xfrm>
            <a:off x="9052560" y="4572000"/>
            <a:ext cx="2407615" cy="1371600"/>
          </a:xfrm>
          <a:prstGeom prst="rect">
            <a:avLst/>
          </a:prstGeom>
          <a:noFill/>
          <a:ln/>
        </p:spPr>
        <p:txBody>
          <a:bodyPr wrap="square" lIns="0" tIns="0" rIns="0" bIns="0" rtlCol="0" anchor="ctr"/>
          <a:lstStyle/>
          <a:p>
            <a:pPr marL="0" indent="0">
              <a:buNone/>
            </a:pPr>
            <a:r>
              <a:rPr lang="ja-JP" altLang="en-US" sz="1400">
                <a:solidFill>
                  <a:schemeClr val="accent4"/>
                </a:solidFill>
              </a:rPr>
              <a:t>ムダな時間（15人の合計）</a:t>
            </a:r>
            <a:endParaRPr lang="ja-JP" sz="1400"/>
          </a:p>
          <a:p>
            <a:pPr marL="0" indent="0">
              <a:spcBef>
                <a:spcPts val="400"/>
              </a:spcBef>
              <a:buNone/>
            </a:pPr>
            <a:r>
              <a:rPr lang="ja-JP" altLang="en-US" sz="2800" b="1">
                <a:solidFill>
                  <a:schemeClr val="accent1"/>
                </a:solidFill>
              </a:rPr>
              <a:t>57% 減</a:t>
            </a:r>
            <a:endParaRPr lang="ja-JP" sz="1400"/>
          </a:p>
          <a:p>
            <a:pPr marL="0" indent="0">
              <a:spcBef>
                <a:spcPts val="400"/>
              </a:spcBef>
              <a:buNone/>
            </a:pPr>
            <a:r>
              <a:rPr lang="ja-JP" altLang="en-US" sz="1400">
                <a:solidFill>
                  <a:schemeClr val="tx1"/>
                </a:solidFill>
              </a:rPr>
              <a:t>1352 → 588 人分</a:t>
            </a:r>
            <a:endParaRPr lang="ja-JP" sz="1400"/>
          </a:p>
        </p:txBody>
      </p:sp>
      <p:sp>
        <p:nvSpPr>
          <p:cNvPr id="12" name="動きの比較_注記"/>
          <p:cNvSpPr txBox="1"/>
          <p:nvPr/>
        </p:nvSpPr>
        <p:spPr>
          <a:xfrm>
            <a:off x="548640" y="6016752"/>
            <a:ext cx="11094415" cy="292608"/>
          </a:xfrm>
          <a:prstGeom prst="rect">
            <a:avLst/>
          </a:prstGeom>
          <a:noFill/>
          <a:ln/>
        </p:spPr>
        <p:txBody>
          <a:bodyPr wrap="square" lIns="0" tIns="0" rIns="0" bIns="0" rtlCol="0" anchor="ctr"/>
          <a:lstStyle/>
          <a:p>
            <a:pPr marL="0" indent="0">
              <a:buNone/>
            </a:pPr>
            <a:r>
              <a:rPr lang="ja-JP" altLang="en-US" sz="1200">
                <a:solidFill>
                  <a:schemeClr val="accent4"/>
                </a:solidFill>
              </a:rPr>
              <a:t>※ シミュレーションで再現した1日の例（作業者15人・機材30台・タスク151件）。上が従来の運用、下が Gemmba＋AI 割当</a:t>
            </a:r>
            <a:endParaRPr lang="ja-JP" sz="12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7. 改善点</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a:t>対策が必要であろう箇所と改善策</a:t>
            </a:r>
            <a:endParaRPr lang="ja-JP" sz="3200"/>
          </a:p>
        </p:txBody>
      </p:sp>
      <p:sp>
        <p:nvSpPr>
          <p:cNvPr id="4" name="直した1_評価"/>
          <p:cNvSpPr/>
          <p:nvPr/>
        </p:nvSpPr>
        <p:spPr>
          <a:xfrm>
            <a:off x="548640" y="1554480"/>
            <a:ext cx="4023360" cy="2148840"/>
          </a:xfrm>
          <a:prstGeom prst="roundRect">
            <a:avLst>
              <a:gd name="adj" fmla="val 3404"/>
            </a:avLst>
          </a:prstGeom>
          <a:solidFill>
            <a:schemeClr val="bg2"/>
          </a:solidFill>
          <a:ln w="12700">
            <a:solidFill>
              <a:schemeClr val="bg2"/>
            </a:solidFill>
            <a:prstDash val="solid"/>
          </a:ln>
        </p:spPr>
        <p:txBody>
          <a:bodyPr/>
          <a:lstStyle/>
          <a:p>
            <a:endParaRPr lang="ja-JP" altLang="en-US"/>
          </a:p>
        </p:txBody>
      </p:sp>
      <p:sp>
        <p:nvSpPr>
          <p:cNvPr id="5" name="直した1_評価_文字"/>
          <p:cNvSpPr txBox="1"/>
          <p:nvPr/>
        </p:nvSpPr>
        <p:spPr>
          <a:xfrm>
            <a:off x="822960" y="1554480"/>
            <a:ext cx="3474720" cy="2148840"/>
          </a:xfrm>
          <a:prstGeom prst="rect">
            <a:avLst/>
          </a:prstGeom>
          <a:noFill/>
          <a:ln/>
        </p:spPr>
        <p:txBody>
          <a:bodyPr wrap="square" lIns="0" tIns="0" rIns="0" bIns="0" rtlCol="0" anchor="ctr"/>
          <a:lstStyle/>
          <a:p>
            <a:pPr marL="0" indent="0">
              <a:buNone/>
            </a:pPr>
            <a:r>
              <a:rPr lang="ja-JP" altLang="en-US" sz="1800" b="1">
                <a:solidFill>
                  <a:schemeClr val="tx2"/>
                </a:solidFill>
              </a:rPr>
              <a:t>タッチを忘れる人が</a:t>
            </a:r>
            <a:r>
              <a:rPr lang="ja-JP" altLang="en-US" b="1">
                <a:solidFill>
                  <a:schemeClr val="tx2"/>
                </a:solidFill>
              </a:rPr>
              <a:t>いる</a:t>
            </a:r>
            <a:endParaRPr lang="ja-JP" sz="1800"/>
          </a:p>
        </p:txBody>
      </p:sp>
      <p:sp>
        <p:nvSpPr>
          <p:cNvPr id="6" name="直した1_矢印"/>
          <p:cNvSpPr/>
          <p:nvPr/>
        </p:nvSpPr>
        <p:spPr>
          <a:xfrm>
            <a:off x="4709160" y="2427732"/>
            <a:ext cx="45720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7" name="直した1_対応"/>
          <p:cNvSpPr/>
          <p:nvPr/>
        </p:nvSpPr>
        <p:spPr>
          <a:xfrm>
            <a:off x="5303520" y="1554480"/>
            <a:ext cx="6339535" cy="2148840"/>
          </a:xfrm>
          <a:prstGeom prst="roundRect">
            <a:avLst>
              <a:gd name="adj" fmla="val 3404"/>
            </a:avLst>
          </a:prstGeom>
          <a:solidFill>
            <a:schemeClr val="accent5"/>
          </a:solidFill>
          <a:ln w="12700">
            <a:solidFill>
              <a:schemeClr val="accent5"/>
            </a:solidFill>
            <a:prstDash val="solid"/>
          </a:ln>
        </p:spPr>
        <p:txBody>
          <a:bodyPr/>
          <a:lstStyle/>
          <a:p>
            <a:endParaRPr lang="ja-JP" altLang="en-US"/>
          </a:p>
        </p:txBody>
      </p:sp>
      <p:sp>
        <p:nvSpPr>
          <p:cNvPr id="8" name="直した1_札"/>
          <p:cNvSpPr/>
          <p:nvPr/>
        </p:nvSpPr>
        <p:spPr>
          <a:xfrm>
            <a:off x="5577840" y="1755648"/>
            <a:ext cx="1554480" cy="384048"/>
          </a:xfrm>
          <a:prstGeom prst="roundRect">
            <a:avLst>
              <a:gd name="adj" fmla="val 47619"/>
            </a:avLst>
          </a:prstGeom>
          <a:solidFill>
            <a:schemeClr val="accent1"/>
          </a:solidFill>
          <a:ln w="12700">
            <a:solidFill>
              <a:schemeClr val="accent1"/>
            </a:solidFill>
            <a:prstDash val="solid"/>
          </a:ln>
        </p:spPr>
        <p:txBody>
          <a:bodyPr/>
          <a:lstStyle/>
          <a:p>
            <a:endParaRPr lang="ja-JP" altLang="en-US"/>
          </a:p>
        </p:txBody>
      </p:sp>
      <p:sp>
        <p:nvSpPr>
          <p:cNvPr id="9" name="直した1_札_文字"/>
          <p:cNvSpPr txBox="1"/>
          <p:nvPr/>
        </p:nvSpPr>
        <p:spPr>
          <a:xfrm>
            <a:off x="5577840" y="1755648"/>
            <a:ext cx="1554480" cy="384048"/>
          </a:xfrm>
          <a:prstGeom prst="rect">
            <a:avLst/>
          </a:prstGeom>
          <a:noFill/>
          <a:ln/>
        </p:spPr>
        <p:txBody>
          <a:bodyPr wrap="square" lIns="0" tIns="0" rIns="0" bIns="0" rtlCol="0" anchor="ctr"/>
          <a:lstStyle/>
          <a:p>
            <a:pPr marL="0" indent="0" algn="ctr">
              <a:buNone/>
            </a:pPr>
            <a:r>
              <a:rPr lang="ja-JP" altLang="en-US" sz="1600" b="1">
                <a:solidFill>
                  <a:schemeClr val="bg1"/>
                </a:solidFill>
              </a:rPr>
              <a:t>改善方法</a:t>
            </a:r>
            <a:endParaRPr lang="ja-JP" sz="1600"/>
          </a:p>
        </p:txBody>
      </p:sp>
      <p:sp>
        <p:nvSpPr>
          <p:cNvPr id="10" name="直した1_対応_文字"/>
          <p:cNvSpPr txBox="1"/>
          <p:nvPr/>
        </p:nvSpPr>
        <p:spPr>
          <a:xfrm>
            <a:off x="5577840" y="2249424"/>
            <a:ext cx="5790895" cy="1307592"/>
          </a:xfrm>
          <a:prstGeom prst="rect">
            <a:avLst/>
          </a:prstGeom>
          <a:noFill/>
          <a:ln/>
        </p:spPr>
        <p:txBody>
          <a:bodyPr wrap="square" lIns="0" tIns="0" rIns="0" bIns="0" rtlCol="0" anchor="t"/>
          <a:lstStyle/>
          <a:p>
            <a:pPr marL="203200" indent="-203200">
              <a:buSzPct val="100000"/>
              <a:buChar char="•"/>
            </a:pPr>
            <a:r>
              <a:rPr lang="ja-JP" altLang="en-US" sz="1700">
                <a:solidFill>
                  <a:schemeClr val="tx1"/>
                </a:solidFill>
              </a:rPr>
              <a:t>別の機材でタッチすると、前の作業を終えるか確認する</a:t>
            </a:r>
            <a:endParaRPr lang="ja-JP" sz="1700"/>
          </a:p>
          <a:p>
            <a:pPr marL="203200" indent="-203200">
              <a:spcBef>
                <a:spcPts val="600"/>
              </a:spcBef>
              <a:buSzPct val="100000"/>
              <a:buChar char="•"/>
            </a:pPr>
            <a:r>
              <a:rPr lang="ja-JP" altLang="en-US" sz="1700">
                <a:solidFill>
                  <a:schemeClr val="tx1"/>
                </a:solidFill>
              </a:rPr>
              <a:t>長く使用中のままなら、機材の画面と管理画面で知らせる</a:t>
            </a:r>
            <a:endParaRPr lang="ja-JP" sz="1700"/>
          </a:p>
          <a:p>
            <a:pPr marL="203200" indent="-203200">
              <a:spcBef>
                <a:spcPts val="600"/>
              </a:spcBef>
              <a:buSzPct val="100000"/>
              <a:buChar char="•"/>
            </a:pPr>
            <a:r>
              <a:rPr lang="ja-JP" altLang="en-US" sz="1700">
                <a:solidFill>
                  <a:schemeClr val="tx1"/>
                </a:solidFill>
              </a:rPr>
              <a:t>管理者が、終わった時刻を入れて代わりに終了できる</a:t>
            </a:r>
            <a:endParaRPr lang="ja-JP" sz="1700"/>
          </a:p>
        </p:txBody>
      </p:sp>
      <p:sp>
        <p:nvSpPr>
          <p:cNvPr id="11" name="直した2_評価"/>
          <p:cNvSpPr/>
          <p:nvPr/>
        </p:nvSpPr>
        <p:spPr>
          <a:xfrm>
            <a:off x="548640" y="3977640"/>
            <a:ext cx="4023360" cy="2148840"/>
          </a:xfrm>
          <a:prstGeom prst="roundRect">
            <a:avLst>
              <a:gd name="adj" fmla="val 3404"/>
            </a:avLst>
          </a:prstGeom>
          <a:solidFill>
            <a:schemeClr val="bg2"/>
          </a:solidFill>
          <a:ln w="12700">
            <a:solidFill>
              <a:schemeClr val="bg2"/>
            </a:solidFill>
            <a:prstDash val="solid"/>
          </a:ln>
        </p:spPr>
        <p:txBody>
          <a:bodyPr/>
          <a:lstStyle/>
          <a:p>
            <a:endParaRPr lang="ja-JP" altLang="en-US"/>
          </a:p>
        </p:txBody>
      </p:sp>
      <p:sp>
        <p:nvSpPr>
          <p:cNvPr id="12" name="直した2_評価_文字"/>
          <p:cNvSpPr txBox="1"/>
          <p:nvPr/>
        </p:nvSpPr>
        <p:spPr>
          <a:xfrm>
            <a:off x="822960" y="3977640"/>
            <a:ext cx="3474720" cy="2148840"/>
          </a:xfrm>
          <a:prstGeom prst="rect">
            <a:avLst/>
          </a:prstGeom>
          <a:noFill/>
          <a:ln/>
        </p:spPr>
        <p:txBody>
          <a:bodyPr wrap="square" lIns="0" tIns="0" rIns="0" bIns="0" rtlCol="0" anchor="ctr"/>
          <a:lstStyle/>
          <a:p>
            <a:pPr marL="0" indent="0">
              <a:buNone/>
            </a:pPr>
            <a:r>
              <a:rPr lang="ja-JP" altLang="en-US" sz="1800" b="1">
                <a:solidFill>
                  <a:schemeClr val="tx2"/>
                </a:solidFill>
              </a:rPr>
              <a:t>毎週やるタスク</a:t>
            </a:r>
            <a:r>
              <a:rPr lang="ja-JP" altLang="en-US" b="1">
                <a:solidFill>
                  <a:schemeClr val="tx2"/>
                </a:solidFill>
              </a:rPr>
              <a:t>を</a:t>
            </a:r>
            <a:endParaRPr lang="ja-JP" sz="1800"/>
          </a:p>
          <a:p>
            <a:pPr marL="0" indent="0">
              <a:buNone/>
            </a:pPr>
            <a:r>
              <a:rPr lang="ja-JP" altLang="en-US" sz="1800" b="1">
                <a:solidFill>
                  <a:schemeClr val="tx2"/>
                </a:solidFill>
              </a:rPr>
              <a:t>毎回入れるのが面倒</a:t>
            </a:r>
            <a:endParaRPr lang="ja-JP" sz="1800"/>
          </a:p>
        </p:txBody>
      </p:sp>
      <p:sp>
        <p:nvSpPr>
          <p:cNvPr id="13" name="直した2_矢印"/>
          <p:cNvSpPr/>
          <p:nvPr/>
        </p:nvSpPr>
        <p:spPr>
          <a:xfrm>
            <a:off x="4709160" y="4850892"/>
            <a:ext cx="457200" cy="402336"/>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直した2_対応"/>
          <p:cNvSpPr/>
          <p:nvPr/>
        </p:nvSpPr>
        <p:spPr>
          <a:xfrm>
            <a:off x="5303520" y="3977640"/>
            <a:ext cx="6339535" cy="2148840"/>
          </a:xfrm>
          <a:prstGeom prst="roundRect">
            <a:avLst>
              <a:gd name="adj" fmla="val 3404"/>
            </a:avLst>
          </a:prstGeom>
          <a:solidFill>
            <a:schemeClr val="accent5"/>
          </a:solidFill>
          <a:ln w="12700">
            <a:solidFill>
              <a:schemeClr val="accent5"/>
            </a:solidFill>
            <a:prstDash val="solid"/>
          </a:ln>
        </p:spPr>
        <p:txBody>
          <a:bodyPr/>
          <a:lstStyle/>
          <a:p>
            <a:endParaRPr lang="ja-JP" altLang="en-US"/>
          </a:p>
        </p:txBody>
      </p:sp>
      <p:sp>
        <p:nvSpPr>
          <p:cNvPr id="15" name="直した2_札"/>
          <p:cNvSpPr/>
          <p:nvPr/>
        </p:nvSpPr>
        <p:spPr>
          <a:xfrm>
            <a:off x="5577840" y="4178808"/>
            <a:ext cx="1554480" cy="384048"/>
          </a:xfrm>
          <a:prstGeom prst="roundRect">
            <a:avLst>
              <a:gd name="adj" fmla="val 47619"/>
            </a:avLst>
          </a:prstGeom>
          <a:solidFill>
            <a:schemeClr val="accent1"/>
          </a:solidFill>
          <a:ln w="12700">
            <a:solidFill>
              <a:schemeClr val="accent1"/>
            </a:solidFill>
            <a:prstDash val="solid"/>
          </a:ln>
        </p:spPr>
        <p:txBody>
          <a:bodyPr/>
          <a:lstStyle/>
          <a:p>
            <a:endParaRPr lang="ja-JP" altLang="en-US"/>
          </a:p>
        </p:txBody>
      </p:sp>
      <p:sp>
        <p:nvSpPr>
          <p:cNvPr id="16" name="直した2_札_文字"/>
          <p:cNvSpPr txBox="1"/>
          <p:nvPr/>
        </p:nvSpPr>
        <p:spPr>
          <a:xfrm>
            <a:off x="5577840" y="4178808"/>
            <a:ext cx="1554480" cy="384048"/>
          </a:xfrm>
          <a:prstGeom prst="rect">
            <a:avLst/>
          </a:prstGeom>
          <a:noFill/>
          <a:ln/>
        </p:spPr>
        <p:txBody>
          <a:bodyPr wrap="square" lIns="0" tIns="0" rIns="0" bIns="0" rtlCol="0" anchor="ctr"/>
          <a:lstStyle/>
          <a:p>
            <a:pPr algn="ctr"/>
            <a:r>
              <a:rPr lang="ja-JP" altLang="en-US" sz="1600" b="1">
                <a:solidFill>
                  <a:schemeClr val="bg1"/>
                </a:solidFill>
              </a:rPr>
              <a:t>改善方法</a:t>
            </a:r>
            <a:endParaRPr lang="ja-JP" altLang="ja-JP" sz="1600"/>
          </a:p>
        </p:txBody>
      </p:sp>
      <p:sp>
        <p:nvSpPr>
          <p:cNvPr id="17" name="直した2_対応_文字"/>
          <p:cNvSpPr txBox="1"/>
          <p:nvPr/>
        </p:nvSpPr>
        <p:spPr>
          <a:xfrm>
            <a:off x="5577840" y="4672584"/>
            <a:ext cx="5790895" cy="1307592"/>
          </a:xfrm>
          <a:prstGeom prst="rect">
            <a:avLst/>
          </a:prstGeom>
          <a:noFill/>
          <a:ln/>
        </p:spPr>
        <p:txBody>
          <a:bodyPr wrap="square" lIns="0" tIns="0" rIns="0" bIns="0" rtlCol="0" anchor="t"/>
          <a:lstStyle/>
          <a:p>
            <a:pPr marL="203200" indent="-203200">
              <a:buSzPct val="100000"/>
              <a:buChar char="•"/>
            </a:pPr>
            <a:r>
              <a:rPr lang="ja-JP" altLang="en-US" sz="1700">
                <a:solidFill>
                  <a:schemeClr val="tx1"/>
                </a:solidFill>
              </a:rPr>
              <a:t>毎週の仕事を一度登録すれば、予定日に自動で追加される</a:t>
            </a:r>
            <a:endParaRPr lang="ja-JP" sz="1700"/>
          </a:p>
          <a:p>
            <a:pPr marL="203200" indent="-203200">
              <a:spcBef>
                <a:spcPts val="600"/>
              </a:spcBef>
              <a:buSzPct val="100000"/>
              <a:buChar char="•"/>
            </a:pPr>
            <a:r>
              <a:rPr lang="ja-JP" altLang="en-US" sz="1700">
                <a:solidFill>
                  <a:schemeClr val="tx1"/>
                </a:solidFill>
              </a:rPr>
              <a:t>毎日・毎週（曜日）・毎月（日にち）から選べる</a:t>
            </a:r>
            <a:endParaRPr lang="ja-JP" sz="1700"/>
          </a:p>
          <a:p>
            <a:pPr marL="203200" indent="-203200">
              <a:spcBef>
                <a:spcPts val="600"/>
              </a:spcBef>
              <a:buSzPct val="100000"/>
              <a:buChar char="•"/>
            </a:pPr>
            <a:r>
              <a:rPr lang="ja-JP" altLang="en-US" sz="1700">
                <a:solidFill>
                  <a:schemeClr val="tx1"/>
                </a:solidFill>
              </a:rPr>
              <a:t>前の回が終わっていない間は、新しく追加しない</a:t>
            </a:r>
            <a:endParaRPr lang="ja-JP" sz="17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fade">
                                      <p:cBhvr>
                                        <p:cTn id="21" dur="500"/>
                                        <p:tgtEl>
                                          <p:spTgt spid="14"/>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7"/>
                                        </p:tgtEl>
                                        <p:attrNameLst>
                                          <p:attrName>style.visibility</p:attrName>
                                        </p:attrNameLst>
                                      </p:cBhvr>
                                      <p:to>
                                        <p:strVal val="visible"/>
                                      </p:to>
                                    </p:set>
                                    <p:animEffect transition="in" filter="fade">
                                      <p:cBhvr>
                                        <p:cTn id="30"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4" grpId="0" animBg="1"/>
      <p:bldP spid="15" grpId="0" animBg="1"/>
      <p:bldP spid="16" grpId="0" animBg="1"/>
      <p:bldP spid="1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7. </a:t>
            </a:r>
            <a:r>
              <a:rPr lang="ja-JP" altLang="en-US"/>
              <a:t>改善点</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これから</a:t>
            </a:r>
            <a:r>
              <a:rPr lang="ja-JP" altLang="en-US"/>
              <a:t>改善する</a:t>
            </a:r>
            <a:r>
              <a:rPr lang="ja-JP" altLang="en-US" sz="3200" b="1">
                <a:solidFill>
                  <a:schemeClr val="tx2"/>
                </a:solidFill>
              </a:rPr>
              <a:t>ところ</a:t>
            </a:r>
            <a:endParaRPr lang="ja-JP" sz="3200"/>
          </a:p>
        </p:txBody>
      </p:sp>
      <p:sp>
        <p:nvSpPr>
          <p:cNvPr id="4" name="これから1_評価"/>
          <p:cNvSpPr/>
          <p:nvPr/>
        </p:nvSpPr>
        <p:spPr>
          <a:xfrm>
            <a:off x="548640" y="1508760"/>
            <a:ext cx="5120640" cy="1417320"/>
          </a:xfrm>
          <a:prstGeom prst="roundRect">
            <a:avLst>
              <a:gd name="adj" fmla="val 5161"/>
            </a:avLst>
          </a:prstGeom>
          <a:solidFill>
            <a:schemeClr val="bg2"/>
          </a:solidFill>
          <a:ln w="12700">
            <a:solidFill>
              <a:schemeClr val="bg2"/>
            </a:solidFill>
            <a:prstDash val="solid"/>
          </a:ln>
        </p:spPr>
        <p:txBody>
          <a:bodyPr/>
          <a:lstStyle/>
          <a:p>
            <a:endParaRPr lang="ja-JP" altLang="en-US"/>
          </a:p>
        </p:txBody>
      </p:sp>
      <p:sp>
        <p:nvSpPr>
          <p:cNvPr id="5" name="これから1_評価_文字"/>
          <p:cNvSpPr txBox="1"/>
          <p:nvPr/>
        </p:nvSpPr>
        <p:spPr>
          <a:xfrm>
            <a:off x="822960" y="1508760"/>
            <a:ext cx="4572000" cy="1417320"/>
          </a:xfrm>
          <a:prstGeom prst="rect">
            <a:avLst/>
          </a:prstGeom>
          <a:noFill/>
          <a:ln/>
        </p:spPr>
        <p:txBody>
          <a:bodyPr wrap="square" lIns="0" tIns="0" rIns="0" bIns="0" rtlCol="0" anchor="ctr"/>
          <a:lstStyle/>
          <a:p>
            <a:pPr marL="0" indent="0">
              <a:buNone/>
            </a:pPr>
            <a:r>
              <a:rPr lang="ja-JP" altLang="en-US" sz="1600" b="1">
                <a:solidFill>
                  <a:schemeClr val="tx2"/>
                </a:solidFill>
              </a:rPr>
              <a:t>ディスプレイが小さくて、</a:t>
            </a:r>
            <a:endParaRPr lang="ja-JP" sz="1600"/>
          </a:p>
          <a:p>
            <a:pPr marL="0" indent="0">
              <a:buNone/>
            </a:pPr>
            <a:r>
              <a:rPr lang="ja-JP" altLang="en-US" sz="1600" b="1">
                <a:solidFill>
                  <a:schemeClr val="tx2"/>
                </a:solidFill>
              </a:rPr>
              <a:t>老眼などで文字が見えにくい可能性</a:t>
            </a:r>
            <a:endParaRPr lang="ja-JP" sz="1600"/>
          </a:p>
        </p:txBody>
      </p:sp>
      <p:sp>
        <p:nvSpPr>
          <p:cNvPr id="6" name="これから1_矢印"/>
          <p:cNvSpPr/>
          <p:nvPr/>
        </p:nvSpPr>
        <p:spPr>
          <a:xfrm>
            <a:off x="5806440" y="2016252"/>
            <a:ext cx="457200" cy="402336"/>
          </a:xfrm>
          <a:prstGeom prst="rightArrow">
            <a:avLst/>
          </a:prstGeom>
          <a:solidFill>
            <a:schemeClr val="accent2"/>
          </a:solidFill>
          <a:ln w="12700">
            <a:solidFill>
              <a:schemeClr val="accent2"/>
            </a:solidFill>
            <a:prstDash val="solid"/>
          </a:ln>
        </p:spPr>
        <p:txBody>
          <a:bodyPr/>
          <a:lstStyle/>
          <a:p>
            <a:endParaRPr lang="ja-JP" altLang="en-US"/>
          </a:p>
        </p:txBody>
      </p:sp>
      <p:sp>
        <p:nvSpPr>
          <p:cNvPr id="7" name="これから1_対応"/>
          <p:cNvSpPr/>
          <p:nvPr/>
        </p:nvSpPr>
        <p:spPr>
          <a:xfrm>
            <a:off x="6400800" y="1508760"/>
            <a:ext cx="5242255" cy="1417320"/>
          </a:xfrm>
          <a:prstGeom prst="roundRect">
            <a:avLst>
              <a:gd name="adj" fmla="val 5161"/>
            </a:avLst>
          </a:prstGeom>
          <a:solidFill>
            <a:schemeClr val="accent5"/>
          </a:solidFill>
          <a:ln w="12700">
            <a:solidFill>
              <a:schemeClr val="accent5"/>
            </a:solidFill>
            <a:prstDash val="solid"/>
          </a:ln>
        </p:spPr>
        <p:txBody>
          <a:bodyPr/>
          <a:lstStyle/>
          <a:p>
            <a:endParaRPr lang="ja-JP" altLang="en-US"/>
          </a:p>
        </p:txBody>
      </p:sp>
      <p:sp>
        <p:nvSpPr>
          <p:cNvPr id="8" name="これから1_札"/>
          <p:cNvSpPr/>
          <p:nvPr/>
        </p:nvSpPr>
        <p:spPr>
          <a:xfrm>
            <a:off x="6675120" y="1709928"/>
            <a:ext cx="1554480" cy="384048"/>
          </a:xfrm>
          <a:prstGeom prst="roundRect">
            <a:avLst>
              <a:gd name="adj" fmla="val 47619"/>
            </a:avLst>
          </a:prstGeom>
          <a:solidFill>
            <a:schemeClr val="accent2"/>
          </a:solidFill>
          <a:ln w="12700">
            <a:solidFill>
              <a:schemeClr val="accent2"/>
            </a:solidFill>
            <a:prstDash val="solid"/>
          </a:ln>
        </p:spPr>
        <p:txBody>
          <a:bodyPr/>
          <a:lstStyle/>
          <a:p>
            <a:endParaRPr lang="ja-JP" altLang="en-US"/>
          </a:p>
        </p:txBody>
      </p:sp>
      <p:sp>
        <p:nvSpPr>
          <p:cNvPr id="9" name="これから1_札_文字"/>
          <p:cNvSpPr txBox="1"/>
          <p:nvPr/>
        </p:nvSpPr>
        <p:spPr>
          <a:xfrm>
            <a:off x="6675120" y="1709928"/>
            <a:ext cx="1554480" cy="384048"/>
          </a:xfrm>
          <a:prstGeom prst="rect">
            <a:avLst/>
          </a:prstGeom>
          <a:noFill/>
          <a:ln/>
        </p:spPr>
        <p:txBody>
          <a:bodyPr wrap="square" lIns="0" tIns="0" rIns="0" bIns="0" rtlCol="0" anchor="ctr"/>
          <a:lstStyle/>
          <a:p>
            <a:pPr marL="0" indent="0" algn="ctr">
              <a:buNone/>
            </a:pPr>
            <a:r>
              <a:rPr lang="ja-JP" altLang="en-US" sz="1600" b="1">
                <a:solidFill>
                  <a:schemeClr val="bg1"/>
                </a:solidFill>
              </a:rPr>
              <a:t>改善の方法</a:t>
            </a:r>
            <a:endParaRPr lang="ja-JP" sz="1600"/>
          </a:p>
        </p:txBody>
      </p:sp>
      <p:sp>
        <p:nvSpPr>
          <p:cNvPr id="10" name="これから1_対応_文字"/>
          <p:cNvSpPr txBox="1"/>
          <p:nvPr/>
        </p:nvSpPr>
        <p:spPr>
          <a:xfrm>
            <a:off x="6675120" y="2203704"/>
            <a:ext cx="4693615" cy="576072"/>
          </a:xfrm>
          <a:prstGeom prst="rect">
            <a:avLst/>
          </a:prstGeom>
          <a:noFill/>
          <a:ln/>
        </p:spPr>
        <p:txBody>
          <a:bodyPr wrap="square" lIns="0" tIns="0" rIns="0" bIns="0" rtlCol="0" anchor="t"/>
          <a:lstStyle/>
          <a:p>
            <a:pPr marL="203200" indent="-203200">
              <a:buSzPct val="100000"/>
              <a:buChar char="•"/>
            </a:pPr>
            <a:r>
              <a:rPr lang="ja-JP" altLang="en-US" sz="1600">
                <a:solidFill>
                  <a:schemeClr val="tx1"/>
                </a:solidFill>
              </a:rPr>
              <a:t>大きい画面に替える</a:t>
            </a:r>
            <a:endParaRPr lang="ja-JP" sz="1600"/>
          </a:p>
          <a:p>
            <a:pPr marL="203200" indent="-203200">
              <a:spcBef>
                <a:spcPts val="600"/>
              </a:spcBef>
              <a:buSzPct val="100000"/>
              <a:buChar char="•"/>
            </a:pPr>
            <a:r>
              <a:rPr lang="ja-JP" altLang="en-US" sz="1600">
                <a:solidFill>
                  <a:schemeClr val="tx1"/>
                </a:solidFill>
              </a:rPr>
              <a:t>一度に出す文字を減らし、文字を大きくする</a:t>
            </a:r>
            <a:endParaRPr lang="ja-JP" sz="1600"/>
          </a:p>
        </p:txBody>
      </p:sp>
      <p:sp>
        <p:nvSpPr>
          <p:cNvPr id="11" name="これから2_評価"/>
          <p:cNvSpPr/>
          <p:nvPr/>
        </p:nvSpPr>
        <p:spPr>
          <a:xfrm>
            <a:off x="548640" y="3108960"/>
            <a:ext cx="5120640" cy="1417320"/>
          </a:xfrm>
          <a:prstGeom prst="roundRect">
            <a:avLst>
              <a:gd name="adj" fmla="val 5161"/>
            </a:avLst>
          </a:prstGeom>
          <a:solidFill>
            <a:schemeClr val="bg2"/>
          </a:solidFill>
          <a:ln w="12700">
            <a:solidFill>
              <a:schemeClr val="bg2"/>
            </a:solidFill>
            <a:prstDash val="solid"/>
          </a:ln>
        </p:spPr>
        <p:txBody>
          <a:bodyPr/>
          <a:lstStyle/>
          <a:p>
            <a:endParaRPr lang="ja-JP" altLang="en-US"/>
          </a:p>
        </p:txBody>
      </p:sp>
      <p:sp>
        <p:nvSpPr>
          <p:cNvPr id="12" name="これから2_評価_文字"/>
          <p:cNvSpPr txBox="1"/>
          <p:nvPr/>
        </p:nvSpPr>
        <p:spPr>
          <a:xfrm>
            <a:off x="822960" y="3108960"/>
            <a:ext cx="4572000" cy="1417320"/>
          </a:xfrm>
          <a:prstGeom prst="rect">
            <a:avLst/>
          </a:prstGeom>
          <a:noFill/>
          <a:ln/>
        </p:spPr>
        <p:txBody>
          <a:bodyPr wrap="square" lIns="0" tIns="0" rIns="0" bIns="0" rtlCol="0" anchor="ctr"/>
          <a:lstStyle/>
          <a:p>
            <a:pPr marL="0" indent="0">
              <a:buNone/>
            </a:pPr>
            <a:r>
              <a:rPr lang="ja-JP" altLang="en-US" sz="1600" b="1">
                <a:solidFill>
                  <a:schemeClr val="tx2"/>
                </a:solidFill>
              </a:rPr>
              <a:t>側面に</a:t>
            </a:r>
            <a:r>
              <a:rPr lang="en-US" altLang="ja-JP" sz="1600" b="1">
                <a:solidFill>
                  <a:schemeClr val="tx2"/>
                </a:solidFill>
              </a:rPr>
              <a:t>IC</a:t>
            </a:r>
            <a:r>
              <a:rPr lang="ja-JP" altLang="en-US" sz="1600" b="1">
                <a:solidFill>
                  <a:schemeClr val="tx2"/>
                </a:solidFill>
              </a:rPr>
              <a:t>タグがあるため、</a:t>
            </a:r>
            <a:endParaRPr lang="en-US" altLang="ja-JP" sz="1600" b="1">
              <a:solidFill>
                <a:schemeClr val="tx2"/>
              </a:solidFill>
            </a:endParaRPr>
          </a:p>
          <a:p>
            <a:pPr marL="0" indent="0">
              <a:buNone/>
            </a:pPr>
            <a:r>
              <a:rPr lang="ja-JP" altLang="en-US" sz="1600" b="1">
                <a:solidFill>
                  <a:schemeClr val="tx2"/>
                </a:solidFill>
              </a:rPr>
              <a:t>直感と反していて分かりづらい</a:t>
            </a:r>
            <a:endParaRPr lang="ja-JP" sz="1600"/>
          </a:p>
        </p:txBody>
      </p:sp>
      <p:sp>
        <p:nvSpPr>
          <p:cNvPr id="13" name="これから2_矢印"/>
          <p:cNvSpPr/>
          <p:nvPr/>
        </p:nvSpPr>
        <p:spPr>
          <a:xfrm>
            <a:off x="5806440" y="3616452"/>
            <a:ext cx="457200" cy="402336"/>
          </a:xfrm>
          <a:prstGeom prst="rightArrow">
            <a:avLst/>
          </a:prstGeom>
          <a:solidFill>
            <a:schemeClr val="accent2"/>
          </a:solidFill>
          <a:ln w="12700">
            <a:solidFill>
              <a:schemeClr val="accent2"/>
            </a:solidFill>
            <a:prstDash val="solid"/>
          </a:ln>
        </p:spPr>
        <p:txBody>
          <a:bodyPr/>
          <a:lstStyle/>
          <a:p>
            <a:endParaRPr lang="ja-JP" altLang="en-US"/>
          </a:p>
        </p:txBody>
      </p:sp>
      <p:sp>
        <p:nvSpPr>
          <p:cNvPr id="14" name="これから2_対応"/>
          <p:cNvSpPr/>
          <p:nvPr/>
        </p:nvSpPr>
        <p:spPr>
          <a:xfrm>
            <a:off x="6400800" y="3108960"/>
            <a:ext cx="5242255" cy="1417320"/>
          </a:xfrm>
          <a:prstGeom prst="roundRect">
            <a:avLst>
              <a:gd name="adj" fmla="val 5161"/>
            </a:avLst>
          </a:prstGeom>
          <a:solidFill>
            <a:schemeClr val="accent5"/>
          </a:solidFill>
          <a:ln w="12700">
            <a:solidFill>
              <a:schemeClr val="accent5"/>
            </a:solidFill>
            <a:prstDash val="solid"/>
          </a:ln>
        </p:spPr>
        <p:txBody>
          <a:bodyPr/>
          <a:lstStyle/>
          <a:p>
            <a:endParaRPr lang="ja-JP" altLang="en-US"/>
          </a:p>
        </p:txBody>
      </p:sp>
      <p:sp>
        <p:nvSpPr>
          <p:cNvPr id="15" name="これから2_札"/>
          <p:cNvSpPr/>
          <p:nvPr/>
        </p:nvSpPr>
        <p:spPr>
          <a:xfrm>
            <a:off x="6675120" y="3310128"/>
            <a:ext cx="1554480" cy="384048"/>
          </a:xfrm>
          <a:prstGeom prst="roundRect">
            <a:avLst>
              <a:gd name="adj" fmla="val 47619"/>
            </a:avLst>
          </a:prstGeom>
          <a:solidFill>
            <a:schemeClr val="accent2"/>
          </a:solidFill>
          <a:ln w="12700">
            <a:solidFill>
              <a:schemeClr val="accent2"/>
            </a:solidFill>
            <a:prstDash val="solid"/>
          </a:ln>
        </p:spPr>
        <p:txBody>
          <a:bodyPr/>
          <a:lstStyle/>
          <a:p>
            <a:endParaRPr lang="ja-JP" altLang="en-US"/>
          </a:p>
        </p:txBody>
      </p:sp>
      <p:sp>
        <p:nvSpPr>
          <p:cNvPr id="16" name="これから2_札_文字"/>
          <p:cNvSpPr txBox="1"/>
          <p:nvPr/>
        </p:nvSpPr>
        <p:spPr>
          <a:xfrm>
            <a:off x="6675120" y="3310128"/>
            <a:ext cx="1554480" cy="384048"/>
          </a:xfrm>
          <a:prstGeom prst="rect">
            <a:avLst/>
          </a:prstGeom>
          <a:noFill/>
          <a:ln/>
        </p:spPr>
        <p:txBody>
          <a:bodyPr wrap="square" lIns="0" tIns="0" rIns="0" bIns="0" rtlCol="0" anchor="ctr"/>
          <a:lstStyle/>
          <a:p>
            <a:pPr marL="0" indent="0" algn="ctr">
              <a:buNone/>
            </a:pPr>
            <a:r>
              <a:rPr lang="ja-JP" altLang="en-US" sz="1600" b="1">
                <a:solidFill>
                  <a:schemeClr val="bg1"/>
                </a:solidFill>
              </a:rPr>
              <a:t>改善の方法</a:t>
            </a:r>
            <a:endParaRPr lang="ja-JP" sz="1600"/>
          </a:p>
        </p:txBody>
      </p:sp>
      <p:sp>
        <p:nvSpPr>
          <p:cNvPr id="17" name="これから2_対応_文字"/>
          <p:cNvSpPr txBox="1"/>
          <p:nvPr/>
        </p:nvSpPr>
        <p:spPr>
          <a:xfrm>
            <a:off x="6675120" y="3803904"/>
            <a:ext cx="4693615" cy="576072"/>
          </a:xfrm>
          <a:prstGeom prst="rect">
            <a:avLst/>
          </a:prstGeom>
          <a:noFill/>
          <a:ln/>
        </p:spPr>
        <p:txBody>
          <a:bodyPr wrap="square" lIns="0" tIns="0" rIns="0" bIns="0" rtlCol="0" anchor="t"/>
          <a:lstStyle/>
          <a:p>
            <a:pPr marL="203200" indent="-203200">
              <a:buSzPct val="100000"/>
              <a:buChar char="•"/>
            </a:pPr>
            <a:r>
              <a:rPr lang="ja-JP" altLang="en-US" sz="1600">
                <a:solidFill>
                  <a:schemeClr val="tx1"/>
                </a:solidFill>
              </a:rPr>
              <a:t>読み取る部分を正面に移す</a:t>
            </a:r>
            <a:endParaRPr lang="ja-JP" sz="1600"/>
          </a:p>
          <a:p>
            <a:pPr marL="203200" indent="-203200">
              <a:spcBef>
                <a:spcPts val="600"/>
              </a:spcBef>
              <a:buSzPct val="100000"/>
              <a:buChar char="•"/>
            </a:pPr>
            <a:r>
              <a:rPr lang="ja-JP" altLang="en-US" sz="1600">
                <a:solidFill>
                  <a:schemeClr val="tx1"/>
                </a:solidFill>
              </a:rPr>
              <a:t>かざす場所に目印を付ける</a:t>
            </a:r>
            <a:endParaRPr lang="ja-JP" sz="1600"/>
          </a:p>
        </p:txBody>
      </p:sp>
      <p:sp>
        <p:nvSpPr>
          <p:cNvPr id="18" name="これから3_評価"/>
          <p:cNvSpPr/>
          <p:nvPr/>
        </p:nvSpPr>
        <p:spPr>
          <a:xfrm>
            <a:off x="548640" y="4709160"/>
            <a:ext cx="5120640" cy="1417320"/>
          </a:xfrm>
          <a:prstGeom prst="roundRect">
            <a:avLst>
              <a:gd name="adj" fmla="val 5161"/>
            </a:avLst>
          </a:prstGeom>
          <a:solidFill>
            <a:schemeClr val="bg2"/>
          </a:solidFill>
          <a:ln w="12700">
            <a:solidFill>
              <a:schemeClr val="bg2"/>
            </a:solidFill>
            <a:prstDash val="solid"/>
          </a:ln>
        </p:spPr>
        <p:txBody>
          <a:bodyPr/>
          <a:lstStyle/>
          <a:p>
            <a:endParaRPr lang="ja-JP" altLang="en-US"/>
          </a:p>
        </p:txBody>
      </p:sp>
      <p:sp>
        <p:nvSpPr>
          <p:cNvPr id="19" name="これから3_評価_文字"/>
          <p:cNvSpPr txBox="1"/>
          <p:nvPr/>
        </p:nvSpPr>
        <p:spPr>
          <a:xfrm>
            <a:off x="822960" y="4709160"/>
            <a:ext cx="4572000" cy="1417320"/>
          </a:xfrm>
          <a:prstGeom prst="rect">
            <a:avLst/>
          </a:prstGeom>
          <a:noFill/>
          <a:ln/>
        </p:spPr>
        <p:txBody>
          <a:bodyPr wrap="square" lIns="0" tIns="0" rIns="0" bIns="0" rtlCol="0" anchor="ctr"/>
          <a:lstStyle/>
          <a:p>
            <a:pPr marL="0" indent="0">
              <a:buNone/>
            </a:pPr>
            <a:r>
              <a:rPr lang="ja-JP" altLang="en-US" sz="1600" b="1">
                <a:solidFill>
                  <a:schemeClr val="tx2"/>
                </a:solidFill>
              </a:rPr>
              <a:t>管理者側から、</a:t>
            </a:r>
            <a:endParaRPr lang="ja-JP" sz="1600"/>
          </a:p>
          <a:p>
            <a:pPr marL="0" indent="0">
              <a:buNone/>
            </a:pPr>
            <a:r>
              <a:rPr lang="ja-JP" altLang="en-US" sz="1600" b="1">
                <a:solidFill>
                  <a:schemeClr val="tx2"/>
                </a:solidFill>
              </a:rPr>
              <a:t>モジュールに通知できる機能があればよかった</a:t>
            </a:r>
            <a:endParaRPr lang="ja-JP" sz="1600"/>
          </a:p>
          <a:p>
            <a:pPr marL="0" indent="0">
              <a:buNone/>
            </a:pPr>
            <a:r>
              <a:rPr lang="ja-JP" altLang="en-US" sz="1600" b="1">
                <a:solidFill>
                  <a:schemeClr val="tx2"/>
                </a:solidFill>
              </a:rPr>
              <a:t>（ブザーなどを使って通知する）</a:t>
            </a:r>
            <a:endParaRPr lang="ja-JP" sz="1600"/>
          </a:p>
        </p:txBody>
      </p:sp>
      <p:sp>
        <p:nvSpPr>
          <p:cNvPr id="20" name="これから3_矢印"/>
          <p:cNvSpPr/>
          <p:nvPr/>
        </p:nvSpPr>
        <p:spPr>
          <a:xfrm>
            <a:off x="5806440" y="5216652"/>
            <a:ext cx="457200" cy="402336"/>
          </a:xfrm>
          <a:prstGeom prst="rightArrow">
            <a:avLst/>
          </a:prstGeom>
          <a:solidFill>
            <a:schemeClr val="accent2"/>
          </a:solidFill>
          <a:ln w="12700">
            <a:solidFill>
              <a:schemeClr val="accent2"/>
            </a:solidFill>
            <a:prstDash val="solid"/>
          </a:ln>
        </p:spPr>
        <p:txBody>
          <a:bodyPr/>
          <a:lstStyle/>
          <a:p>
            <a:endParaRPr lang="ja-JP" altLang="en-US"/>
          </a:p>
        </p:txBody>
      </p:sp>
      <p:sp>
        <p:nvSpPr>
          <p:cNvPr id="21" name="これから3_対応"/>
          <p:cNvSpPr/>
          <p:nvPr/>
        </p:nvSpPr>
        <p:spPr>
          <a:xfrm>
            <a:off x="6400800" y="4709160"/>
            <a:ext cx="5242255" cy="1417320"/>
          </a:xfrm>
          <a:prstGeom prst="roundRect">
            <a:avLst>
              <a:gd name="adj" fmla="val 5161"/>
            </a:avLst>
          </a:prstGeom>
          <a:solidFill>
            <a:schemeClr val="accent5"/>
          </a:solidFill>
          <a:ln w="12700">
            <a:solidFill>
              <a:schemeClr val="accent5"/>
            </a:solidFill>
            <a:prstDash val="solid"/>
          </a:ln>
        </p:spPr>
        <p:txBody>
          <a:bodyPr/>
          <a:lstStyle/>
          <a:p>
            <a:endParaRPr lang="ja-JP" altLang="en-US"/>
          </a:p>
        </p:txBody>
      </p:sp>
      <p:sp>
        <p:nvSpPr>
          <p:cNvPr id="22" name="これから3_札"/>
          <p:cNvSpPr/>
          <p:nvPr/>
        </p:nvSpPr>
        <p:spPr>
          <a:xfrm>
            <a:off x="6675120" y="4910328"/>
            <a:ext cx="1554480" cy="384048"/>
          </a:xfrm>
          <a:prstGeom prst="roundRect">
            <a:avLst>
              <a:gd name="adj" fmla="val 47619"/>
            </a:avLst>
          </a:prstGeom>
          <a:solidFill>
            <a:schemeClr val="accent2"/>
          </a:solidFill>
          <a:ln w="12700">
            <a:solidFill>
              <a:schemeClr val="accent2"/>
            </a:solidFill>
            <a:prstDash val="solid"/>
          </a:ln>
        </p:spPr>
        <p:txBody>
          <a:bodyPr/>
          <a:lstStyle/>
          <a:p>
            <a:endParaRPr lang="ja-JP" altLang="en-US"/>
          </a:p>
        </p:txBody>
      </p:sp>
      <p:sp>
        <p:nvSpPr>
          <p:cNvPr id="23" name="これから3_札_文字"/>
          <p:cNvSpPr txBox="1"/>
          <p:nvPr/>
        </p:nvSpPr>
        <p:spPr>
          <a:xfrm>
            <a:off x="6675120" y="4910328"/>
            <a:ext cx="1554480" cy="384048"/>
          </a:xfrm>
          <a:prstGeom prst="rect">
            <a:avLst/>
          </a:prstGeom>
          <a:noFill/>
          <a:ln/>
        </p:spPr>
        <p:txBody>
          <a:bodyPr wrap="square" lIns="0" tIns="0" rIns="0" bIns="0" rtlCol="0" anchor="ctr"/>
          <a:lstStyle/>
          <a:p>
            <a:pPr marL="0" indent="0" algn="ctr">
              <a:buNone/>
            </a:pPr>
            <a:r>
              <a:rPr lang="ja-JP" altLang="en-US" sz="1600" b="1">
                <a:solidFill>
                  <a:schemeClr val="bg1"/>
                </a:solidFill>
              </a:rPr>
              <a:t>改善の方法</a:t>
            </a:r>
            <a:endParaRPr lang="ja-JP" sz="1600"/>
          </a:p>
        </p:txBody>
      </p:sp>
      <p:sp>
        <p:nvSpPr>
          <p:cNvPr id="24" name="これから3_対応_文字"/>
          <p:cNvSpPr txBox="1"/>
          <p:nvPr/>
        </p:nvSpPr>
        <p:spPr>
          <a:xfrm>
            <a:off x="6675120" y="5404104"/>
            <a:ext cx="4693615" cy="576072"/>
          </a:xfrm>
          <a:prstGeom prst="rect">
            <a:avLst/>
          </a:prstGeom>
          <a:noFill/>
          <a:ln/>
        </p:spPr>
        <p:txBody>
          <a:bodyPr wrap="square" lIns="0" tIns="0" rIns="0" bIns="0" rtlCol="0" anchor="t"/>
          <a:lstStyle/>
          <a:p>
            <a:pPr marL="203200" indent="-203200">
              <a:buSzPct val="100000"/>
              <a:buChar char="•"/>
            </a:pPr>
            <a:r>
              <a:rPr lang="ja-JP" altLang="en-US" sz="1600">
                <a:solidFill>
                  <a:schemeClr val="tx1"/>
                </a:solidFill>
              </a:rPr>
              <a:t>モジュールにブザーを付ける</a:t>
            </a:r>
            <a:endParaRPr lang="ja-JP" sz="1600"/>
          </a:p>
          <a:p>
            <a:pPr marL="203200" indent="-203200">
              <a:spcBef>
                <a:spcPts val="600"/>
              </a:spcBef>
              <a:buSzPct val="100000"/>
              <a:buChar char="•"/>
            </a:pPr>
            <a:r>
              <a:rPr lang="ja-JP" altLang="en-US" sz="1600">
                <a:solidFill>
                  <a:schemeClr val="tx1"/>
                </a:solidFill>
              </a:rPr>
              <a:t>管理画面から、音と文字で呼び出せるようにする</a:t>
            </a:r>
            <a:endParaRPr lang="ja-JP" sz="16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5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50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fade">
                                      <p:cBhvr>
                                        <p:cTn id="41" dur="500"/>
                                        <p:tgtEl>
                                          <p:spTgt spid="20"/>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animEffect transition="in" filter="fade">
                                      <p:cBhvr>
                                        <p:cTn id="44" dur="500"/>
                                        <p:tgtEl>
                                          <p:spTgt spid="21"/>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500"/>
                                        <p:tgtEl>
                                          <p:spTgt spid="23"/>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3" grpId="0" animBg="1"/>
      <p:bldP spid="14" grpId="0" animBg="1"/>
      <p:bldP spid="15" grpId="0" animBg="1"/>
      <p:bldP spid="16" grpId="0" animBg="1"/>
      <p:bldP spid="17" grpId="0" animBg="1"/>
      <p:bldP spid="20" grpId="0" animBg="1"/>
      <p:bldP spid="21" grpId="0" animBg="1"/>
      <p:bldP spid="22" grpId="0" animBg="1"/>
      <p:bldP spid="23" grpId="0" animBg="1"/>
      <p:bldP spid="2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74320"/>
            <a:ext cx="11094415" cy="320040"/>
          </a:xfrm>
          <a:prstGeom prst="rect">
            <a:avLst/>
          </a:prstGeom>
          <a:noFill/>
          <a:ln/>
        </p:spPr>
        <p:txBody>
          <a:bodyPr wrap="square" lIns="0" tIns="0" rIns="0" bIns="0" rtlCol="0" anchor="ctr"/>
          <a:lstStyle/>
          <a:p>
            <a:pPr marL="0" indent="0" algn="l">
              <a:buNone/>
            </a:pPr>
            <a:r>
              <a:rPr lang="ja-JP" altLang="en-US" sz="1400" b="1">
                <a:solidFill>
                  <a:schemeClr val="accent1"/>
                </a:solidFill>
              </a:rPr>
              <a:t>8. まとめと今後の展望</a:t>
            </a:r>
            <a:endParaRPr lang="ja-JP" sz="1400"/>
          </a:p>
        </p:txBody>
      </p:sp>
      <p:sp>
        <p:nvSpPr>
          <p:cNvPr id="3" name="Text 0"/>
          <p:cNvSpPr>
            <a:spLocks noGrp="1"/>
          </p:cNvSpPr>
          <p:nvPr>
            <p:ph type="title" idx="101" hasCustomPrompt="1"/>
          </p:nvPr>
        </p:nvSpPr>
        <p:spPr>
          <a:xfrm>
            <a:off x="548640" y="594360"/>
            <a:ext cx="11094415" cy="731520"/>
          </a:xfrm>
          <a:prstGeom prst="rect">
            <a:avLst/>
          </a:prstGeom>
          <a:noFill/>
          <a:ln/>
        </p:spPr>
        <p:txBody>
          <a:bodyPr wrap="square" lIns="0" tIns="0" rIns="0" bIns="0" rtlCol="0" anchor="ctr"/>
          <a:lstStyle/>
          <a:p>
            <a:pPr marL="0" indent="0" algn="l">
              <a:buNone/>
            </a:pPr>
            <a:r>
              <a:rPr lang="ja-JP" altLang="en-US" sz="3200" b="1">
                <a:solidFill>
                  <a:schemeClr val="tx2"/>
                </a:solidFill>
              </a:rPr>
              <a:t>まとめと今後の展望</a:t>
            </a:r>
            <a:endParaRPr lang="ja-JP" sz="3200"/>
          </a:p>
        </p:txBody>
      </p:sp>
      <p:sp>
        <p:nvSpPr>
          <p:cNvPr id="4" name="まとめ_要点"/>
          <p:cNvSpPr/>
          <p:nvPr/>
        </p:nvSpPr>
        <p:spPr>
          <a:xfrm>
            <a:off x="548640" y="1554480"/>
            <a:ext cx="11094415" cy="1463040"/>
          </a:xfrm>
          <a:prstGeom prst="roundRect">
            <a:avLst>
              <a:gd name="adj" fmla="val 5000"/>
            </a:avLst>
          </a:prstGeom>
          <a:solidFill>
            <a:schemeClr val="accent5"/>
          </a:solidFill>
          <a:ln w="19050">
            <a:solidFill>
              <a:schemeClr val="accent1"/>
            </a:solidFill>
            <a:prstDash val="solid"/>
          </a:ln>
        </p:spPr>
        <p:txBody>
          <a:bodyPr/>
          <a:lstStyle/>
          <a:p>
            <a:endParaRPr lang="ja-JP" altLang="en-US"/>
          </a:p>
        </p:txBody>
      </p:sp>
      <p:sp>
        <p:nvSpPr>
          <p:cNvPr id="5" name="まとめ_要点_文字"/>
          <p:cNvSpPr txBox="1"/>
          <p:nvPr/>
        </p:nvSpPr>
        <p:spPr>
          <a:xfrm>
            <a:off x="868680" y="1554480"/>
            <a:ext cx="10454335" cy="1463040"/>
          </a:xfrm>
          <a:prstGeom prst="rect">
            <a:avLst/>
          </a:prstGeom>
          <a:noFill/>
          <a:ln/>
        </p:spPr>
        <p:txBody>
          <a:bodyPr wrap="square" lIns="0" tIns="0" rIns="0" bIns="0" rtlCol="0" anchor="ctr"/>
          <a:lstStyle/>
          <a:p>
            <a:pPr marL="0" indent="0">
              <a:buNone/>
            </a:pPr>
            <a:r>
              <a:rPr lang="ja-JP" altLang="en-US" sz="2400" b="1">
                <a:solidFill>
                  <a:schemeClr val="tx2"/>
                </a:solidFill>
              </a:rPr>
              <a:t>腕輪をタッチするだけで、人と仕事を AI が結び付ける</a:t>
            </a:r>
            <a:endParaRPr lang="ja-JP" sz="2400"/>
          </a:p>
          <a:p>
            <a:pPr marL="0" indent="0">
              <a:spcBef>
                <a:spcPts val="800"/>
              </a:spcBef>
              <a:buNone/>
            </a:pPr>
            <a:r>
              <a:rPr lang="ja-JP" altLang="en-US" sz="1800">
                <a:solidFill>
                  <a:schemeClr val="tx1"/>
                </a:solidFill>
              </a:rPr>
              <a:t>作業者は報告・確認・探す手間から解放され、管理者は状況と適性をデータで把握できる</a:t>
            </a:r>
            <a:endParaRPr lang="ja-JP" sz="2400"/>
          </a:p>
        </p:txBody>
      </p:sp>
      <p:sp>
        <p:nvSpPr>
          <p:cNvPr id="6" name="まとめ_課題"/>
          <p:cNvSpPr/>
          <p:nvPr/>
        </p:nvSpPr>
        <p:spPr>
          <a:xfrm>
            <a:off x="548640"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7" name="まとめ_課題_文字"/>
          <p:cNvSpPr txBox="1"/>
          <p:nvPr/>
        </p:nvSpPr>
        <p:spPr>
          <a:xfrm>
            <a:off x="777240" y="3520440"/>
            <a:ext cx="4929988" cy="1645920"/>
          </a:xfrm>
          <a:prstGeom prst="rect">
            <a:avLst/>
          </a:prstGeom>
          <a:noFill/>
          <a:ln/>
        </p:spPr>
        <p:txBody>
          <a:bodyPr wrap="square" lIns="0" tIns="0" rIns="0" bIns="0" rtlCol="0" anchor="t"/>
          <a:lstStyle/>
          <a:p>
            <a:pPr marL="0" indent="0">
              <a:buNone/>
            </a:pPr>
            <a:r>
              <a:rPr lang="ja-JP" altLang="en-US" sz="2000" b="1">
                <a:solidFill>
                  <a:schemeClr val="tx2"/>
                </a:solidFill>
              </a:rPr>
              <a:t>現時点の課題</a:t>
            </a:r>
            <a:endParaRPr lang="ja-JP" sz="2000"/>
          </a:p>
          <a:p>
            <a:pPr marL="203200" indent="-203200">
              <a:spcBef>
                <a:spcPts val="800"/>
              </a:spcBef>
              <a:buSzPct val="100000"/>
              <a:buChar char="•"/>
            </a:pPr>
            <a:r>
              <a:rPr lang="ja-JP" altLang="en-US" sz="1600">
                <a:solidFill>
                  <a:schemeClr val="tx1"/>
                </a:solidFill>
              </a:rPr>
              <a:t>AI 割当の評価はシミュレーションのみ</a:t>
            </a:r>
            <a:endParaRPr lang="ja-JP" sz="2000"/>
          </a:p>
          <a:p>
            <a:pPr marL="203200" indent="-203200">
              <a:spcBef>
                <a:spcPts val="400"/>
              </a:spcBef>
              <a:buSzPct val="100000"/>
              <a:buChar char="•"/>
            </a:pPr>
            <a:r>
              <a:rPr lang="ja-JP" altLang="en-US" sz="1600">
                <a:solidFill>
                  <a:schemeClr val="tx1"/>
                </a:solidFill>
              </a:rPr>
              <a:t>作業者の上達（能力の変化）をまだ考慮していない</a:t>
            </a:r>
            <a:endParaRPr lang="ja-JP" sz="2000"/>
          </a:p>
          <a:p>
            <a:pPr marL="203200" indent="-203200">
              <a:spcBef>
                <a:spcPts val="400"/>
              </a:spcBef>
              <a:buSzPct val="100000"/>
              <a:buChar char="•"/>
            </a:pPr>
            <a:r>
              <a:rPr lang="ja-JP" altLang="en-US" sz="1600">
                <a:solidFill>
                  <a:schemeClr val="tx1"/>
                </a:solidFill>
              </a:rPr>
              <a:t>ログが増えると計算が重くなる</a:t>
            </a:r>
            <a:endParaRPr lang="ja-JP" sz="2000"/>
          </a:p>
          <a:p>
            <a:pPr marL="203200" indent="-203200">
              <a:spcBef>
                <a:spcPts val="400"/>
              </a:spcBef>
              <a:buSzPct val="100000"/>
              <a:buChar char="•"/>
            </a:pPr>
            <a:r>
              <a:rPr lang="ja-JP" altLang="en-US" sz="1600">
                <a:solidFill>
                  <a:schemeClr val="tx1"/>
                </a:solidFill>
              </a:rPr>
              <a:t>画面の文字・タグの位置・通知の改善が残る</a:t>
            </a:r>
            <a:endParaRPr lang="ja-JP" sz="2000"/>
          </a:p>
        </p:txBody>
      </p:sp>
      <p:sp>
        <p:nvSpPr>
          <p:cNvPr id="8" name="まとめ_展望"/>
          <p:cNvSpPr/>
          <p:nvPr/>
        </p:nvSpPr>
        <p:spPr>
          <a:xfrm>
            <a:off x="6255868" y="3337560"/>
            <a:ext cx="5387188" cy="2011680"/>
          </a:xfrm>
          <a:prstGeom prst="roundRect">
            <a:avLst>
              <a:gd name="adj" fmla="val 3636"/>
            </a:avLst>
          </a:prstGeom>
          <a:solidFill>
            <a:schemeClr val="bg2"/>
          </a:solidFill>
          <a:ln w="12700">
            <a:solidFill>
              <a:schemeClr val="bg2"/>
            </a:solidFill>
            <a:prstDash val="solid"/>
          </a:ln>
        </p:spPr>
        <p:txBody>
          <a:bodyPr/>
          <a:lstStyle/>
          <a:p>
            <a:endParaRPr lang="ja-JP" altLang="en-US"/>
          </a:p>
        </p:txBody>
      </p:sp>
      <p:sp>
        <p:nvSpPr>
          <p:cNvPr id="9" name="まとめ_展望_文字"/>
          <p:cNvSpPr txBox="1"/>
          <p:nvPr/>
        </p:nvSpPr>
        <p:spPr>
          <a:xfrm>
            <a:off x="6484468" y="3520440"/>
            <a:ext cx="4929988" cy="1645920"/>
          </a:xfrm>
          <a:prstGeom prst="rect">
            <a:avLst/>
          </a:prstGeom>
          <a:noFill/>
          <a:ln/>
        </p:spPr>
        <p:txBody>
          <a:bodyPr wrap="square" lIns="0" tIns="0" rIns="0" bIns="0" rtlCol="0" anchor="t"/>
          <a:lstStyle/>
          <a:p>
            <a:pPr marL="0" indent="0">
              <a:buNone/>
            </a:pPr>
            <a:r>
              <a:rPr lang="ja-JP" altLang="en-US" sz="2000" b="1">
                <a:solidFill>
                  <a:schemeClr val="tx2"/>
                </a:solidFill>
              </a:rPr>
              <a:t>今後の展望</a:t>
            </a:r>
            <a:endParaRPr lang="ja-JP" sz="2000"/>
          </a:p>
          <a:p>
            <a:pPr marL="203200" indent="-203200">
              <a:spcBef>
                <a:spcPts val="800"/>
              </a:spcBef>
              <a:buSzPct val="100000"/>
              <a:buChar char="•"/>
            </a:pPr>
            <a:r>
              <a:rPr lang="ja-JP" altLang="en-US" sz="1600">
                <a:solidFill>
                  <a:schemeClr val="tx1"/>
                </a:solidFill>
              </a:rPr>
              <a:t>長期間実際の工場で作業ログを集めて評価する</a:t>
            </a:r>
            <a:endParaRPr lang="ja-JP" sz="2000"/>
          </a:p>
          <a:p>
            <a:pPr marL="203200" indent="-203200">
              <a:spcBef>
                <a:spcPts val="400"/>
              </a:spcBef>
              <a:buSzPct val="100000"/>
              <a:buChar char="•"/>
            </a:pPr>
            <a:r>
              <a:rPr lang="ja-JP" altLang="en-US" sz="1600">
                <a:solidFill>
                  <a:schemeClr val="tx1"/>
                </a:solidFill>
              </a:rPr>
              <a:t>古いログの重みを下げ、上達を反映する</a:t>
            </a:r>
            <a:endParaRPr lang="en-US" altLang="ja-JP" sz="1600">
              <a:solidFill>
                <a:schemeClr val="tx1"/>
              </a:solidFill>
            </a:endParaRPr>
          </a:p>
          <a:p>
            <a:pPr marL="203200" indent="-203200">
              <a:spcBef>
                <a:spcPts val="400"/>
              </a:spcBef>
              <a:buSzPct val="100000"/>
              <a:buChar char="•"/>
            </a:pPr>
            <a:r>
              <a:rPr lang="ja-JP" altLang="en-US" sz="1600"/>
              <a:t>他の割当アルゴリズム</a:t>
            </a:r>
            <a:r>
              <a:rPr lang="en-US" altLang="ja-JP" sz="1600"/>
              <a:t>(</a:t>
            </a:r>
            <a:r>
              <a:rPr lang="en-US" altLang="ja-JP" sz="1600" err="1"/>
              <a:t>elo</a:t>
            </a:r>
            <a:r>
              <a:rPr lang="en-US" altLang="ja-JP" sz="1600"/>
              <a:t> rating,LinUCB</a:t>
            </a:r>
            <a:r>
              <a:rPr lang="ja-JP" altLang="en-US" sz="1600"/>
              <a:t>等</a:t>
            </a:r>
            <a:r>
              <a:rPr lang="en-US" altLang="ja-JP" sz="1600"/>
              <a:t>)</a:t>
            </a:r>
            <a:r>
              <a:rPr lang="ja-JP" altLang="en-US" sz="1600"/>
              <a:t>との比較、検討</a:t>
            </a:r>
            <a:endParaRPr lang="ja-JP" sz="200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D2A259D-86F1-71F9-0CDB-482BC8DFF059}"/>
              </a:ext>
            </a:extLst>
          </p:cNvPr>
          <p:cNvSpPr>
            <a:spLocks noGrp="1"/>
          </p:cNvSpPr>
          <p:nvPr>
            <p:ph type="body" idx="100"/>
          </p:nvPr>
        </p:nvSpPr>
        <p:spPr>
          <a:xfrm>
            <a:off x="548640" y="274320"/>
            <a:ext cx="11094415" cy="320040"/>
          </a:xfrm>
        </p:spPr>
        <p:txBody>
          <a:bodyPr lIns="0" tIns="0" rIns="0" bIns="0"/>
          <a:lstStyle/>
          <a:p>
            <a:r>
              <a:rPr kumimoji="1" lang="ja-JP" altLang="en-US"/>
              <a:t>付録</a:t>
            </a:r>
          </a:p>
        </p:txBody>
      </p:sp>
      <p:sp>
        <p:nvSpPr>
          <p:cNvPr id="3" name="タイトル 2">
            <a:extLst>
              <a:ext uri="{FF2B5EF4-FFF2-40B4-BE49-F238E27FC236}">
                <a16:creationId xmlns:a16="http://schemas.microsoft.com/office/drawing/2014/main" id="{823BE62B-63CE-ECB0-E3CF-CDCE7BAE6DB6}"/>
              </a:ext>
            </a:extLst>
          </p:cNvPr>
          <p:cNvSpPr>
            <a:spLocks noGrp="1"/>
          </p:cNvSpPr>
          <p:nvPr>
            <p:ph type="title" idx="101"/>
          </p:nvPr>
        </p:nvSpPr>
        <p:spPr>
          <a:xfrm>
            <a:off x="548640" y="594360"/>
            <a:ext cx="11094415" cy="731520"/>
          </a:xfrm>
        </p:spPr>
        <p:txBody>
          <a:bodyPr lIns="0" tIns="0" rIns="0" bIns="0"/>
          <a:lstStyle/>
          <a:p>
            <a:r>
              <a:rPr kumimoji="1" lang="ja-JP" altLang="en-US"/>
              <a:t>想定される質問と回答例</a:t>
            </a:r>
          </a:p>
        </p:txBody>
      </p:sp>
      <p:graphicFrame>
        <p:nvGraphicFramePr>
          <p:cNvPr id="4" name="想定質問表">
            <a:extLst>
              <a:ext uri="{FF2B5EF4-FFF2-40B4-BE49-F238E27FC236}">
                <a16:creationId xmlns:a16="http://schemas.microsoft.com/office/drawing/2014/main" id="{66ECB0C1-0C55-86CA-3D29-D437AEB7B29D}"/>
              </a:ext>
            </a:extLst>
          </p:cNvPr>
          <p:cNvGraphicFramePr>
            <a:graphicFrameLocks noGrp="1"/>
          </p:cNvGraphicFramePr>
          <p:nvPr>
            <p:extLst>
              <p:ext uri="{D42A27DB-BD31-4B8C-83A1-F6EECF244321}">
                <p14:modId xmlns:p14="http://schemas.microsoft.com/office/powerpoint/2010/main" val="1326934594"/>
              </p:ext>
            </p:extLst>
          </p:nvPr>
        </p:nvGraphicFramePr>
        <p:xfrm>
          <a:off x="548640" y="1417320"/>
          <a:ext cx="11094415" cy="4673600"/>
        </p:xfrm>
        <a:graphic>
          <a:graphicData uri="http://schemas.openxmlformats.org/drawingml/2006/table">
            <a:tbl>
              <a:tblPr firstRow="1" bandRow="1">
                <a:tableStyleId>{5940675A-B579-460E-94D1-54222C63F5DA}</a:tableStyleId>
              </a:tblPr>
              <a:tblGrid>
                <a:gridCol w="3657600">
                  <a:extLst>
                    <a:ext uri="{9D8B030D-6E8A-4147-A177-3AD203B41FA5}">
                      <a16:colId xmlns:a16="http://schemas.microsoft.com/office/drawing/2014/main" val="1489318712"/>
                    </a:ext>
                  </a:extLst>
                </a:gridCol>
                <a:gridCol w="7436815">
                  <a:extLst>
                    <a:ext uri="{9D8B030D-6E8A-4147-A177-3AD203B41FA5}">
                      <a16:colId xmlns:a16="http://schemas.microsoft.com/office/drawing/2014/main" val="1119423063"/>
                    </a:ext>
                  </a:extLst>
                </a:gridCol>
              </a:tblGrid>
              <a:tr h="365760">
                <a:tc>
                  <a:txBody>
                    <a:bodyPr/>
                    <a:lstStyle/>
                    <a:p>
                      <a:pPr algn="l"/>
                      <a:r>
                        <a:rPr kumimoji="1" lang="ja-JP" altLang="en-US" sz="1400" b="1">
                          <a:solidFill>
                            <a:schemeClr val="lt1"/>
                          </a:solidFill>
                        </a:rPr>
                        <a:t>質問</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tc>
                  <a:txBody>
                    <a:bodyPr/>
                    <a:lstStyle/>
                    <a:p>
                      <a:pPr algn="l"/>
                      <a:r>
                        <a:rPr kumimoji="1" lang="ja-JP" altLang="en-US" sz="1400" b="1">
                          <a:solidFill>
                            <a:schemeClr val="lt1"/>
                          </a:solidFill>
                        </a:rPr>
                        <a:t>回答例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dk2"/>
                    </a:solidFill>
                  </a:tcPr>
                </a:tc>
                <a:extLst>
                  <a:ext uri="{0D108BD9-81ED-4DB2-BD59-A6C34878D82A}">
                    <a16:rowId xmlns:a16="http://schemas.microsoft.com/office/drawing/2014/main" val="381792029"/>
                  </a:ext>
                </a:extLst>
              </a:tr>
              <a:tr h="538480">
                <a:tc>
                  <a:txBody>
                    <a:bodyPr/>
                    <a:lstStyle/>
                    <a:p>
                      <a:pPr algn="l"/>
                      <a:r>
                        <a:rPr kumimoji="1" lang="ja-JP" altLang="en-US" sz="1400" b="1">
                          <a:solidFill>
                            <a:schemeClr val="dk2"/>
                          </a:solidFill>
                        </a:rPr>
                        <a:t>なぜ </a:t>
                      </a:r>
                      <a:r>
                        <a:rPr kumimoji="1" lang="en-US" altLang="ja-JP" sz="1400" b="1">
                          <a:solidFill>
                            <a:schemeClr val="dk2"/>
                          </a:solidFill>
                        </a:rPr>
                        <a:t>Thompson Sampling</a:t>
                      </a:r>
                      <a:r>
                        <a:rPr kumimoji="1" lang="ja-JP" altLang="en-US" sz="1400" b="1">
                          <a:solidFill>
                            <a:schemeClr val="dk2"/>
                          </a:solidFill>
                        </a:rPr>
                        <a:t>（バンディット）を選んだのか？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割当は任せてみないと得意か分からない問題。実績のある人に任せることと試しに任せることを両立でき、データが少なくても動き、選んだ理由も示せるため</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008559327"/>
                  </a:ext>
                </a:extLst>
              </a:tr>
              <a:tr h="538480">
                <a:tc>
                  <a:txBody>
                    <a:bodyPr/>
                    <a:lstStyle/>
                    <a:p>
                      <a:pPr algn="l"/>
                      <a:r>
                        <a:rPr kumimoji="1" lang="en-US" altLang="ja-JP" sz="1400" b="1">
                          <a:solidFill>
                            <a:schemeClr val="dk2"/>
                          </a:solidFill>
                        </a:rPr>
                        <a:t>Elo </a:t>
                      </a:r>
                      <a:r>
                        <a:rPr kumimoji="1" lang="ja-JP" altLang="en-US" sz="1400" b="1">
                          <a:solidFill>
                            <a:schemeClr val="dk2"/>
                          </a:solidFill>
                        </a:rPr>
                        <a:t>レーティングではだめなのか？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en-US" altLang="ja-JP" sz="1400" b="0">
                          <a:solidFill>
                            <a:schemeClr val="tx1"/>
                          </a:solidFill>
                        </a:rPr>
                        <a:t>1 </a:t>
                      </a:r>
                      <a:r>
                        <a:rPr kumimoji="1" lang="ja-JP" altLang="en-US" sz="1400" b="0">
                          <a:solidFill>
                            <a:schemeClr val="tx1"/>
                          </a:solidFill>
                        </a:rPr>
                        <a:t>人 </a:t>
                      </a:r>
                      <a:r>
                        <a:rPr kumimoji="1" lang="en-US" altLang="ja-JP" sz="1400" b="0">
                          <a:solidFill>
                            <a:schemeClr val="tx1"/>
                          </a:solidFill>
                        </a:rPr>
                        <a:t>1 </a:t>
                      </a:r>
                      <a:r>
                        <a:rPr kumimoji="1" lang="ja-JP" altLang="en-US" sz="1400" b="0">
                          <a:solidFill>
                            <a:schemeClr val="tx1"/>
                          </a:solidFill>
                        </a:rPr>
                        <a:t>つの点数では作業の種類ごとの得意・不得意を表しにくく、試しに任せる仕組みも別に必要。実際の比較は今後の課題</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9105296"/>
                  </a:ext>
                </a:extLst>
              </a:tr>
              <a:tr h="538480">
                <a:tc>
                  <a:txBody>
                    <a:bodyPr/>
                    <a:lstStyle/>
                    <a:p>
                      <a:pPr algn="l"/>
                      <a:r>
                        <a:rPr kumimoji="1" lang="ja-JP" altLang="en-US" sz="1400" b="1">
                          <a:solidFill>
                            <a:schemeClr val="dk2"/>
                          </a:solidFill>
                        </a:rPr>
                        <a:t>シミュレーションだけで効果があると言えるのか？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言い切れない点が現時点の課題。実際の工場で作業ログを集めて評価する予定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45149310"/>
                  </a:ext>
                </a:extLst>
              </a:tr>
              <a:tr h="538480">
                <a:tc>
                  <a:txBody>
                    <a:bodyPr/>
                    <a:lstStyle/>
                    <a:p>
                      <a:pPr algn="l"/>
                      <a:r>
                        <a:rPr kumimoji="1" lang="ja-JP" altLang="en-US" sz="1400" b="1">
                          <a:solidFill>
                            <a:schemeClr val="dk2"/>
                          </a:solidFill>
                        </a:rPr>
                        <a:t>遠隔予約がないと不便ではないか？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予約は画面と現場のずれの原因になる。その場でタッチした人が使う方式にして、状態の正確さを優先した</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69693630"/>
                  </a:ext>
                </a:extLst>
              </a:tr>
              <a:tr h="538480">
                <a:tc>
                  <a:txBody>
                    <a:bodyPr/>
                    <a:lstStyle/>
                    <a:p>
                      <a:pPr algn="l"/>
                      <a:r>
                        <a:rPr kumimoji="1" lang="ja-JP" altLang="en-US" sz="1400" b="1">
                          <a:solidFill>
                            <a:schemeClr val="dk2"/>
                          </a:solidFill>
                        </a:rPr>
                        <a:t>作業者やデータが少ない工場でも学習できるか？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線形モデルなので少ないログからでも学習できる。実績の少ない人には試しに任せて情報を集める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602036600"/>
                  </a:ext>
                </a:extLst>
              </a:tr>
              <a:tr h="538480">
                <a:tc>
                  <a:txBody>
                    <a:bodyPr/>
                    <a:lstStyle/>
                    <a:p>
                      <a:pPr algn="l"/>
                      <a:r>
                        <a:rPr kumimoji="1" lang="en-US" altLang="ja-JP" sz="1400" b="1">
                          <a:solidFill>
                            <a:schemeClr val="dk2"/>
                          </a:solidFill>
                        </a:rPr>
                        <a:t>AI </a:t>
                      </a:r>
                      <a:r>
                        <a:rPr kumimoji="1" lang="ja-JP" altLang="en-US" sz="1400" b="1">
                          <a:solidFill>
                            <a:schemeClr val="dk2"/>
                          </a:solidFill>
                        </a:rPr>
                        <a:t>の割当が間違っていたら？</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管理画面で根拠（期待値・手持ちの仕事）を確認でき、管理者が担当者を変更できる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585358214"/>
                  </a:ext>
                </a:extLst>
              </a:tr>
              <a:tr h="538480">
                <a:tc>
                  <a:txBody>
                    <a:bodyPr/>
                    <a:lstStyle/>
                    <a:p>
                      <a:pPr algn="l"/>
                      <a:r>
                        <a:rPr kumimoji="1" lang="ja-JP" altLang="en-US" sz="1400" b="1">
                          <a:solidFill>
                            <a:schemeClr val="dk2"/>
                          </a:solidFill>
                        </a:rPr>
                        <a:t>導入にどれくらいの手間がかかるか？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モジュールは汎用部品（</a:t>
                      </a:r>
                      <a:r>
                        <a:rPr kumimoji="1" lang="en-US" altLang="ja-JP" sz="1400" b="0">
                          <a:solidFill>
                            <a:schemeClr val="tx1"/>
                          </a:solidFill>
                        </a:rPr>
                        <a:t>Raspberry Pi</a:t>
                      </a:r>
                      <a:r>
                        <a:rPr kumimoji="1" lang="ja-JP" altLang="en-US" sz="1400" b="0">
                          <a:solidFill>
                            <a:schemeClr val="tx1"/>
                          </a:solidFill>
                        </a:rPr>
                        <a:t>／</a:t>
                      </a:r>
                      <a:r>
                        <a:rPr kumimoji="1" lang="en-US" altLang="ja-JP" sz="1400" b="0">
                          <a:solidFill>
                            <a:schemeClr val="tx1"/>
                          </a:solidFill>
                        </a:rPr>
                        <a:t>ESP32</a:t>
                      </a:r>
                      <a:r>
                        <a:rPr kumimoji="1" lang="ja-JP" altLang="en-US" sz="1400" b="0">
                          <a:solidFill>
                            <a:schemeClr val="tx1"/>
                          </a:solidFill>
                        </a:rPr>
                        <a:t>・</a:t>
                      </a:r>
                      <a:r>
                        <a:rPr kumimoji="1" lang="en-US" altLang="ja-JP" sz="1400" b="0">
                          <a:solidFill>
                            <a:schemeClr val="tx1"/>
                          </a:solidFill>
                        </a:rPr>
                        <a:t>NFC </a:t>
                      </a:r>
                      <a:r>
                        <a:rPr kumimoji="1" lang="ja-JP" altLang="en-US" sz="1400" b="0">
                          <a:solidFill>
                            <a:schemeClr val="tx1"/>
                          </a:solidFill>
                        </a:rPr>
                        <a:t>リーダー・小型画面）で作れ、既存の機材に後付けできる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1329787460"/>
                  </a:ext>
                </a:extLst>
              </a:tr>
              <a:tr h="538480">
                <a:tc>
                  <a:txBody>
                    <a:bodyPr/>
                    <a:lstStyle/>
                    <a:p>
                      <a:pPr algn="l"/>
                      <a:r>
                        <a:rPr kumimoji="1" lang="ja-JP" altLang="en-US" sz="1400" b="1">
                          <a:solidFill>
                            <a:schemeClr val="dk2"/>
                          </a:solidFill>
                        </a:rPr>
                        <a:t>作業者が上達したら割当は変わるか？</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2"/>
                    </a:solidFill>
                  </a:tcPr>
                </a:tc>
                <a:tc>
                  <a:txBody>
                    <a:bodyPr/>
                    <a:lstStyle/>
                    <a:p>
                      <a:pPr algn="l"/>
                      <a:r>
                        <a:rPr kumimoji="1" lang="ja-JP" altLang="en-US" sz="1400" b="0">
                          <a:solidFill>
                            <a:schemeClr val="tx1"/>
                          </a:solidFill>
                        </a:rPr>
                        <a:t>現状は上達を考慮していない。古いログの重みを下げて反映する予定</a:t>
                      </a:r>
                    </a:p>
                  </a:txBody>
                  <a:tcPr marL="101600" marR="101600" marT="38100" marB="38100" anchor="ctr">
                    <a:lnL w="12700" cmpd="sng">
                      <a:solidFill>
                        <a:srgbClr val="D5D9E0"/>
                      </a:solidFill>
                    </a:lnL>
                    <a:lnR w="12700" cmpd="sng">
                      <a:solidFill>
                        <a:srgbClr val="D5D9E0"/>
                      </a:solidFill>
                    </a:lnR>
                    <a:lnT w="12700" cmpd="sng">
                      <a:solidFill>
                        <a:srgbClr val="D5D9E0"/>
                      </a:solidFill>
                    </a:lnT>
                    <a:lnB w="12700" cmpd="sng">
                      <a:solidFill>
                        <a:srgbClr val="D5D9E0"/>
                      </a:solidFill>
                    </a:lnB>
                    <a:solidFill>
                      <a:schemeClr val="lt1"/>
                    </a:solidFill>
                  </a:tcPr>
                </a:tc>
                <a:extLst>
                  <a:ext uri="{0D108BD9-81ED-4DB2-BD59-A6C34878D82A}">
                    <a16:rowId xmlns:a16="http://schemas.microsoft.com/office/drawing/2014/main" val="3548354036"/>
                  </a:ext>
                </a:extLst>
              </a:tr>
            </a:tbl>
          </a:graphicData>
        </a:graphic>
      </p:graphicFrame>
      <p:sp>
        <p:nvSpPr>
          <p:cNvPr id="5" name="Slide Number Placeholder 0">
            <a:extLst>
              <a:ext uri="{FF2B5EF4-FFF2-40B4-BE49-F238E27FC236}">
                <a16:creationId xmlns:a16="http://schemas.microsoft.com/office/drawing/2014/main" id="{F32E94C8-7827-D552-1E95-CC72E40BC9A7}"/>
              </a:ext>
            </a:extLst>
          </p:cNvPr>
          <p:cNvSpPr>
            <a:spLocks noGrp="1"/>
          </p:cNvSpPr>
          <p:nvPr>
            <p:ph type="sldNum" sz="quarter" idx="4294967295"/>
          </p:nvPr>
        </p:nvSpPr>
        <p:spPr>
          <a:xfrm>
            <a:off x="10911535" y="6400800"/>
            <a:ext cx="731520" cy="274320"/>
          </a:xfrm>
          <a:prstGeom prst="rect">
            <a:avLst/>
          </a:prstGeom>
          <a:extLst>
            <a:ext uri="{C572A759-6A51-4108-AA02-DFA0A04FC94B}">
              <ma14:wrappingTextBoxFlag xmlns="" xmlns:ma14="http://schemas.microsoft.com/office/mac/drawingml/2011/main" val="0"/>
            </a:ext>
          </a:extLst>
        </p:spPr>
        <p:txBody>
          <a:bodyPr lIns="0" tIns="0" rIns="0" bIns="0"/>
          <a:lstStyle>
            <a:lvl1pPr>
              <a:defRPr sz="1100">
                <a:solidFill>
                  <a:schemeClr val="accent3"/>
                </a:solidFill>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3719384269"/>
      </p:ext>
    </p:extLst>
  </p:cSld>
  <p:clrMapOvr>
    <a:masterClrMapping/>
  </p:clrMapOvr>
</p:sld>
</file>

<file path=ppt/theme/theme1.xml><?xml version="1.0" encoding="utf-8"?>
<a:theme xmlns:a="http://schemas.openxmlformats.org/drawingml/2006/main" name="Office Theme">
  <a:themeElements>
    <a:clrScheme name="Gemmba">
      <a:dk1>
        <a:srgbClr val="1B1B1A"/>
      </a:dk1>
      <a:lt1>
        <a:srgbClr val="FFFFFF"/>
      </a:lt1>
      <a:dk2>
        <a:srgbClr val="1F3A5F"/>
      </a:dk2>
      <a:lt2>
        <a:srgbClr val="EEF1F5"/>
      </a:lt2>
      <a:accent1>
        <a:srgbClr val="2A78D6"/>
      </a:accent1>
      <a:accent2>
        <a:srgbClr val="EB6834"/>
      </a:accent2>
      <a:accent3>
        <a:srgbClr val="8A8984"/>
      </a:accent3>
      <a:accent4>
        <a:srgbClr val="52514E"/>
      </a:accent4>
      <a:accent5>
        <a:srgbClr val="DCE8F7"/>
      </a:accent5>
      <a:accent6>
        <a:srgbClr val="3C8A5A"/>
      </a:accent6>
      <a:hlink>
        <a:srgbClr val="2A78D6"/>
      </a:hlink>
      <a:folHlink>
        <a:srgbClr val="1F3A5F"/>
      </a:folHlink>
    </a:clrScheme>
    <a:fontScheme name="Office">
      <a:majorFont>
        <a:latin typeface="BIZ UDPGothic"/>
        <a:ea typeface="BIZ UDPGothic"/>
        <a:cs typeface=""/>
        <a:font script="Jpan" typeface="BIZ UDPGothic"/>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BIZ UDPGothic"/>
        <a:cs typeface=""/>
        <a:font script="Jpan" typeface="BIZ UDPGothic"/>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981e8f35-b43e-450b-a1eb-63a467280299"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ドキュメント" ma:contentTypeID="0x0101006D8038928BE4C24C86291318551C2356" ma:contentTypeVersion="15" ma:contentTypeDescription="新しいドキュメントを作成します。" ma:contentTypeScope="" ma:versionID="7976eb14cd86131608f127b6fad7491b">
  <xsd:schema xmlns:xsd="http://www.w3.org/2001/XMLSchema" xmlns:xs="http://www.w3.org/2001/XMLSchema" xmlns:p="http://schemas.microsoft.com/office/2006/metadata/properties" xmlns:ns3="981e8f35-b43e-450b-a1eb-63a467280299" xmlns:ns4="3a731e1e-11a0-4628-bcdc-7d217a64238e" targetNamespace="http://schemas.microsoft.com/office/2006/metadata/properties" ma:root="true" ma:fieldsID="673c534c444d43116db8231306fdd9cb" ns3:_="" ns4:_="">
    <xsd:import namespace="981e8f35-b43e-450b-a1eb-63a467280299"/>
    <xsd:import namespace="3a731e1e-11a0-4628-bcdc-7d217a64238e"/>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_activity" minOccurs="0"/>
                <xsd:element ref="ns4:SharedWithUsers" minOccurs="0"/>
                <xsd:element ref="ns4:SharedWithDetails" minOccurs="0"/>
                <xsd:element ref="ns4:SharingHintHash" minOccurs="0"/>
                <xsd:element ref="ns3:MediaServiceObjectDetectorVersions" minOccurs="0"/>
                <xsd:element ref="ns3:MediaServiceSystemTags" minOccurs="0"/>
                <xsd:element ref="ns3:MediaServiceOCR" minOccurs="0"/>
                <xsd:element ref="ns3:MediaServiceGenerationTime" minOccurs="0"/>
                <xsd:element ref="ns3:MediaServiceEventHashCode" minOccurs="0"/>
                <xsd:element ref="ns3:MediaServiceSearchProperties"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81e8f35-b43e-450b-a1eb-63a46728029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_activity" ma:index="12" nillable="true" ma:displayName="_activity" ma:hidden="true" ma:internalName="_activity">
      <xsd:simpleType>
        <xsd:restriction base="dms:Note"/>
      </xsd:simpleType>
    </xsd:element>
    <xsd:element name="MediaServiceObjectDetectorVersions" ma:index="16" nillable="true" ma:displayName="MediaServiceObjectDetectorVersions" ma:hidden="true" ma:indexed="true" ma:internalName="MediaServiceObjectDetectorVersions" ma:readOnly="true">
      <xsd:simpleType>
        <xsd:restriction base="dms:Text"/>
      </xsd:simpleType>
    </xsd:element>
    <xsd:element name="MediaServiceSystemTags" ma:index="17" nillable="true" ma:displayName="MediaServiceSystemTags" ma:hidden="true" ma:internalName="MediaServiceSystemTags" ma:readOnly="true">
      <xsd:simpleType>
        <xsd:restriction base="dms:Note"/>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DateTaken" ma:index="22"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a731e1e-11a0-4628-bcdc-7d217a64238e" elementFormDefault="qualified">
    <xsd:import namespace="http://schemas.microsoft.com/office/2006/documentManagement/types"/>
    <xsd:import namespace="http://schemas.microsoft.com/office/infopath/2007/PartnerControls"/>
    <xsd:element name="SharedWithUsers" ma:index="13"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共有相手の詳細情報" ma:internalName="SharedWithDetails" ma:readOnly="true">
      <xsd:simpleType>
        <xsd:restriction base="dms:Note">
          <xsd:maxLength value="255"/>
        </xsd:restriction>
      </xsd:simpleType>
    </xsd:element>
    <xsd:element name="SharingHintHash" ma:index="15" nillable="true" ma:displayName="共有のヒントのハッシュ"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4369737-6A56-42EC-9910-537DB54E046F}">
  <ds:schemaRefs>
    <ds:schemaRef ds:uri="http://schemas.openxmlformats.org/package/2006/metadata/core-properties"/>
    <ds:schemaRef ds:uri="http://purl.org/dc/elements/1.1/"/>
    <ds:schemaRef ds:uri="http://schemas.microsoft.com/office/2006/documentManagement/types"/>
    <ds:schemaRef ds:uri="981e8f35-b43e-450b-a1eb-63a467280299"/>
    <ds:schemaRef ds:uri="3a731e1e-11a0-4628-bcdc-7d217a64238e"/>
    <ds:schemaRef ds:uri="http://purl.org/dc/terms/"/>
    <ds:schemaRef ds:uri="http://purl.org/dc/dcmitype/"/>
    <ds:schemaRef ds:uri="http://www.w3.org/XML/1998/namespace"/>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9716DA3B-9529-46EF-AE94-29789FDC5DE8}">
  <ds:schemaRefs>
    <ds:schemaRef ds:uri="http://schemas.microsoft.com/sharepoint/v3/contenttype/forms"/>
  </ds:schemaRefs>
</ds:datastoreItem>
</file>

<file path=customXml/itemProps3.xml><?xml version="1.0" encoding="utf-8"?>
<ds:datastoreItem xmlns:ds="http://schemas.openxmlformats.org/officeDocument/2006/customXml" ds:itemID="{D67161EF-59F0-481A-84C7-BE682A07FB24}">
  <ds:schemaRefs>
    <ds:schemaRef ds:uri="3a731e1e-11a0-4628-bcdc-7d217a64238e"/>
    <ds:schemaRef ds:uri="981e8f35-b43e-450b-a1eb-63a46728029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50</TotalTime>
  <Words>3260</Words>
  <Application>Microsoft Office PowerPoint</Application>
  <PresentationFormat>ワイド画面</PresentationFormat>
  <Paragraphs>472</Paragraphs>
  <Slides>18</Slides>
  <Notes>18</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18</vt:i4>
      </vt:variant>
    </vt:vector>
  </HeadingPairs>
  <TitlesOfParts>
    <vt:vector size="21" baseType="lpstr">
      <vt:lpstr>BIZ UDPGothic</vt:lpstr>
      <vt:lpstr>Arial</vt:lpstr>
      <vt:lpstr>Office Theme</vt:lpstr>
      <vt:lpstr>PowerPoint プレゼンテーション</vt:lpstr>
      <vt:lpstr>現状の課題</vt:lpstr>
      <vt:lpstr>現場の無駄をなくし、人と仕事を最適に結び付ける</vt:lpstr>
      <vt:lpstr>システムの構成</vt:lpstr>
      <vt:lpstr>システムの概要</vt:lpstr>
      <vt:lpstr>独創的な点：記録・割当・学習を 1 回のタッチでつなぐ</vt:lpstr>
      <vt:lpstr>既存の製品との比較</vt:lpstr>
      <vt:lpstr>導入のメリット ①　現場の作業者</vt:lpstr>
      <vt:lpstr>導入のメリット ②　管理者</vt:lpstr>
      <vt:lpstr>導入のメリット ③　工場全体</vt:lpstr>
      <vt:lpstr>ユースケース：ある日の現場の流れ</vt:lpstr>
      <vt:lpstr>AI の仕組み：実績から学び、割当の理由を示す</vt:lpstr>
      <vt:lpstr>評価：シミュレーションで他の割当方法と比較</vt:lpstr>
      <vt:lpstr>評価：工場内の動きをシミュレーション</vt:lpstr>
      <vt:lpstr>対策が必要であろう箇所と改善策</vt:lpstr>
      <vt:lpstr>これから改善するところ</vt:lpstr>
      <vt:lpstr>まとめと今後の展望</vt:lpstr>
      <vt:lpstr>想定される質問と回答例</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Gemmba プロコン発表</dc:title>
  <dc:subject>PptxGenJS Presentation</dc:subject>
  <dc:creator>PptxGenJS</dc:creator>
  <cp:lastModifiedBy>e2209_小笠原 悠太＠明石高専_学生</cp:lastModifiedBy>
  <cp:revision>4</cp:revision>
  <dcterms:created xsi:type="dcterms:W3CDTF">2026-10-07T08:28:23Z</dcterms:created>
  <dcterms:modified xsi:type="dcterms:W3CDTF">2026-10-09T14:02:33Z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0x0101006D8038928BE4C24C86291318551C2356</vt:lpwstr>
  </property>
</Properties>
</file>